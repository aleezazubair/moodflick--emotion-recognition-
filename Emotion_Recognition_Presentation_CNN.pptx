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Oval 1"/>
          <p:cNvSpPr/>
          <p:nvPr/>
        </p:nvSpPr>
        <p:spPr>
          <a:xfrm>
            <a:off x="9052560" y="-1371600"/>
            <a:ext cx="4206240" cy="4206240"/>
          </a:xfrm>
          <a:prstGeom prst="ellipse">
            <a:avLst/>
          </a:prstGeom>
          <a:solidFill>
            <a:srgbClr val="3D2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3" name="Oval 2"/>
          <p:cNvSpPr/>
          <p:nvPr/>
        </p:nvSpPr>
        <p:spPr>
          <a:xfrm>
            <a:off x="10424160" y="4754880"/>
            <a:ext cx="3566160" cy="3566160"/>
          </a:xfrm>
          <a:prstGeom prst="ellipse">
            <a:avLst/>
          </a:prstGeom>
          <a:solidFill>
            <a:srgbClr val="333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4" name="TextBox 3"/>
          <p:cNvSpPr txBox="1"/>
          <p:nvPr/>
        </p:nvSpPr>
        <p:spPr>
          <a:xfrm>
            <a:off x="914400" y="2331720"/>
            <a:ext cx="9875520" cy="914400"/>
          </a:xfrm>
          <a:prstGeom prst="rect">
            <a:avLst/>
          </a:prstGeom>
          <a:noFill/>
        </p:spPr>
        <p:txBody>
          <a:bodyPr wrap="square" anchor="t" lIns="0" rIns="0" tIns="0" bIns="0">
            <a:spAutoFit/>
          </a:bodyPr>
          <a:lstStyle/>
          <a:p>
            <a:pPr>
              <a:lnSpc>
                <a:spcPct val="100000"/>
              </a:lnSpc>
              <a:spcBef>
                <a:spcPts val="0"/>
              </a:spcBef>
              <a:spcAft>
                <a:spcPts val="0"/>
              </a:spcAft>
            </a:pPr>
            <a:r>
              <a:rPr sz="4000" b="1" i="0">
                <a:solidFill>
                  <a:srgbClr val="FFFFFF"/>
                </a:solidFill>
                <a:latin typeface="Bookman Old Style"/>
              </a:rPr>
              <a:t>EMOTION RECOGNITION SYSTEM</a:t>
            </a:r>
          </a:p>
        </p:txBody>
      </p:sp>
      <p:sp>
        <p:nvSpPr>
          <p:cNvPr id="5" name="TextBox 4"/>
          <p:cNvSpPr txBox="1"/>
          <p:nvPr/>
        </p:nvSpPr>
        <p:spPr>
          <a:xfrm>
            <a:off x="914400" y="3364992"/>
            <a:ext cx="9692640" cy="365760"/>
          </a:xfrm>
          <a:prstGeom prst="rect">
            <a:avLst/>
          </a:prstGeom>
          <a:noFill/>
        </p:spPr>
        <p:txBody>
          <a:bodyPr wrap="square" anchor="t" lIns="0" rIns="0" tIns="0" bIns="0">
            <a:spAutoFit/>
          </a:bodyPr>
          <a:lstStyle/>
          <a:p>
            <a:pPr>
              <a:lnSpc>
                <a:spcPct val="115000"/>
              </a:lnSpc>
              <a:spcBef>
                <a:spcPts val="0"/>
              </a:spcBef>
              <a:spcAft>
                <a:spcPts val="0"/>
              </a:spcAft>
            </a:pPr>
            <a:r>
              <a:rPr sz="1700" b="0" i="0">
                <a:solidFill>
                  <a:srgbClr val="F5636E"/>
                </a:solidFill>
                <a:latin typeface="Calibri"/>
              </a:rPr>
              <a:t>Facial Expression Classification with a Convolutional Neural Network</a:t>
            </a:r>
          </a:p>
        </p:txBody>
      </p:sp>
      <p:sp>
        <p:nvSpPr>
          <p:cNvPr id="6" name="Rectangle 5"/>
          <p:cNvSpPr/>
          <p:nvPr/>
        </p:nvSpPr>
        <p:spPr>
          <a:xfrm>
            <a:off x="914400" y="4041648"/>
            <a:ext cx="548640"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TextBox 6"/>
          <p:cNvSpPr txBox="1"/>
          <p:nvPr/>
        </p:nvSpPr>
        <p:spPr>
          <a:xfrm>
            <a:off x="914400" y="4370832"/>
            <a:ext cx="9692640" cy="320040"/>
          </a:xfrm>
          <a:prstGeom prst="rect">
            <a:avLst/>
          </a:prstGeom>
          <a:noFill/>
        </p:spPr>
        <p:txBody>
          <a:bodyPr wrap="square" anchor="t" lIns="0" rIns="0" tIns="0" bIns="0">
            <a:spAutoFit/>
          </a:bodyPr>
          <a:lstStyle/>
          <a:p>
            <a:pPr>
              <a:lnSpc>
                <a:spcPct val="115000"/>
              </a:lnSpc>
              <a:spcBef>
                <a:spcPts val="0"/>
              </a:spcBef>
              <a:spcAft>
                <a:spcPts val="0"/>
              </a:spcAft>
            </a:pPr>
            <a:r>
              <a:rPr sz="1100" b="0" i="0">
                <a:solidFill>
                  <a:srgbClr val="A9AFCE"/>
                </a:solidFill>
                <a:latin typeface="Calibri"/>
              </a:rPr>
              <a:t>Final Year Project   |   CNN trained from scratch on FER-2013   |   57.09% accuracy on 7,178 unseen test images</a:t>
            </a:r>
          </a:p>
        </p:txBody>
      </p:sp>
      <p:sp>
        <p:nvSpPr>
          <p:cNvPr id="8" name="TextBox 7"/>
          <p:cNvSpPr txBox="1"/>
          <p:nvPr/>
        </p:nvSpPr>
        <p:spPr>
          <a:xfrm>
            <a:off x="914400" y="4956048"/>
            <a:ext cx="4206240" cy="274320"/>
          </a:xfrm>
          <a:prstGeom prst="rect">
            <a:avLst/>
          </a:prstGeom>
          <a:noFill/>
        </p:spPr>
        <p:txBody>
          <a:bodyPr wrap="square" anchor="t" lIns="0" rIns="0" tIns="0" bIns="0">
            <a:spAutoFit/>
          </a:bodyPr>
          <a:lstStyle/>
          <a:p>
            <a:pPr>
              <a:lnSpc>
                <a:spcPct val="115000"/>
              </a:lnSpc>
              <a:spcBef>
                <a:spcPts val="0"/>
              </a:spcBef>
              <a:spcAft>
                <a:spcPts val="0"/>
              </a:spcAft>
            </a:pPr>
            <a:r>
              <a:rPr sz="900" b="1" i="0">
                <a:solidFill>
                  <a:srgbClr val="F7DF93"/>
                </a:solidFill>
                <a:latin typeface="Calibri"/>
              </a:rPr>
              <a:t>P R E S E N T E D   B Y</a:t>
            </a:r>
          </a:p>
        </p:txBody>
      </p:sp>
      <p:sp>
        <p:nvSpPr>
          <p:cNvPr id="9" name="TextBox 8"/>
          <p:cNvSpPr txBox="1"/>
          <p:nvPr/>
        </p:nvSpPr>
        <p:spPr>
          <a:xfrm>
            <a:off x="914400" y="5303520"/>
            <a:ext cx="4206240" cy="1097280"/>
          </a:xfrm>
          <a:prstGeom prst="rect">
            <a:avLst/>
          </a:prstGeom>
          <a:noFill/>
        </p:spPr>
        <p:txBody>
          <a:bodyPr wrap="square" anchor="t" lIns="0" rIns="0" tIns="0" bIns="0">
            <a:spAutoFit/>
          </a:bodyPr>
          <a:lstStyle/>
          <a:p>
            <a:pPr>
              <a:lnSpc>
                <a:spcPct val="115000"/>
              </a:lnSpc>
              <a:spcBef>
                <a:spcPts val="0"/>
              </a:spcBef>
              <a:spcAft>
                <a:spcPts val="700"/>
              </a:spcAft>
            </a:pPr>
            <a:r>
              <a:rPr sz="1250" b="0" i="0">
                <a:solidFill>
                  <a:srgbClr val="FFFFFF"/>
                </a:solidFill>
                <a:latin typeface="Calibri"/>
              </a:rPr>
              <a:t>Aleeza Zubair  ·  70147042</a:t>
            </a:r>
          </a:p>
          <a:p>
            <a:pPr>
              <a:lnSpc>
                <a:spcPct val="115000"/>
              </a:lnSpc>
              <a:spcBef>
                <a:spcPts val="0"/>
              </a:spcBef>
              <a:spcAft>
                <a:spcPts val="700"/>
              </a:spcAft>
            </a:pPr>
            <a:r>
              <a:rPr sz="1250" b="0" i="0">
                <a:solidFill>
                  <a:srgbClr val="FFFFFF"/>
                </a:solidFill>
                <a:latin typeface="Calibri"/>
              </a:rPr>
              <a:t>Sehar Mehmood  ·  70147004</a:t>
            </a:r>
          </a:p>
          <a:p>
            <a:pPr>
              <a:lnSpc>
                <a:spcPct val="115000"/>
              </a:lnSpc>
              <a:spcBef>
                <a:spcPts val="0"/>
              </a:spcBef>
              <a:spcAft>
                <a:spcPts val="0"/>
              </a:spcAft>
            </a:pPr>
            <a:r>
              <a:rPr sz="1250" b="0" i="0">
                <a:solidFill>
                  <a:srgbClr val="FFFFFF"/>
                </a:solidFill>
                <a:latin typeface="Calibri"/>
              </a:rPr>
              <a:t>Aneeb Bari  ·  70150957</a:t>
            </a:r>
          </a:p>
        </p:txBody>
      </p:sp>
      <p:sp>
        <p:nvSpPr>
          <p:cNvPr id="10" name="TextBox 9"/>
          <p:cNvSpPr txBox="1"/>
          <p:nvPr/>
        </p:nvSpPr>
        <p:spPr>
          <a:xfrm>
            <a:off x="6949440" y="4956048"/>
            <a:ext cx="4206240" cy="274320"/>
          </a:xfrm>
          <a:prstGeom prst="rect">
            <a:avLst/>
          </a:prstGeom>
          <a:noFill/>
        </p:spPr>
        <p:txBody>
          <a:bodyPr wrap="square" anchor="t" lIns="0" rIns="0" tIns="0" bIns="0">
            <a:spAutoFit/>
          </a:bodyPr>
          <a:lstStyle/>
          <a:p>
            <a:pPr>
              <a:lnSpc>
                <a:spcPct val="115000"/>
              </a:lnSpc>
              <a:spcBef>
                <a:spcPts val="0"/>
              </a:spcBef>
              <a:spcAft>
                <a:spcPts val="0"/>
              </a:spcAft>
            </a:pPr>
            <a:r>
              <a:rPr sz="900" b="1" i="0">
                <a:solidFill>
                  <a:srgbClr val="F7DF93"/>
                </a:solidFill>
                <a:latin typeface="Calibri"/>
              </a:rPr>
              <a:t>S U P E R V I S E D   B Y</a:t>
            </a:r>
          </a:p>
        </p:txBody>
      </p:sp>
      <p:sp>
        <p:nvSpPr>
          <p:cNvPr id="11" name="TextBox 10"/>
          <p:cNvSpPr txBox="1"/>
          <p:nvPr/>
        </p:nvSpPr>
        <p:spPr>
          <a:xfrm>
            <a:off x="6949440" y="5303520"/>
            <a:ext cx="4206240" cy="365760"/>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FFFFFF"/>
                </a:solidFill>
                <a:latin typeface="Calibri"/>
              </a:rPr>
              <a:t>Amish Hassan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1</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Introduction</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Why the automatic reading of facial expression is worth solving</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TextBox 6"/>
          <p:cNvSpPr txBox="1"/>
          <p:nvPr/>
        </p:nvSpPr>
        <p:spPr>
          <a:xfrm>
            <a:off x="566928" y="1682496"/>
            <a:ext cx="6400800" cy="2194560"/>
          </a:xfrm>
          <a:prstGeom prst="rect">
            <a:avLst/>
          </a:prstGeom>
          <a:noFill/>
        </p:spPr>
        <p:txBody>
          <a:bodyPr wrap="square" anchor="t" lIns="0" rIns="0" tIns="0" bIns="0">
            <a:spAutoFit/>
          </a:bodyPr>
          <a:lstStyle/>
          <a:p>
            <a:pPr>
              <a:lnSpc>
                <a:spcPct val="135000"/>
              </a:lnSpc>
              <a:spcBef>
                <a:spcPts val="0"/>
              </a:spcBef>
              <a:spcAft>
                <a:spcPts val="1300"/>
              </a:spcAft>
            </a:pPr>
            <a:r>
              <a:rPr sz="1300" b="0" i="0">
                <a:solidFill>
                  <a:srgbClr val="262B4A"/>
                </a:solidFill>
                <a:latin typeface="Calibri"/>
              </a:rPr>
              <a:t>Facial expressions are one of the primary channels of non-verbal human communication. Automating their interpretation enables applications in human–computer interaction, driver-attention monitoring, market research, mental-health screening and adaptive learning systems.</a:t>
            </a:r>
          </a:p>
          <a:p>
            <a:pPr>
              <a:lnSpc>
                <a:spcPct val="135000"/>
              </a:lnSpc>
              <a:spcBef>
                <a:spcPts val="0"/>
              </a:spcBef>
              <a:spcAft>
                <a:spcPts val="0"/>
              </a:spcAft>
            </a:pPr>
            <a:r>
              <a:rPr sz="1300" b="0" i="0">
                <a:solidFill>
                  <a:srgbClr val="262B4A"/>
                </a:solidFill>
                <a:latin typeface="Calibri"/>
              </a:rPr>
              <a:t>The task is non-trivial. Expressions vary across individuals, cultures and contexts; they are often subtle or blended; and image conditions such as lighting, pose and occlusion vary widely.</a:t>
            </a:r>
          </a:p>
        </p:txBody>
      </p:sp>
      <p:sp>
        <p:nvSpPr>
          <p:cNvPr id="8" name="Rounded Rectangle 7"/>
          <p:cNvSpPr/>
          <p:nvPr/>
        </p:nvSpPr>
        <p:spPr>
          <a:xfrm>
            <a:off x="7315200" y="1636776"/>
            <a:ext cx="4306824" cy="2148840"/>
          </a:xfrm>
          <a:prstGeom prst="roundRect">
            <a:avLst>
              <a:gd name="adj" fmla="val 5957"/>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Bef>
                <a:spcPts val="0"/>
              </a:spcBef>
              <a:spcAft>
                <a:spcPts val="1000"/>
              </a:spcAft>
            </a:pPr>
            <a:r>
              <a:rPr sz="1500" b="1" i="0">
                <a:solidFill>
                  <a:srgbClr val="F7DF93"/>
                </a:solidFill>
                <a:latin typeface="Bookman Old Style"/>
              </a:rPr>
              <a:t>The ceiling is not 100%</a:t>
            </a:r>
          </a:p>
          <a:p>
            <a:pPr>
              <a:lnSpc>
                <a:spcPct val="130000"/>
              </a:lnSpc>
              <a:spcBef>
                <a:spcPts val="0"/>
              </a:spcBef>
              <a:spcAft>
                <a:spcPts val="0"/>
              </a:spcAft>
            </a:pPr>
            <a:r>
              <a:rPr sz="1200" b="0" i="0">
                <a:solidFill>
                  <a:srgbClr val="FFFFFF"/>
                </a:solidFill>
                <a:latin typeface="Calibri"/>
              </a:rPr>
              <a:t>Human annotators agree on FER-2013 labels only about 65% of the time. The ground truth is itself subjective, which places a practical ceiling on the accuracy any model can reach on this dataset.</a:t>
            </a:r>
          </a:p>
        </p:txBody>
      </p:sp>
      <p:sp>
        <p:nvSpPr>
          <p:cNvPr id="9" name="Rounded Rectangle 8"/>
          <p:cNvSpPr/>
          <p:nvPr/>
        </p:nvSpPr>
        <p:spPr>
          <a:xfrm>
            <a:off x="566928" y="4663440"/>
            <a:ext cx="2651760" cy="868680"/>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Bef>
                <a:spcPts val="0"/>
              </a:spcBef>
              <a:spcAft>
                <a:spcPts val="0"/>
              </a:spcAft>
            </a:pPr>
            <a:r>
              <a:rPr sz="1200" b="1" i="0">
                <a:solidFill>
                  <a:srgbClr val="262B4A"/>
                </a:solidFill>
                <a:latin typeface="Calibri"/>
              </a:rPr>
              <a:t>Human–Computer Interaction</a:t>
            </a:r>
          </a:p>
        </p:txBody>
      </p:sp>
      <p:sp>
        <p:nvSpPr>
          <p:cNvPr id="10" name="Rectangle 9"/>
          <p:cNvSpPr/>
          <p:nvPr/>
        </p:nvSpPr>
        <p:spPr>
          <a:xfrm>
            <a:off x="566928" y="4663440"/>
            <a:ext cx="2651760"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1" name="Rounded Rectangle 10"/>
          <p:cNvSpPr/>
          <p:nvPr/>
        </p:nvSpPr>
        <p:spPr>
          <a:xfrm>
            <a:off x="3374136" y="4663440"/>
            <a:ext cx="2651760" cy="868680"/>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Bef>
                <a:spcPts val="0"/>
              </a:spcBef>
              <a:spcAft>
                <a:spcPts val="0"/>
              </a:spcAft>
            </a:pPr>
            <a:r>
              <a:rPr sz="1200" b="1" i="0">
                <a:solidFill>
                  <a:srgbClr val="262B4A"/>
                </a:solidFill>
                <a:latin typeface="Calibri"/>
              </a:rPr>
              <a:t>Driver-Attention Monitoring</a:t>
            </a:r>
          </a:p>
        </p:txBody>
      </p:sp>
      <p:sp>
        <p:nvSpPr>
          <p:cNvPr id="12" name="Rectangle 11"/>
          <p:cNvSpPr/>
          <p:nvPr/>
        </p:nvSpPr>
        <p:spPr>
          <a:xfrm>
            <a:off x="3374136" y="4663440"/>
            <a:ext cx="2651760"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Rounded Rectangle 12"/>
          <p:cNvSpPr/>
          <p:nvPr/>
        </p:nvSpPr>
        <p:spPr>
          <a:xfrm>
            <a:off x="6181344" y="4663440"/>
            <a:ext cx="2651760" cy="868680"/>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Bef>
                <a:spcPts val="0"/>
              </a:spcBef>
              <a:spcAft>
                <a:spcPts val="0"/>
              </a:spcAft>
            </a:pPr>
            <a:r>
              <a:rPr sz="1200" b="1" i="0">
                <a:solidFill>
                  <a:srgbClr val="262B4A"/>
                </a:solidFill>
                <a:latin typeface="Calibri"/>
              </a:rPr>
              <a:t>Mental-Health Screening</a:t>
            </a:r>
          </a:p>
        </p:txBody>
      </p:sp>
      <p:sp>
        <p:nvSpPr>
          <p:cNvPr id="14" name="Rectangle 13"/>
          <p:cNvSpPr/>
          <p:nvPr/>
        </p:nvSpPr>
        <p:spPr>
          <a:xfrm>
            <a:off x="6181344" y="4663440"/>
            <a:ext cx="2651760"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5" name="Rounded Rectangle 14"/>
          <p:cNvSpPr/>
          <p:nvPr/>
        </p:nvSpPr>
        <p:spPr>
          <a:xfrm>
            <a:off x="8988551" y="4663440"/>
            <a:ext cx="2651760" cy="868680"/>
          </a:xfrm>
          <a:prstGeom prst="roundRect">
            <a:avLst>
              <a:gd name="adj" fmla="val 1052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15000"/>
              </a:lnSpc>
              <a:spcBef>
                <a:spcPts val="0"/>
              </a:spcBef>
              <a:spcAft>
                <a:spcPts val="0"/>
              </a:spcAft>
            </a:pPr>
            <a:r>
              <a:rPr sz="1200" b="1" i="0">
                <a:solidFill>
                  <a:srgbClr val="262B4A"/>
                </a:solidFill>
                <a:latin typeface="Calibri"/>
              </a:rPr>
              <a:t>Adaptive Learning Systems</a:t>
            </a:r>
          </a:p>
        </p:txBody>
      </p:sp>
      <p:sp>
        <p:nvSpPr>
          <p:cNvPr id="16" name="Rectangle 15"/>
          <p:cNvSpPr/>
          <p:nvPr/>
        </p:nvSpPr>
        <p:spPr>
          <a:xfrm>
            <a:off x="8988551" y="4663440"/>
            <a:ext cx="2651760"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7" name="TextBox 16"/>
          <p:cNvSpPr txBox="1"/>
          <p:nvPr/>
        </p:nvSpPr>
        <p:spPr>
          <a:xfrm>
            <a:off x="566928" y="5760720"/>
            <a:ext cx="11057839" cy="365760"/>
          </a:xfrm>
          <a:prstGeom prst="rect">
            <a:avLst/>
          </a:prstGeom>
          <a:noFill/>
        </p:spPr>
        <p:txBody>
          <a:bodyPr wrap="square" anchor="t" lIns="0" rIns="0" tIns="0" bIns="0">
            <a:spAutoFit/>
          </a:bodyPr>
          <a:lstStyle/>
          <a:p>
            <a:pPr>
              <a:lnSpc>
                <a:spcPct val="115000"/>
              </a:lnSpc>
              <a:spcBef>
                <a:spcPts val="0"/>
              </a:spcBef>
              <a:spcAft>
                <a:spcPts val="0"/>
              </a:spcAft>
            </a:pPr>
            <a:r>
              <a:rPr sz="1150" b="0" i="1">
                <a:solidFill>
                  <a:srgbClr val="707694"/>
                </a:solidFill>
                <a:latin typeface="Calibri"/>
              </a:rPr>
              <a:t>Traditional approaches relied on hand-engineered features. A CNN learns the discriminative features directly from pixels — which is why it is the architecture used throughout this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2</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Objectives</a:t>
            </a:r>
          </a:p>
        </p:txBody>
      </p:sp>
      <p:sp>
        <p:nvSpPr>
          <p:cNvPr id="5" name="Rectangle 4"/>
          <p:cNvSpPr/>
          <p:nvPr/>
        </p:nvSpPr>
        <p:spPr>
          <a:xfrm>
            <a:off x="566928" y="105156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6" name="Rounded Rectangle 5"/>
          <p:cNvSpPr/>
          <p:nvPr/>
        </p:nvSpPr>
        <p:spPr>
          <a:xfrm>
            <a:off x="566928" y="1472184"/>
            <a:ext cx="11057839" cy="960120"/>
          </a:xfrm>
          <a:prstGeom prst="roundRect">
            <a:avLst>
              <a:gd name="adj" fmla="val 11428"/>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Oval 6"/>
          <p:cNvSpPr/>
          <p:nvPr/>
        </p:nvSpPr>
        <p:spPr>
          <a:xfrm>
            <a:off x="877824" y="1668780"/>
            <a:ext cx="566928" cy="56692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1</a:t>
            </a:r>
          </a:p>
        </p:txBody>
      </p:sp>
      <p:sp>
        <p:nvSpPr>
          <p:cNvPr id="8" name="TextBox 7"/>
          <p:cNvSpPr txBox="1"/>
          <p:nvPr/>
        </p:nvSpPr>
        <p:spPr>
          <a:xfrm>
            <a:off x="1700784" y="1472184"/>
            <a:ext cx="9594799" cy="960120"/>
          </a:xfrm>
          <a:prstGeom prst="rect">
            <a:avLst/>
          </a:prstGeom>
          <a:noFill/>
        </p:spPr>
        <p:txBody>
          <a:bodyPr wrap="square" anchor="ctr" lIns="0" rIns="0" tIns="0" bIns="0">
            <a:spAutoFit/>
          </a:bodyPr>
          <a:lstStyle/>
          <a:p>
            <a:pPr>
              <a:lnSpc>
                <a:spcPct val="125000"/>
              </a:lnSpc>
              <a:spcBef>
                <a:spcPts val="0"/>
              </a:spcBef>
              <a:spcAft>
                <a:spcPts val="0"/>
              </a:spcAft>
            </a:pPr>
            <a:r>
              <a:rPr sz="1450" b="0" i="0">
                <a:solidFill>
                  <a:srgbClr val="FFFFFF"/>
                </a:solidFill>
                <a:latin typeface="Calibri"/>
              </a:rPr>
              <a:t>Build and train a CNN classifier for seven-class facial emotion recognition</a:t>
            </a:r>
          </a:p>
        </p:txBody>
      </p:sp>
      <p:sp>
        <p:nvSpPr>
          <p:cNvPr id="9" name="Rounded Rectangle 8"/>
          <p:cNvSpPr/>
          <p:nvPr/>
        </p:nvSpPr>
        <p:spPr>
          <a:xfrm>
            <a:off x="566928" y="2615184"/>
            <a:ext cx="11057839" cy="960120"/>
          </a:xfrm>
          <a:prstGeom prst="roundRect">
            <a:avLst>
              <a:gd name="adj" fmla="val 11428"/>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0" name="Oval 9"/>
          <p:cNvSpPr/>
          <p:nvPr/>
        </p:nvSpPr>
        <p:spPr>
          <a:xfrm>
            <a:off x="877824" y="2811779"/>
            <a:ext cx="566928" cy="56692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2</a:t>
            </a:r>
          </a:p>
        </p:txBody>
      </p:sp>
      <p:sp>
        <p:nvSpPr>
          <p:cNvPr id="11" name="TextBox 10"/>
          <p:cNvSpPr txBox="1"/>
          <p:nvPr/>
        </p:nvSpPr>
        <p:spPr>
          <a:xfrm>
            <a:off x="1700784" y="2615184"/>
            <a:ext cx="9594799" cy="960120"/>
          </a:xfrm>
          <a:prstGeom prst="rect">
            <a:avLst/>
          </a:prstGeom>
          <a:noFill/>
        </p:spPr>
        <p:txBody>
          <a:bodyPr wrap="square" anchor="ctr" lIns="0" rIns="0" tIns="0" bIns="0">
            <a:spAutoFit/>
          </a:bodyPr>
          <a:lstStyle/>
          <a:p>
            <a:pPr>
              <a:lnSpc>
                <a:spcPct val="125000"/>
              </a:lnSpc>
              <a:spcBef>
                <a:spcPts val="0"/>
              </a:spcBef>
              <a:spcAft>
                <a:spcPts val="0"/>
              </a:spcAft>
            </a:pPr>
            <a:r>
              <a:rPr sz="1450" b="0" i="0">
                <a:solidFill>
                  <a:srgbClr val="FFFFFF"/>
                </a:solidFill>
                <a:latin typeface="Calibri"/>
              </a:rPr>
              <a:t>Evaluate the model rigorously using accuracy, precision, recall, F1-score and a confusion matrix</a:t>
            </a:r>
          </a:p>
        </p:txBody>
      </p:sp>
      <p:sp>
        <p:nvSpPr>
          <p:cNvPr id="12" name="Rounded Rectangle 11"/>
          <p:cNvSpPr/>
          <p:nvPr/>
        </p:nvSpPr>
        <p:spPr>
          <a:xfrm>
            <a:off x="566928" y="3758183"/>
            <a:ext cx="11057839" cy="960120"/>
          </a:xfrm>
          <a:prstGeom prst="roundRect">
            <a:avLst>
              <a:gd name="adj" fmla="val 11428"/>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Oval 12"/>
          <p:cNvSpPr/>
          <p:nvPr/>
        </p:nvSpPr>
        <p:spPr>
          <a:xfrm>
            <a:off x="877824" y="3954779"/>
            <a:ext cx="566928" cy="56692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3</a:t>
            </a:r>
          </a:p>
        </p:txBody>
      </p:sp>
      <p:sp>
        <p:nvSpPr>
          <p:cNvPr id="14" name="TextBox 13"/>
          <p:cNvSpPr txBox="1"/>
          <p:nvPr/>
        </p:nvSpPr>
        <p:spPr>
          <a:xfrm>
            <a:off x="1700784" y="3758183"/>
            <a:ext cx="9594799" cy="960120"/>
          </a:xfrm>
          <a:prstGeom prst="rect">
            <a:avLst/>
          </a:prstGeom>
          <a:noFill/>
        </p:spPr>
        <p:txBody>
          <a:bodyPr wrap="square" anchor="ctr" lIns="0" rIns="0" tIns="0" bIns="0">
            <a:spAutoFit/>
          </a:bodyPr>
          <a:lstStyle/>
          <a:p>
            <a:pPr>
              <a:lnSpc>
                <a:spcPct val="125000"/>
              </a:lnSpc>
              <a:spcBef>
                <a:spcPts val="0"/>
              </a:spcBef>
              <a:spcAft>
                <a:spcPts val="0"/>
              </a:spcAft>
            </a:pPr>
            <a:r>
              <a:rPr sz="1450" b="0" i="0">
                <a:solidFill>
                  <a:srgbClr val="FFFFFF"/>
                </a:solidFill>
                <a:latin typeface="Calibri"/>
              </a:rPr>
              <a:t>Deploy the model in a real-time application driven by a live camera feed</a:t>
            </a:r>
          </a:p>
        </p:txBody>
      </p:sp>
      <p:sp>
        <p:nvSpPr>
          <p:cNvPr id="15" name="Rounded Rectangle 14"/>
          <p:cNvSpPr/>
          <p:nvPr/>
        </p:nvSpPr>
        <p:spPr>
          <a:xfrm>
            <a:off x="566928" y="4901183"/>
            <a:ext cx="11057839" cy="960120"/>
          </a:xfrm>
          <a:prstGeom prst="roundRect">
            <a:avLst>
              <a:gd name="adj" fmla="val 11428"/>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6" name="Oval 15"/>
          <p:cNvSpPr/>
          <p:nvPr/>
        </p:nvSpPr>
        <p:spPr>
          <a:xfrm>
            <a:off x="877824" y="5097779"/>
            <a:ext cx="566928" cy="56692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4</a:t>
            </a:r>
          </a:p>
        </p:txBody>
      </p:sp>
      <p:sp>
        <p:nvSpPr>
          <p:cNvPr id="17" name="TextBox 16"/>
          <p:cNvSpPr txBox="1"/>
          <p:nvPr/>
        </p:nvSpPr>
        <p:spPr>
          <a:xfrm>
            <a:off x="1700784" y="4901183"/>
            <a:ext cx="9594799" cy="960120"/>
          </a:xfrm>
          <a:prstGeom prst="rect">
            <a:avLst/>
          </a:prstGeom>
          <a:noFill/>
        </p:spPr>
        <p:txBody>
          <a:bodyPr wrap="square" anchor="ctr" lIns="0" rIns="0" tIns="0" bIns="0">
            <a:spAutoFit/>
          </a:bodyPr>
          <a:lstStyle/>
          <a:p>
            <a:pPr>
              <a:lnSpc>
                <a:spcPct val="125000"/>
              </a:lnSpc>
              <a:spcBef>
                <a:spcPts val="0"/>
              </a:spcBef>
              <a:spcAft>
                <a:spcPts val="0"/>
              </a:spcAft>
            </a:pPr>
            <a:r>
              <a:rPr sz="1450" b="0" i="0">
                <a:solidFill>
                  <a:srgbClr val="FFFFFF"/>
                </a:solidFill>
                <a:latin typeface="Calibri"/>
              </a:rPr>
              <a:t>Analyse the failure modes of the system and identify concrete improvements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3</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Scope of the Project</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What the system classifies — and what was deliberately left out</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5394960" cy="3977639"/>
          </a:xfrm>
          <a:prstGeom prst="roundRect">
            <a:avLst>
              <a:gd name="adj" fmla="val 321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TextBox 7"/>
          <p:cNvSpPr txBox="1"/>
          <p:nvPr/>
        </p:nvSpPr>
        <p:spPr>
          <a:xfrm>
            <a:off x="914400" y="2029968"/>
            <a:ext cx="4700016" cy="320040"/>
          </a:xfrm>
          <a:prstGeom prst="rect">
            <a:avLst/>
          </a:prstGeom>
          <a:noFill/>
        </p:spPr>
        <p:txBody>
          <a:bodyPr wrap="square" anchor="t" lIns="0" rIns="0" tIns="0" bIns="0">
            <a:spAutoFit/>
          </a:bodyPr>
          <a:lstStyle/>
          <a:p>
            <a:pPr>
              <a:lnSpc>
                <a:spcPct val="115000"/>
              </a:lnSpc>
              <a:spcBef>
                <a:spcPts val="0"/>
              </a:spcBef>
              <a:spcAft>
                <a:spcPts val="0"/>
              </a:spcAft>
            </a:pPr>
            <a:r>
              <a:rPr sz="1500" b="1" i="0">
                <a:solidFill>
                  <a:srgbClr val="F5636E"/>
                </a:solidFill>
                <a:latin typeface="Bookman Old Style"/>
              </a:rPr>
              <a:t>In Scope</a:t>
            </a:r>
          </a:p>
        </p:txBody>
      </p:sp>
      <p:sp>
        <p:nvSpPr>
          <p:cNvPr id="9" name="Oval 8"/>
          <p:cNvSpPr/>
          <p:nvPr/>
        </p:nvSpPr>
        <p:spPr>
          <a:xfrm>
            <a:off x="932688" y="2688336"/>
            <a:ext cx="118872" cy="118872"/>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0" name="TextBox 9"/>
          <p:cNvSpPr txBox="1"/>
          <p:nvPr/>
        </p:nvSpPr>
        <p:spPr>
          <a:xfrm>
            <a:off x="1225295" y="2578608"/>
            <a:ext cx="4334256" cy="640080"/>
          </a:xfrm>
          <a:prstGeom prst="rect">
            <a:avLst/>
          </a:prstGeom>
          <a:noFill/>
        </p:spPr>
        <p:txBody>
          <a:bodyPr wrap="square" anchor="t" lIns="0" rIns="0" tIns="0" bIns="0">
            <a:spAutoFit/>
          </a:bodyPr>
          <a:lstStyle/>
          <a:p>
            <a:pPr>
              <a:lnSpc>
                <a:spcPct val="128000"/>
              </a:lnSpc>
              <a:spcBef>
                <a:spcPts val="0"/>
              </a:spcBef>
              <a:spcAft>
                <a:spcPts val="0"/>
              </a:spcAft>
            </a:pPr>
            <a:r>
              <a:rPr sz="1250" b="0" i="0">
                <a:solidFill>
                  <a:srgbClr val="262B4A"/>
                </a:solidFill>
                <a:latin typeface="Calibri"/>
              </a:rPr>
              <a:t>Single largest detected face per frame</a:t>
            </a:r>
          </a:p>
        </p:txBody>
      </p:sp>
      <p:sp>
        <p:nvSpPr>
          <p:cNvPr id="11" name="Oval 10"/>
          <p:cNvSpPr/>
          <p:nvPr/>
        </p:nvSpPr>
        <p:spPr>
          <a:xfrm>
            <a:off x="932688" y="3401568"/>
            <a:ext cx="118872" cy="118872"/>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TextBox 11"/>
          <p:cNvSpPr txBox="1"/>
          <p:nvPr/>
        </p:nvSpPr>
        <p:spPr>
          <a:xfrm>
            <a:off x="1225295" y="3291840"/>
            <a:ext cx="4334256" cy="640080"/>
          </a:xfrm>
          <a:prstGeom prst="rect">
            <a:avLst/>
          </a:prstGeom>
          <a:noFill/>
        </p:spPr>
        <p:txBody>
          <a:bodyPr wrap="square" anchor="t" lIns="0" rIns="0" tIns="0" bIns="0">
            <a:spAutoFit/>
          </a:bodyPr>
          <a:lstStyle/>
          <a:p>
            <a:pPr>
              <a:lnSpc>
                <a:spcPct val="128000"/>
              </a:lnSpc>
              <a:spcBef>
                <a:spcPts val="0"/>
              </a:spcBef>
              <a:spcAft>
                <a:spcPts val="0"/>
              </a:spcAft>
            </a:pPr>
            <a:r>
              <a:rPr sz="1250" b="0" i="0">
                <a:solidFill>
                  <a:srgbClr val="262B4A"/>
                </a:solidFill>
                <a:latin typeface="Calibri"/>
              </a:rPr>
              <a:t>Seven fixed emotion categories</a:t>
            </a:r>
          </a:p>
        </p:txBody>
      </p:sp>
      <p:sp>
        <p:nvSpPr>
          <p:cNvPr id="13" name="Oval 12"/>
          <p:cNvSpPr/>
          <p:nvPr/>
        </p:nvSpPr>
        <p:spPr>
          <a:xfrm>
            <a:off x="932688" y="4114800"/>
            <a:ext cx="118872" cy="118872"/>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4" name="TextBox 13"/>
          <p:cNvSpPr txBox="1"/>
          <p:nvPr/>
        </p:nvSpPr>
        <p:spPr>
          <a:xfrm>
            <a:off x="1225295" y="4005072"/>
            <a:ext cx="4334256" cy="640080"/>
          </a:xfrm>
          <a:prstGeom prst="rect">
            <a:avLst/>
          </a:prstGeom>
          <a:noFill/>
        </p:spPr>
        <p:txBody>
          <a:bodyPr wrap="square" anchor="t" lIns="0" rIns="0" tIns="0" bIns="0">
            <a:spAutoFit/>
          </a:bodyPr>
          <a:lstStyle/>
          <a:p>
            <a:pPr>
              <a:lnSpc>
                <a:spcPct val="128000"/>
              </a:lnSpc>
              <a:spcBef>
                <a:spcPts val="0"/>
              </a:spcBef>
              <a:spcAft>
                <a:spcPts val="0"/>
              </a:spcAft>
            </a:pPr>
            <a:r>
              <a:rPr sz="1250" b="0" i="0">
                <a:solidFill>
                  <a:srgbClr val="262B4A"/>
                </a:solidFill>
                <a:latin typeface="Calibri"/>
              </a:rPr>
              <a:t>48×48 grayscale, frontal faces</a:t>
            </a:r>
          </a:p>
        </p:txBody>
      </p:sp>
      <p:sp>
        <p:nvSpPr>
          <p:cNvPr id="15" name="Oval 14"/>
          <p:cNvSpPr/>
          <p:nvPr/>
        </p:nvSpPr>
        <p:spPr>
          <a:xfrm>
            <a:off x="932688" y="4828031"/>
            <a:ext cx="118872" cy="118872"/>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6" name="TextBox 15"/>
          <p:cNvSpPr txBox="1"/>
          <p:nvPr/>
        </p:nvSpPr>
        <p:spPr>
          <a:xfrm>
            <a:off x="1225295" y="4718304"/>
            <a:ext cx="4334256" cy="640080"/>
          </a:xfrm>
          <a:prstGeom prst="rect">
            <a:avLst/>
          </a:prstGeom>
          <a:noFill/>
        </p:spPr>
        <p:txBody>
          <a:bodyPr wrap="square" anchor="t" lIns="0" rIns="0" tIns="0" bIns="0">
            <a:spAutoFit/>
          </a:bodyPr>
          <a:lstStyle/>
          <a:p>
            <a:pPr>
              <a:lnSpc>
                <a:spcPct val="128000"/>
              </a:lnSpc>
              <a:spcBef>
                <a:spcPts val="0"/>
              </a:spcBef>
              <a:spcAft>
                <a:spcPts val="0"/>
              </a:spcAft>
            </a:pPr>
            <a:r>
              <a:rPr sz="1250" b="0" i="0">
                <a:solidFill>
                  <a:srgbClr val="262B4A"/>
                </a:solidFill>
                <a:latin typeface="Calibri"/>
              </a:rPr>
              <a:t>Real-time deployment in a browser</a:t>
            </a:r>
          </a:p>
        </p:txBody>
      </p:sp>
      <p:sp>
        <p:nvSpPr>
          <p:cNvPr id="17" name="Rounded Rectangle 16"/>
          <p:cNvSpPr/>
          <p:nvPr/>
        </p:nvSpPr>
        <p:spPr>
          <a:xfrm>
            <a:off x="6236208" y="1682496"/>
            <a:ext cx="5385816" cy="3977639"/>
          </a:xfrm>
          <a:prstGeom prst="roundRect">
            <a:avLst>
              <a:gd name="adj" fmla="val 3218"/>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8" name="TextBox 17"/>
          <p:cNvSpPr txBox="1"/>
          <p:nvPr/>
        </p:nvSpPr>
        <p:spPr>
          <a:xfrm>
            <a:off x="6583680" y="2029968"/>
            <a:ext cx="4690872" cy="320040"/>
          </a:xfrm>
          <a:prstGeom prst="rect">
            <a:avLst/>
          </a:prstGeom>
          <a:noFill/>
        </p:spPr>
        <p:txBody>
          <a:bodyPr wrap="square" anchor="t" lIns="0" rIns="0" tIns="0" bIns="0">
            <a:spAutoFit/>
          </a:bodyPr>
          <a:lstStyle/>
          <a:p>
            <a:pPr>
              <a:lnSpc>
                <a:spcPct val="115000"/>
              </a:lnSpc>
              <a:spcBef>
                <a:spcPts val="0"/>
              </a:spcBef>
              <a:spcAft>
                <a:spcPts val="0"/>
              </a:spcAft>
            </a:pPr>
            <a:r>
              <a:rPr sz="1500" b="1" i="0">
                <a:solidFill>
                  <a:srgbClr val="F7DF93"/>
                </a:solidFill>
                <a:latin typeface="Bookman Old Style"/>
              </a:rPr>
              <a:t>Out of Scope</a:t>
            </a:r>
          </a:p>
        </p:txBody>
      </p:sp>
      <p:sp>
        <p:nvSpPr>
          <p:cNvPr id="19" name="Oval 18"/>
          <p:cNvSpPr/>
          <p:nvPr/>
        </p:nvSpPr>
        <p:spPr>
          <a:xfrm>
            <a:off x="6601968" y="2688336"/>
            <a:ext cx="118872" cy="118872"/>
          </a:xfrm>
          <a:prstGeom prst="ellipse">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0" name="TextBox 19"/>
          <p:cNvSpPr txBox="1"/>
          <p:nvPr/>
        </p:nvSpPr>
        <p:spPr>
          <a:xfrm>
            <a:off x="6894576" y="2578608"/>
            <a:ext cx="4325112" cy="640080"/>
          </a:xfrm>
          <a:prstGeom prst="rect">
            <a:avLst/>
          </a:prstGeom>
          <a:noFill/>
        </p:spPr>
        <p:txBody>
          <a:bodyPr wrap="square" anchor="t" lIns="0" rIns="0" tIns="0" bIns="0">
            <a:spAutoFit/>
          </a:bodyPr>
          <a:lstStyle/>
          <a:p>
            <a:pPr>
              <a:lnSpc>
                <a:spcPct val="128000"/>
              </a:lnSpc>
              <a:spcBef>
                <a:spcPts val="0"/>
              </a:spcBef>
              <a:spcAft>
                <a:spcPts val="0"/>
              </a:spcAft>
            </a:pPr>
            <a:r>
              <a:rPr sz="1250" b="0" i="0">
                <a:solidFill>
                  <a:srgbClr val="FFFFFF"/>
                </a:solidFill>
                <a:latin typeface="Calibri"/>
              </a:rPr>
              <a:t>Multi-face tracking within a frame</a:t>
            </a:r>
          </a:p>
        </p:txBody>
      </p:sp>
      <p:sp>
        <p:nvSpPr>
          <p:cNvPr id="21" name="Oval 20"/>
          <p:cNvSpPr/>
          <p:nvPr/>
        </p:nvSpPr>
        <p:spPr>
          <a:xfrm>
            <a:off x="6601968" y="3401568"/>
            <a:ext cx="118872" cy="118872"/>
          </a:xfrm>
          <a:prstGeom prst="ellipse">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2" name="TextBox 21"/>
          <p:cNvSpPr txBox="1"/>
          <p:nvPr/>
        </p:nvSpPr>
        <p:spPr>
          <a:xfrm>
            <a:off x="6894576" y="3291840"/>
            <a:ext cx="4325112" cy="640080"/>
          </a:xfrm>
          <a:prstGeom prst="rect">
            <a:avLst/>
          </a:prstGeom>
          <a:noFill/>
        </p:spPr>
        <p:txBody>
          <a:bodyPr wrap="square" anchor="t" lIns="0" rIns="0" tIns="0" bIns="0">
            <a:spAutoFit/>
          </a:bodyPr>
          <a:lstStyle/>
          <a:p>
            <a:pPr>
              <a:lnSpc>
                <a:spcPct val="128000"/>
              </a:lnSpc>
              <a:spcBef>
                <a:spcPts val="0"/>
              </a:spcBef>
              <a:spcAft>
                <a:spcPts val="0"/>
              </a:spcAft>
            </a:pPr>
            <a:r>
              <a:rPr sz="1250" b="0" i="0">
                <a:solidFill>
                  <a:srgbClr val="FFFFFF"/>
                </a:solidFill>
                <a:latin typeface="Calibri"/>
              </a:rPr>
              <a:t>Emotion-intensity regression</a:t>
            </a:r>
          </a:p>
        </p:txBody>
      </p:sp>
      <p:sp>
        <p:nvSpPr>
          <p:cNvPr id="23" name="Oval 22"/>
          <p:cNvSpPr/>
          <p:nvPr/>
        </p:nvSpPr>
        <p:spPr>
          <a:xfrm>
            <a:off x="6601968" y="4114800"/>
            <a:ext cx="118872" cy="118872"/>
          </a:xfrm>
          <a:prstGeom prst="ellipse">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4" name="TextBox 23"/>
          <p:cNvSpPr txBox="1"/>
          <p:nvPr/>
        </p:nvSpPr>
        <p:spPr>
          <a:xfrm>
            <a:off x="6894576" y="4005072"/>
            <a:ext cx="4325112" cy="640080"/>
          </a:xfrm>
          <a:prstGeom prst="rect">
            <a:avLst/>
          </a:prstGeom>
          <a:noFill/>
        </p:spPr>
        <p:txBody>
          <a:bodyPr wrap="square" anchor="t" lIns="0" rIns="0" tIns="0" bIns="0">
            <a:spAutoFit/>
          </a:bodyPr>
          <a:lstStyle/>
          <a:p>
            <a:pPr>
              <a:lnSpc>
                <a:spcPct val="128000"/>
              </a:lnSpc>
              <a:spcBef>
                <a:spcPts val="0"/>
              </a:spcBef>
              <a:spcAft>
                <a:spcPts val="0"/>
              </a:spcAft>
            </a:pPr>
            <a:r>
              <a:rPr sz="1250" b="0" i="0">
                <a:solidFill>
                  <a:srgbClr val="FFFFFF"/>
                </a:solidFill>
                <a:latin typeface="Calibri"/>
              </a:rPr>
              <a:t>Profile views and heavy occlusion</a:t>
            </a:r>
          </a:p>
        </p:txBody>
      </p:sp>
      <p:sp>
        <p:nvSpPr>
          <p:cNvPr id="25" name="Oval 24"/>
          <p:cNvSpPr/>
          <p:nvPr/>
        </p:nvSpPr>
        <p:spPr>
          <a:xfrm>
            <a:off x="6601968" y="4828031"/>
            <a:ext cx="118872" cy="118872"/>
          </a:xfrm>
          <a:prstGeom prst="ellipse">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6" name="TextBox 25"/>
          <p:cNvSpPr txBox="1"/>
          <p:nvPr/>
        </p:nvSpPr>
        <p:spPr>
          <a:xfrm>
            <a:off x="6894576" y="4718304"/>
            <a:ext cx="4325112" cy="640080"/>
          </a:xfrm>
          <a:prstGeom prst="rect">
            <a:avLst/>
          </a:prstGeom>
          <a:noFill/>
        </p:spPr>
        <p:txBody>
          <a:bodyPr wrap="square" anchor="t" lIns="0" rIns="0" tIns="0" bIns="0">
            <a:spAutoFit/>
          </a:bodyPr>
          <a:lstStyle/>
          <a:p>
            <a:pPr>
              <a:lnSpc>
                <a:spcPct val="128000"/>
              </a:lnSpc>
              <a:spcBef>
                <a:spcPts val="0"/>
              </a:spcBef>
              <a:spcAft>
                <a:spcPts val="0"/>
              </a:spcAft>
            </a:pPr>
            <a:r>
              <a:rPr sz="1250" b="0" i="0">
                <a:solidFill>
                  <a:srgbClr val="FFFFFF"/>
                </a:solidFill>
                <a:latin typeface="Calibri"/>
              </a:rPr>
              <a:t>Remote / client-side camera capture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4</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Background</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F7DF93"/>
                </a:solidFill>
                <a:latin typeface="Calibri"/>
              </a:rPr>
              <a:t>The benchmark, and why a convolutional network suits it</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5394960" cy="2788920"/>
          </a:xfrm>
          <a:prstGeom prst="roundRect">
            <a:avLst>
              <a:gd name="adj" fmla="val 459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TextBox 7"/>
          <p:cNvSpPr txBox="1"/>
          <p:nvPr/>
        </p:nvSpPr>
        <p:spPr>
          <a:xfrm>
            <a:off x="914400" y="1993392"/>
            <a:ext cx="4700016" cy="292608"/>
          </a:xfrm>
          <a:prstGeom prst="rect">
            <a:avLst/>
          </a:prstGeom>
          <a:noFill/>
        </p:spPr>
        <p:txBody>
          <a:bodyPr wrap="square" anchor="t" lIns="0" rIns="0" tIns="0" bIns="0">
            <a:spAutoFit/>
          </a:bodyPr>
          <a:lstStyle/>
          <a:p>
            <a:pPr>
              <a:lnSpc>
                <a:spcPct val="115000"/>
              </a:lnSpc>
              <a:spcBef>
                <a:spcPts val="0"/>
              </a:spcBef>
              <a:spcAft>
                <a:spcPts val="0"/>
              </a:spcAft>
            </a:pPr>
            <a:r>
              <a:rPr sz="1500" b="1" i="0">
                <a:solidFill>
                  <a:srgbClr val="F7DF93"/>
                </a:solidFill>
                <a:latin typeface="Bookman Old Style"/>
              </a:rPr>
              <a:t>FER-2013</a:t>
            </a:r>
          </a:p>
        </p:txBody>
      </p:sp>
      <p:sp>
        <p:nvSpPr>
          <p:cNvPr id="9" name="TextBox 8"/>
          <p:cNvSpPr txBox="1"/>
          <p:nvPr/>
        </p:nvSpPr>
        <p:spPr>
          <a:xfrm>
            <a:off x="914400" y="2432304"/>
            <a:ext cx="4700016" cy="1920240"/>
          </a:xfrm>
          <a:prstGeom prst="rect">
            <a:avLst/>
          </a:prstGeom>
          <a:noFill/>
        </p:spPr>
        <p:txBody>
          <a:bodyPr wrap="square" anchor="t" lIns="0" rIns="0" tIns="0" bIns="0">
            <a:spAutoFit/>
          </a:bodyPr>
          <a:lstStyle/>
          <a:p>
            <a:pPr>
              <a:lnSpc>
                <a:spcPct val="130000"/>
              </a:lnSpc>
              <a:spcBef>
                <a:spcPts val="0"/>
              </a:spcBef>
              <a:spcAft>
                <a:spcPts val="1100"/>
              </a:spcAft>
            </a:pPr>
            <a:r>
              <a:rPr sz="1200" b="0" i="0">
                <a:solidFill>
                  <a:srgbClr val="FFFFFF"/>
                </a:solidFill>
                <a:latin typeface="Calibri"/>
              </a:rPr>
              <a:t>Introduced for the ICML 2013 Challenges in Representation Learning. 48×48 grayscale face images collected by automated web search and labelled into seven emotion categories.</a:t>
            </a:r>
          </a:p>
          <a:p>
            <a:pPr>
              <a:lnSpc>
                <a:spcPct val="130000"/>
              </a:lnSpc>
              <a:spcBef>
                <a:spcPts val="0"/>
              </a:spcBef>
              <a:spcAft>
                <a:spcPts val="0"/>
              </a:spcAft>
            </a:pPr>
            <a:r>
              <a:rPr sz="1200" b="0" i="0">
                <a:solidFill>
                  <a:srgbClr val="A9AFCE"/>
                </a:solidFill>
                <a:latin typeface="Calibri"/>
              </a:rPr>
              <a:t>Its known difficulties — low resolution, label noise and heavy class imbalance — appear directly in the results of this project.</a:t>
            </a:r>
          </a:p>
        </p:txBody>
      </p:sp>
      <p:sp>
        <p:nvSpPr>
          <p:cNvPr id="10" name="Rounded Rectangle 9"/>
          <p:cNvSpPr/>
          <p:nvPr/>
        </p:nvSpPr>
        <p:spPr>
          <a:xfrm>
            <a:off x="6236208" y="1682496"/>
            <a:ext cx="5385816" cy="2788920"/>
          </a:xfrm>
          <a:prstGeom prst="roundRect">
            <a:avLst>
              <a:gd name="adj" fmla="val 459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1" name="TextBox 10"/>
          <p:cNvSpPr txBox="1"/>
          <p:nvPr/>
        </p:nvSpPr>
        <p:spPr>
          <a:xfrm>
            <a:off x="6583680" y="1993392"/>
            <a:ext cx="4690872" cy="292608"/>
          </a:xfrm>
          <a:prstGeom prst="rect">
            <a:avLst/>
          </a:prstGeom>
          <a:noFill/>
        </p:spPr>
        <p:txBody>
          <a:bodyPr wrap="square" anchor="t" lIns="0" rIns="0" tIns="0" bIns="0">
            <a:spAutoFit/>
          </a:bodyPr>
          <a:lstStyle/>
          <a:p>
            <a:pPr>
              <a:lnSpc>
                <a:spcPct val="115000"/>
              </a:lnSpc>
              <a:spcBef>
                <a:spcPts val="0"/>
              </a:spcBef>
              <a:spcAft>
                <a:spcPts val="0"/>
              </a:spcAft>
            </a:pPr>
            <a:r>
              <a:rPr sz="1500" b="1" i="0">
                <a:solidFill>
                  <a:srgbClr val="F7DF93"/>
                </a:solidFill>
                <a:latin typeface="Bookman Old Style"/>
              </a:rPr>
              <a:t>Why a CNN</a:t>
            </a:r>
          </a:p>
        </p:txBody>
      </p:sp>
      <p:sp>
        <p:nvSpPr>
          <p:cNvPr id="12" name="TextBox 11"/>
          <p:cNvSpPr txBox="1"/>
          <p:nvPr/>
        </p:nvSpPr>
        <p:spPr>
          <a:xfrm>
            <a:off x="6583680" y="2432304"/>
            <a:ext cx="4690872" cy="1920240"/>
          </a:xfrm>
          <a:prstGeom prst="rect">
            <a:avLst/>
          </a:prstGeom>
          <a:noFill/>
        </p:spPr>
        <p:txBody>
          <a:bodyPr wrap="square" anchor="t" lIns="0" rIns="0" tIns="0" bIns="0">
            <a:spAutoFit/>
          </a:bodyPr>
          <a:lstStyle/>
          <a:p>
            <a:pPr>
              <a:lnSpc>
                <a:spcPct val="130000"/>
              </a:lnSpc>
              <a:spcBef>
                <a:spcPts val="0"/>
              </a:spcBef>
              <a:spcAft>
                <a:spcPts val="1100"/>
              </a:spcAft>
            </a:pPr>
            <a:r>
              <a:rPr sz="1200" b="0" i="0">
                <a:solidFill>
                  <a:srgbClr val="FFFFFF"/>
                </a:solidFill>
                <a:latin typeface="Calibri"/>
              </a:rPr>
              <a:t>Early convolutional layers respond to edges and simple textures; deeper layers compose these into parts — eyes, mouth corners, brow furrows — that are discriminative for expression.</a:t>
            </a:r>
          </a:p>
          <a:p>
            <a:pPr>
              <a:lnSpc>
                <a:spcPct val="130000"/>
              </a:lnSpc>
              <a:spcBef>
                <a:spcPts val="0"/>
              </a:spcBef>
              <a:spcAft>
                <a:spcPts val="0"/>
              </a:spcAft>
            </a:pPr>
            <a:r>
              <a:rPr sz="1200" b="0" i="0">
                <a:solidFill>
                  <a:srgbClr val="A9AFCE"/>
                </a:solidFill>
                <a:latin typeface="Calibri"/>
              </a:rPr>
              <a:t>Weight sharing makes the representation translation-tolerant and cuts the parameter count far below a dense network of comparable capacity.</a:t>
            </a:r>
          </a:p>
        </p:txBody>
      </p:sp>
      <p:sp>
        <p:nvSpPr>
          <p:cNvPr id="13" name="TextBox 12"/>
          <p:cNvSpPr txBox="1"/>
          <p:nvPr/>
        </p:nvSpPr>
        <p:spPr>
          <a:xfrm>
            <a:off x="566928" y="4745736"/>
            <a:ext cx="11057839" cy="274320"/>
          </a:xfrm>
          <a:prstGeom prst="rect">
            <a:avLst/>
          </a:prstGeom>
          <a:noFill/>
        </p:spPr>
        <p:txBody>
          <a:bodyPr wrap="square" anchor="t" lIns="0" rIns="0" tIns="0" bIns="0">
            <a:spAutoFit/>
          </a:bodyPr>
          <a:lstStyle/>
          <a:p>
            <a:pPr>
              <a:lnSpc>
                <a:spcPct val="115000"/>
              </a:lnSpc>
              <a:spcBef>
                <a:spcPts val="0"/>
              </a:spcBef>
              <a:spcAft>
                <a:spcPts val="0"/>
              </a:spcAft>
            </a:pPr>
            <a:r>
              <a:rPr sz="900" b="1" i="0">
                <a:solidFill>
                  <a:srgbClr val="F7DF93"/>
                </a:solidFill>
                <a:latin typeface="Calibri"/>
              </a:rPr>
              <a:t>W H E R E   T H I S   W O R K   S I T S</a:t>
            </a:r>
          </a:p>
        </p:txBody>
      </p:sp>
      <p:sp>
        <p:nvSpPr>
          <p:cNvPr id="14" name="Rounded Rectangle 13"/>
          <p:cNvSpPr/>
          <p:nvPr/>
        </p:nvSpPr>
        <p:spPr>
          <a:xfrm>
            <a:off x="566928" y="5084064"/>
            <a:ext cx="3551834" cy="932688"/>
          </a:xfrm>
          <a:prstGeom prst="roundRect">
            <a:avLst>
              <a:gd name="adj" fmla="val 11764"/>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5" name="TextBox 14"/>
          <p:cNvSpPr txBox="1"/>
          <p:nvPr/>
        </p:nvSpPr>
        <p:spPr>
          <a:xfrm>
            <a:off x="566928" y="5212080"/>
            <a:ext cx="3551834" cy="36576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7DF93"/>
                </a:solidFill>
                <a:latin typeface="Bookman Old Style"/>
              </a:rPr>
              <a:t>≈71%</a:t>
            </a:r>
          </a:p>
        </p:txBody>
      </p:sp>
      <p:sp>
        <p:nvSpPr>
          <p:cNvPr id="16" name="TextBox 15"/>
          <p:cNvSpPr txBox="1"/>
          <p:nvPr/>
        </p:nvSpPr>
        <p:spPr>
          <a:xfrm>
            <a:off x="566928" y="5632704"/>
            <a:ext cx="3551834" cy="274320"/>
          </a:xfrm>
          <a:prstGeom prst="rect">
            <a:avLst/>
          </a:prstGeom>
          <a:noFill/>
        </p:spPr>
        <p:txBody>
          <a:bodyPr wrap="square" anchor="t" lIns="0" rIns="0" tIns="0" bIns="0">
            <a:spAutoFit/>
          </a:bodyPr>
          <a:lstStyle/>
          <a:p>
            <a:pPr algn="ctr">
              <a:lnSpc>
                <a:spcPct val="115000"/>
              </a:lnSpc>
              <a:spcBef>
                <a:spcPts val="0"/>
              </a:spcBef>
              <a:spcAft>
                <a:spcPts val="0"/>
              </a:spcAft>
            </a:pPr>
            <a:r>
              <a:rPr sz="1100" b="0" i="0">
                <a:solidFill>
                  <a:srgbClr val="A9AFCE"/>
                </a:solidFill>
                <a:latin typeface="Calibri"/>
              </a:rPr>
              <a:t>2013 competition winner</a:t>
            </a:r>
          </a:p>
        </p:txBody>
      </p:sp>
      <p:sp>
        <p:nvSpPr>
          <p:cNvPr id="17" name="Rounded Rectangle 16"/>
          <p:cNvSpPr/>
          <p:nvPr/>
        </p:nvSpPr>
        <p:spPr>
          <a:xfrm>
            <a:off x="4319930" y="5084064"/>
            <a:ext cx="3551834" cy="932688"/>
          </a:xfrm>
          <a:prstGeom prst="roundRect">
            <a:avLst>
              <a:gd name="adj" fmla="val 11764"/>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8" name="TextBox 17"/>
          <p:cNvSpPr txBox="1"/>
          <p:nvPr/>
        </p:nvSpPr>
        <p:spPr>
          <a:xfrm>
            <a:off x="4319930" y="5212080"/>
            <a:ext cx="3551834" cy="36576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7DF93"/>
                </a:solidFill>
                <a:latin typeface="Bookman Old Style"/>
              </a:rPr>
              <a:t>≈65 ± 5%</a:t>
            </a:r>
          </a:p>
        </p:txBody>
      </p:sp>
      <p:sp>
        <p:nvSpPr>
          <p:cNvPr id="19" name="TextBox 18"/>
          <p:cNvSpPr txBox="1"/>
          <p:nvPr/>
        </p:nvSpPr>
        <p:spPr>
          <a:xfrm>
            <a:off x="4319930" y="5632704"/>
            <a:ext cx="3551834" cy="274320"/>
          </a:xfrm>
          <a:prstGeom prst="rect">
            <a:avLst/>
          </a:prstGeom>
          <a:noFill/>
        </p:spPr>
        <p:txBody>
          <a:bodyPr wrap="square" anchor="t" lIns="0" rIns="0" tIns="0" bIns="0">
            <a:spAutoFit/>
          </a:bodyPr>
          <a:lstStyle/>
          <a:p>
            <a:pPr algn="ctr">
              <a:lnSpc>
                <a:spcPct val="115000"/>
              </a:lnSpc>
              <a:spcBef>
                <a:spcPts val="0"/>
              </a:spcBef>
              <a:spcAft>
                <a:spcPts val="0"/>
              </a:spcAft>
            </a:pPr>
            <a:r>
              <a:rPr sz="1100" b="0" i="0">
                <a:solidFill>
                  <a:srgbClr val="A9AFCE"/>
                </a:solidFill>
                <a:latin typeface="Calibri"/>
              </a:rPr>
              <a:t>Human performance</a:t>
            </a:r>
          </a:p>
        </p:txBody>
      </p:sp>
      <p:sp>
        <p:nvSpPr>
          <p:cNvPr id="20" name="Rounded Rectangle 19"/>
          <p:cNvSpPr/>
          <p:nvPr/>
        </p:nvSpPr>
        <p:spPr>
          <a:xfrm>
            <a:off x="8072932" y="5084064"/>
            <a:ext cx="3551834" cy="932688"/>
          </a:xfrm>
          <a:prstGeom prst="roundRect">
            <a:avLst>
              <a:gd name="adj" fmla="val 11764"/>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1" name="TextBox 20"/>
          <p:cNvSpPr txBox="1"/>
          <p:nvPr/>
        </p:nvSpPr>
        <p:spPr>
          <a:xfrm>
            <a:off x="8072932" y="5212080"/>
            <a:ext cx="3551834" cy="36576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FFFFF"/>
                </a:solidFill>
                <a:latin typeface="Bookman Old Style"/>
              </a:rPr>
              <a:t>57.09%</a:t>
            </a:r>
          </a:p>
        </p:txBody>
      </p:sp>
      <p:sp>
        <p:nvSpPr>
          <p:cNvPr id="22" name="TextBox 21"/>
          <p:cNvSpPr txBox="1"/>
          <p:nvPr/>
        </p:nvSpPr>
        <p:spPr>
          <a:xfrm>
            <a:off x="8072932" y="5632704"/>
            <a:ext cx="3551834" cy="274320"/>
          </a:xfrm>
          <a:prstGeom prst="rect">
            <a:avLst/>
          </a:prstGeom>
          <a:noFill/>
        </p:spPr>
        <p:txBody>
          <a:bodyPr wrap="square" anchor="t" lIns="0" rIns="0" tIns="0" bIns="0">
            <a:spAutoFit/>
          </a:bodyPr>
          <a:lstStyle/>
          <a:p>
            <a:pPr algn="ctr">
              <a:lnSpc>
                <a:spcPct val="115000"/>
              </a:lnSpc>
              <a:spcBef>
                <a:spcPts val="0"/>
              </a:spcBef>
              <a:spcAft>
                <a:spcPts val="0"/>
              </a:spcAft>
            </a:pPr>
            <a:r>
              <a:rPr sz="1100" b="0" i="0">
                <a:solidFill>
                  <a:srgbClr val="FFFFFF"/>
                </a:solidFill>
                <a:latin typeface="Calibri"/>
              </a:rPr>
              <a:t>This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5</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Dataset — FER-2013</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35,887 labelled images across seven emotion categories</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2627299" cy="1005840"/>
          </a:xfrm>
          <a:prstGeom prst="roundRect">
            <a:avLst>
              <a:gd name="adj" fmla="val 1090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TextBox 7"/>
          <p:cNvSpPr txBox="1"/>
          <p:nvPr/>
        </p:nvSpPr>
        <p:spPr>
          <a:xfrm>
            <a:off x="566928" y="1865376"/>
            <a:ext cx="2627299" cy="411480"/>
          </a:xfrm>
          <a:prstGeom prst="rect">
            <a:avLst/>
          </a:prstGeom>
          <a:noFill/>
        </p:spPr>
        <p:txBody>
          <a:bodyPr wrap="square" anchor="t" lIns="0" rIns="0" tIns="0" bIns="0">
            <a:spAutoFit/>
          </a:bodyPr>
          <a:lstStyle/>
          <a:p>
            <a:pPr algn="ctr">
              <a:lnSpc>
                <a:spcPct val="115000"/>
              </a:lnSpc>
              <a:spcBef>
                <a:spcPts val="0"/>
              </a:spcBef>
              <a:spcAft>
                <a:spcPts val="0"/>
              </a:spcAft>
            </a:pPr>
            <a:r>
              <a:rPr sz="2100" b="1" i="0">
                <a:solidFill>
                  <a:srgbClr val="F5636E"/>
                </a:solidFill>
                <a:latin typeface="Bookman Old Style"/>
              </a:rPr>
              <a:t>35,887</a:t>
            </a:r>
          </a:p>
        </p:txBody>
      </p:sp>
      <p:sp>
        <p:nvSpPr>
          <p:cNvPr id="9" name="TextBox 8"/>
          <p:cNvSpPr txBox="1"/>
          <p:nvPr/>
        </p:nvSpPr>
        <p:spPr>
          <a:xfrm>
            <a:off x="566928" y="2340864"/>
            <a:ext cx="2627299" cy="274320"/>
          </a:xfrm>
          <a:prstGeom prst="rect">
            <a:avLst/>
          </a:prstGeom>
          <a:noFill/>
        </p:spPr>
        <p:txBody>
          <a:bodyPr wrap="square" anchor="t" lIns="0" rIns="0" tIns="0" bIns="0">
            <a:spAutoFit/>
          </a:bodyPr>
          <a:lstStyle/>
          <a:p>
            <a:pPr algn="ctr">
              <a:lnSpc>
                <a:spcPct val="115000"/>
              </a:lnSpc>
              <a:spcBef>
                <a:spcPts val="0"/>
              </a:spcBef>
              <a:spcAft>
                <a:spcPts val="0"/>
              </a:spcAft>
            </a:pPr>
            <a:r>
              <a:rPr sz="1050" b="0" i="0">
                <a:solidFill>
                  <a:srgbClr val="707694"/>
                </a:solidFill>
                <a:latin typeface="Calibri"/>
              </a:rPr>
              <a:t>Total images</a:t>
            </a:r>
          </a:p>
        </p:txBody>
      </p:sp>
      <p:sp>
        <p:nvSpPr>
          <p:cNvPr id="10" name="Rounded Rectangle 9"/>
          <p:cNvSpPr/>
          <p:nvPr/>
        </p:nvSpPr>
        <p:spPr>
          <a:xfrm>
            <a:off x="3377107" y="1682496"/>
            <a:ext cx="2627299" cy="1005840"/>
          </a:xfrm>
          <a:prstGeom prst="roundRect">
            <a:avLst>
              <a:gd name="adj" fmla="val 1090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1" name="TextBox 10"/>
          <p:cNvSpPr txBox="1"/>
          <p:nvPr/>
        </p:nvSpPr>
        <p:spPr>
          <a:xfrm>
            <a:off x="3377107" y="1865376"/>
            <a:ext cx="2627299" cy="411480"/>
          </a:xfrm>
          <a:prstGeom prst="rect">
            <a:avLst/>
          </a:prstGeom>
          <a:noFill/>
        </p:spPr>
        <p:txBody>
          <a:bodyPr wrap="square" anchor="t" lIns="0" rIns="0" tIns="0" bIns="0">
            <a:spAutoFit/>
          </a:bodyPr>
          <a:lstStyle/>
          <a:p>
            <a:pPr algn="ctr">
              <a:lnSpc>
                <a:spcPct val="115000"/>
              </a:lnSpc>
              <a:spcBef>
                <a:spcPts val="0"/>
              </a:spcBef>
              <a:spcAft>
                <a:spcPts val="0"/>
              </a:spcAft>
            </a:pPr>
            <a:r>
              <a:rPr sz="2100" b="1" i="0">
                <a:solidFill>
                  <a:srgbClr val="F5636E"/>
                </a:solidFill>
                <a:latin typeface="Bookman Old Style"/>
              </a:rPr>
              <a:t>48×48</a:t>
            </a:r>
          </a:p>
        </p:txBody>
      </p:sp>
      <p:sp>
        <p:nvSpPr>
          <p:cNvPr id="12" name="TextBox 11"/>
          <p:cNvSpPr txBox="1"/>
          <p:nvPr/>
        </p:nvSpPr>
        <p:spPr>
          <a:xfrm>
            <a:off x="3377107" y="2340864"/>
            <a:ext cx="2627299" cy="274320"/>
          </a:xfrm>
          <a:prstGeom prst="rect">
            <a:avLst/>
          </a:prstGeom>
          <a:noFill/>
        </p:spPr>
        <p:txBody>
          <a:bodyPr wrap="square" anchor="t" lIns="0" rIns="0" tIns="0" bIns="0">
            <a:spAutoFit/>
          </a:bodyPr>
          <a:lstStyle/>
          <a:p>
            <a:pPr algn="ctr">
              <a:lnSpc>
                <a:spcPct val="115000"/>
              </a:lnSpc>
              <a:spcBef>
                <a:spcPts val="0"/>
              </a:spcBef>
              <a:spcAft>
                <a:spcPts val="0"/>
              </a:spcAft>
            </a:pPr>
            <a:r>
              <a:rPr sz="1050" b="0" i="0">
                <a:solidFill>
                  <a:srgbClr val="707694"/>
                </a:solidFill>
                <a:latin typeface="Calibri"/>
              </a:rPr>
              <a:t>Pixels per image</a:t>
            </a:r>
          </a:p>
        </p:txBody>
      </p:sp>
      <p:sp>
        <p:nvSpPr>
          <p:cNvPr id="13" name="Rounded Rectangle 12"/>
          <p:cNvSpPr/>
          <p:nvPr/>
        </p:nvSpPr>
        <p:spPr>
          <a:xfrm>
            <a:off x="6187287" y="1682496"/>
            <a:ext cx="2627299" cy="1005840"/>
          </a:xfrm>
          <a:prstGeom prst="roundRect">
            <a:avLst>
              <a:gd name="adj" fmla="val 1090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4" name="TextBox 13"/>
          <p:cNvSpPr txBox="1"/>
          <p:nvPr/>
        </p:nvSpPr>
        <p:spPr>
          <a:xfrm>
            <a:off x="6187287" y="1865376"/>
            <a:ext cx="2627299" cy="411480"/>
          </a:xfrm>
          <a:prstGeom prst="rect">
            <a:avLst/>
          </a:prstGeom>
          <a:noFill/>
        </p:spPr>
        <p:txBody>
          <a:bodyPr wrap="square" anchor="t" lIns="0" rIns="0" tIns="0" bIns="0">
            <a:spAutoFit/>
          </a:bodyPr>
          <a:lstStyle/>
          <a:p>
            <a:pPr algn="ctr">
              <a:lnSpc>
                <a:spcPct val="115000"/>
              </a:lnSpc>
              <a:spcBef>
                <a:spcPts val="0"/>
              </a:spcBef>
              <a:spcAft>
                <a:spcPts val="0"/>
              </a:spcAft>
            </a:pPr>
            <a:r>
              <a:rPr sz="2100" b="1" i="0">
                <a:solidFill>
                  <a:srgbClr val="F5636E"/>
                </a:solidFill>
                <a:latin typeface="Bookman Old Style"/>
              </a:rPr>
              <a:t>Grayscale</a:t>
            </a:r>
          </a:p>
        </p:txBody>
      </p:sp>
      <p:sp>
        <p:nvSpPr>
          <p:cNvPr id="15" name="TextBox 14"/>
          <p:cNvSpPr txBox="1"/>
          <p:nvPr/>
        </p:nvSpPr>
        <p:spPr>
          <a:xfrm>
            <a:off x="6187287" y="2340864"/>
            <a:ext cx="2627299" cy="274320"/>
          </a:xfrm>
          <a:prstGeom prst="rect">
            <a:avLst/>
          </a:prstGeom>
          <a:noFill/>
        </p:spPr>
        <p:txBody>
          <a:bodyPr wrap="square" anchor="t" lIns="0" rIns="0" tIns="0" bIns="0">
            <a:spAutoFit/>
          </a:bodyPr>
          <a:lstStyle/>
          <a:p>
            <a:pPr algn="ctr">
              <a:lnSpc>
                <a:spcPct val="115000"/>
              </a:lnSpc>
              <a:spcBef>
                <a:spcPts val="0"/>
              </a:spcBef>
              <a:spcAft>
                <a:spcPts val="0"/>
              </a:spcAft>
            </a:pPr>
            <a:r>
              <a:rPr sz="1050" b="0" i="0">
                <a:solidFill>
                  <a:srgbClr val="707694"/>
                </a:solidFill>
                <a:latin typeface="Calibri"/>
              </a:rPr>
              <a:t>Colour format</a:t>
            </a:r>
          </a:p>
        </p:txBody>
      </p:sp>
      <p:sp>
        <p:nvSpPr>
          <p:cNvPr id="16" name="Rounded Rectangle 15"/>
          <p:cNvSpPr/>
          <p:nvPr/>
        </p:nvSpPr>
        <p:spPr>
          <a:xfrm>
            <a:off x="8997467" y="1682496"/>
            <a:ext cx="2627299" cy="1005840"/>
          </a:xfrm>
          <a:prstGeom prst="roundRect">
            <a:avLst>
              <a:gd name="adj" fmla="val 1090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7" name="TextBox 16"/>
          <p:cNvSpPr txBox="1"/>
          <p:nvPr/>
        </p:nvSpPr>
        <p:spPr>
          <a:xfrm>
            <a:off x="8997467" y="1865376"/>
            <a:ext cx="2627299" cy="411480"/>
          </a:xfrm>
          <a:prstGeom prst="rect">
            <a:avLst/>
          </a:prstGeom>
          <a:noFill/>
        </p:spPr>
        <p:txBody>
          <a:bodyPr wrap="square" anchor="t" lIns="0" rIns="0" tIns="0" bIns="0">
            <a:spAutoFit/>
          </a:bodyPr>
          <a:lstStyle/>
          <a:p>
            <a:pPr algn="ctr">
              <a:lnSpc>
                <a:spcPct val="115000"/>
              </a:lnSpc>
              <a:spcBef>
                <a:spcPts val="0"/>
              </a:spcBef>
              <a:spcAft>
                <a:spcPts val="0"/>
              </a:spcAft>
            </a:pPr>
            <a:r>
              <a:rPr sz="2100" b="1" i="0">
                <a:solidFill>
                  <a:srgbClr val="F5636E"/>
                </a:solidFill>
                <a:latin typeface="Bookman Old Style"/>
              </a:rPr>
              <a:t>7</a:t>
            </a:r>
          </a:p>
        </p:txBody>
      </p:sp>
      <p:sp>
        <p:nvSpPr>
          <p:cNvPr id="18" name="TextBox 17"/>
          <p:cNvSpPr txBox="1"/>
          <p:nvPr/>
        </p:nvSpPr>
        <p:spPr>
          <a:xfrm>
            <a:off x="8997467" y="2340864"/>
            <a:ext cx="2627299" cy="274320"/>
          </a:xfrm>
          <a:prstGeom prst="rect">
            <a:avLst/>
          </a:prstGeom>
          <a:noFill/>
        </p:spPr>
        <p:txBody>
          <a:bodyPr wrap="square" anchor="t" lIns="0" rIns="0" tIns="0" bIns="0">
            <a:spAutoFit/>
          </a:bodyPr>
          <a:lstStyle/>
          <a:p>
            <a:pPr algn="ctr">
              <a:lnSpc>
                <a:spcPct val="115000"/>
              </a:lnSpc>
              <a:spcBef>
                <a:spcPts val="0"/>
              </a:spcBef>
              <a:spcAft>
                <a:spcPts val="0"/>
              </a:spcAft>
            </a:pPr>
            <a:r>
              <a:rPr sz="1050" b="0" i="0">
                <a:solidFill>
                  <a:srgbClr val="707694"/>
                </a:solidFill>
                <a:latin typeface="Calibri"/>
              </a:rPr>
              <a:t>Emotion classes</a:t>
            </a:r>
          </a:p>
        </p:txBody>
      </p:sp>
      <p:graphicFrame>
        <p:nvGraphicFramePr>
          <p:cNvPr id="19" name="Table 18"/>
          <p:cNvGraphicFramePr>
            <a:graphicFrameLocks noGrp="1"/>
          </p:cNvGraphicFramePr>
          <p:nvPr/>
        </p:nvGraphicFramePr>
        <p:xfrm>
          <a:off x="566928" y="2980944"/>
          <a:ext cx="6903720" cy="3209544"/>
        </p:xfrm>
        <a:graphic>
          <a:graphicData uri="http://schemas.openxmlformats.org/drawingml/2006/table">
            <a:tbl>
              <a:tblPr>
                <a:tableStyleId>{5C22544A-7EE6-4342-B048-85BDC9FD1C3A}</a:tableStyleId>
              </a:tblPr>
              <a:tblGrid>
                <a:gridCol w="2148840"/>
                <a:gridCol w="1691640"/>
                <a:gridCol w="1600200"/>
                <a:gridCol w="1463040"/>
              </a:tblGrid>
              <a:tr h="356616">
                <a:tc>
                  <a:txBody>
                    <a:bodyPr/>
                    <a:lstStyle/>
                    <a:p>
                      <a:pPr algn="l"/>
                      <a:r>
                        <a:rPr sz="1150" b="1">
                          <a:solidFill>
                            <a:srgbClr val="FFFFFF"/>
                          </a:solidFill>
                          <a:latin typeface="Calibri"/>
                        </a:rPr>
                        <a:t>Emotion</a:t>
                      </a:r>
                    </a:p>
                  </a:txBody>
                  <a:tcPr anchor="ctr" marL="118872" marR="118872" marT="0" marB="0">
                    <a:solidFill>
                      <a:srgbClr val="262B4A"/>
                    </a:solidFill>
                  </a:tcPr>
                </a:tc>
                <a:tc>
                  <a:txBody>
                    <a:bodyPr/>
                    <a:lstStyle/>
                    <a:p>
                      <a:pPr algn="r"/>
                      <a:r>
                        <a:rPr sz="1150" b="1">
                          <a:solidFill>
                            <a:srgbClr val="FFFFFF"/>
                          </a:solidFill>
                          <a:latin typeface="Calibri"/>
                        </a:rPr>
                        <a:t>Train images</a:t>
                      </a:r>
                    </a:p>
                  </a:txBody>
                  <a:tcPr anchor="ctr" marL="118872" marR="118872" marT="0" marB="0">
                    <a:solidFill>
                      <a:srgbClr val="262B4A"/>
                    </a:solidFill>
                  </a:tcPr>
                </a:tc>
                <a:tc>
                  <a:txBody>
                    <a:bodyPr/>
                    <a:lstStyle/>
                    <a:p>
                      <a:pPr algn="r"/>
                      <a:r>
                        <a:rPr sz="1150" b="1">
                          <a:solidFill>
                            <a:srgbClr val="FFFFFF"/>
                          </a:solidFill>
                          <a:latin typeface="Calibri"/>
                        </a:rPr>
                        <a:t>Test images</a:t>
                      </a:r>
                    </a:p>
                  </a:txBody>
                  <a:tcPr anchor="ctr" marL="118872" marR="118872" marT="0" marB="0">
                    <a:solidFill>
                      <a:srgbClr val="262B4A"/>
                    </a:solidFill>
                  </a:tcPr>
                </a:tc>
                <a:tc>
                  <a:txBody>
                    <a:bodyPr/>
                    <a:lstStyle/>
                    <a:p>
                      <a:pPr algn="r"/>
                      <a:r>
                        <a:rPr sz="1150" b="1">
                          <a:solidFill>
                            <a:srgbClr val="FFFFFF"/>
                          </a:solidFill>
                          <a:latin typeface="Calibri"/>
                        </a:rPr>
                        <a:t>Train share</a:t>
                      </a:r>
                    </a:p>
                  </a:txBody>
                  <a:tcPr anchor="ctr" marL="118872" marR="118872" marT="0" marB="0">
                    <a:solidFill>
                      <a:srgbClr val="262B4A"/>
                    </a:solidFill>
                  </a:tcPr>
                </a:tc>
              </a:tr>
              <a:tr h="356616">
                <a:tc>
                  <a:txBody>
                    <a:bodyPr/>
                    <a:lstStyle/>
                    <a:p>
                      <a:pPr algn="l"/>
                      <a:r>
                        <a:rPr sz="1150" b="0">
                          <a:solidFill>
                            <a:srgbClr val="262B4A"/>
                          </a:solidFill>
                          <a:latin typeface="Calibri"/>
                        </a:rPr>
                        <a:t>Angry</a:t>
                      </a:r>
                    </a:p>
                  </a:txBody>
                  <a:tcPr anchor="ctr" marL="118872" marR="118872" marT="0" marB="0">
                    <a:solidFill>
                      <a:srgbClr val="FFFFFF"/>
                    </a:solidFill>
                  </a:tcPr>
                </a:tc>
                <a:tc>
                  <a:txBody>
                    <a:bodyPr/>
                    <a:lstStyle/>
                    <a:p>
                      <a:pPr algn="r"/>
                      <a:r>
                        <a:rPr sz="1150" b="0">
                          <a:solidFill>
                            <a:srgbClr val="262B4A"/>
                          </a:solidFill>
                          <a:latin typeface="Calibri"/>
                        </a:rPr>
                        <a:t>3,995</a:t>
                      </a:r>
                    </a:p>
                  </a:txBody>
                  <a:tcPr anchor="ctr" marL="118872" marR="118872" marT="0" marB="0">
                    <a:solidFill>
                      <a:srgbClr val="FFFFFF"/>
                    </a:solidFill>
                  </a:tcPr>
                </a:tc>
                <a:tc>
                  <a:txBody>
                    <a:bodyPr/>
                    <a:lstStyle/>
                    <a:p>
                      <a:pPr algn="r"/>
                      <a:r>
                        <a:rPr sz="1150" b="0">
                          <a:solidFill>
                            <a:srgbClr val="262B4A"/>
                          </a:solidFill>
                          <a:latin typeface="Calibri"/>
                        </a:rPr>
                        <a:t>958</a:t>
                      </a:r>
                    </a:p>
                  </a:txBody>
                  <a:tcPr anchor="ctr" marL="118872" marR="118872" marT="0" marB="0">
                    <a:solidFill>
                      <a:srgbClr val="FFFFFF"/>
                    </a:solidFill>
                  </a:tcPr>
                </a:tc>
                <a:tc>
                  <a:txBody>
                    <a:bodyPr/>
                    <a:lstStyle/>
                    <a:p>
                      <a:pPr algn="r"/>
                      <a:r>
                        <a:rPr sz="1150" b="0">
                          <a:solidFill>
                            <a:srgbClr val="262B4A"/>
                          </a:solidFill>
                          <a:latin typeface="Calibri"/>
                        </a:rPr>
                        <a:t>13.9%</a:t>
                      </a:r>
                    </a:p>
                  </a:txBody>
                  <a:tcPr anchor="ctr" marL="118872" marR="118872" marT="0" marB="0">
                    <a:solidFill>
                      <a:srgbClr val="FFFFFF"/>
                    </a:solidFill>
                  </a:tcPr>
                </a:tc>
              </a:tr>
              <a:tr h="356616">
                <a:tc>
                  <a:txBody>
                    <a:bodyPr/>
                    <a:lstStyle/>
                    <a:p>
                      <a:pPr algn="l"/>
                      <a:r>
                        <a:rPr sz="1150" b="0">
                          <a:solidFill>
                            <a:srgbClr val="262B4A"/>
                          </a:solidFill>
                          <a:latin typeface="Calibri"/>
                        </a:rPr>
                        <a:t>Disgust</a:t>
                      </a:r>
                    </a:p>
                  </a:txBody>
                  <a:tcPr anchor="ctr" marL="118872" marR="118872" marT="0" marB="0">
                    <a:solidFill>
                      <a:srgbClr val="FFFFFF"/>
                    </a:solidFill>
                  </a:tcPr>
                </a:tc>
                <a:tc>
                  <a:txBody>
                    <a:bodyPr/>
                    <a:lstStyle/>
                    <a:p>
                      <a:pPr algn="r"/>
                      <a:r>
                        <a:rPr sz="1150" b="0">
                          <a:solidFill>
                            <a:srgbClr val="262B4A"/>
                          </a:solidFill>
                          <a:latin typeface="Calibri"/>
                        </a:rPr>
                        <a:t>436</a:t>
                      </a:r>
                    </a:p>
                  </a:txBody>
                  <a:tcPr anchor="ctr" marL="118872" marR="118872" marT="0" marB="0">
                    <a:solidFill>
                      <a:srgbClr val="FFFFFF"/>
                    </a:solidFill>
                  </a:tcPr>
                </a:tc>
                <a:tc>
                  <a:txBody>
                    <a:bodyPr/>
                    <a:lstStyle/>
                    <a:p>
                      <a:pPr algn="r"/>
                      <a:r>
                        <a:rPr sz="1150" b="0">
                          <a:solidFill>
                            <a:srgbClr val="262B4A"/>
                          </a:solidFill>
                          <a:latin typeface="Calibri"/>
                        </a:rPr>
                        <a:t>111</a:t>
                      </a:r>
                    </a:p>
                  </a:txBody>
                  <a:tcPr anchor="ctr" marL="118872" marR="118872" marT="0" marB="0">
                    <a:solidFill>
                      <a:srgbClr val="FFFFFF"/>
                    </a:solidFill>
                  </a:tcPr>
                </a:tc>
                <a:tc>
                  <a:txBody>
                    <a:bodyPr/>
                    <a:lstStyle/>
                    <a:p>
                      <a:pPr algn="r"/>
                      <a:r>
                        <a:rPr sz="1150" b="0">
                          <a:solidFill>
                            <a:srgbClr val="262B4A"/>
                          </a:solidFill>
                          <a:latin typeface="Calibri"/>
                        </a:rPr>
                        <a:t>1.5%</a:t>
                      </a:r>
                    </a:p>
                  </a:txBody>
                  <a:tcPr anchor="ctr" marL="118872" marR="118872" marT="0" marB="0">
                    <a:solidFill>
                      <a:srgbClr val="FFFFFF"/>
                    </a:solidFill>
                  </a:tcPr>
                </a:tc>
              </a:tr>
              <a:tr h="356616">
                <a:tc>
                  <a:txBody>
                    <a:bodyPr/>
                    <a:lstStyle/>
                    <a:p>
                      <a:pPr algn="l"/>
                      <a:r>
                        <a:rPr sz="1150" b="0">
                          <a:solidFill>
                            <a:srgbClr val="262B4A"/>
                          </a:solidFill>
                          <a:latin typeface="Calibri"/>
                        </a:rPr>
                        <a:t>Fear</a:t>
                      </a:r>
                    </a:p>
                  </a:txBody>
                  <a:tcPr anchor="ctr" marL="118872" marR="118872" marT="0" marB="0">
                    <a:solidFill>
                      <a:srgbClr val="FFFFFF"/>
                    </a:solidFill>
                  </a:tcPr>
                </a:tc>
                <a:tc>
                  <a:txBody>
                    <a:bodyPr/>
                    <a:lstStyle/>
                    <a:p>
                      <a:pPr algn="r"/>
                      <a:r>
                        <a:rPr sz="1150" b="0">
                          <a:solidFill>
                            <a:srgbClr val="262B4A"/>
                          </a:solidFill>
                          <a:latin typeface="Calibri"/>
                        </a:rPr>
                        <a:t>4,097</a:t>
                      </a:r>
                    </a:p>
                  </a:txBody>
                  <a:tcPr anchor="ctr" marL="118872" marR="118872" marT="0" marB="0">
                    <a:solidFill>
                      <a:srgbClr val="FFFFFF"/>
                    </a:solidFill>
                  </a:tcPr>
                </a:tc>
                <a:tc>
                  <a:txBody>
                    <a:bodyPr/>
                    <a:lstStyle/>
                    <a:p>
                      <a:pPr algn="r"/>
                      <a:r>
                        <a:rPr sz="1150" b="0">
                          <a:solidFill>
                            <a:srgbClr val="262B4A"/>
                          </a:solidFill>
                          <a:latin typeface="Calibri"/>
                        </a:rPr>
                        <a:t>1,024</a:t>
                      </a:r>
                    </a:p>
                  </a:txBody>
                  <a:tcPr anchor="ctr" marL="118872" marR="118872" marT="0" marB="0">
                    <a:solidFill>
                      <a:srgbClr val="FFFFFF"/>
                    </a:solidFill>
                  </a:tcPr>
                </a:tc>
                <a:tc>
                  <a:txBody>
                    <a:bodyPr/>
                    <a:lstStyle/>
                    <a:p>
                      <a:pPr algn="r"/>
                      <a:r>
                        <a:rPr sz="1150" b="0">
                          <a:solidFill>
                            <a:srgbClr val="262B4A"/>
                          </a:solidFill>
                          <a:latin typeface="Calibri"/>
                        </a:rPr>
                        <a:t>14.3%</a:t>
                      </a:r>
                    </a:p>
                  </a:txBody>
                  <a:tcPr anchor="ctr" marL="118872" marR="118872" marT="0" marB="0">
                    <a:solidFill>
                      <a:srgbClr val="FFFFFF"/>
                    </a:solidFill>
                  </a:tcPr>
                </a:tc>
              </a:tr>
              <a:tr h="356616">
                <a:tc>
                  <a:txBody>
                    <a:bodyPr/>
                    <a:lstStyle/>
                    <a:p>
                      <a:pPr algn="l"/>
                      <a:r>
                        <a:rPr sz="1150" b="0">
                          <a:solidFill>
                            <a:srgbClr val="262B4A"/>
                          </a:solidFill>
                          <a:latin typeface="Calibri"/>
                        </a:rPr>
                        <a:t>Happy</a:t>
                      </a:r>
                    </a:p>
                  </a:txBody>
                  <a:tcPr anchor="ctr" marL="118872" marR="118872" marT="0" marB="0">
                    <a:solidFill>
                      <a:srgbClr val="FFFFFF"/>
                    </a:solidFill>
                  </a:tcPr>
                </a:tc>
                <a:tc>
                  <a:txBody>
                    <a:bodyPr/>
                    <a:lstStyle/>
                    <a:p>
                      <a:pPr algn="r"/>
                      <a:r>
                        <a:rPr sz="1150" b="0">
                          <a:solidFill>
                            <a:srgbClr val="262B4A"/>
                          </a:solidFill>
                          <a:latin typeface="Calibri"/>
                        </a:rPr>
                        <a:t>7,215</a:t>
                      </a:r>
                    </a:p>
                  </a:txBody>
                  <a:tcPr anchor="ctr" marL="118872" marR="118872" marT="0" marB="0">
                    <a:solidFill>
                      <a:srgbClr val="FFFFFF"/>
                    </a:solidFill>
                  </a:tcPr>
                </a:tc>
                <a:tc>
                  <a:txBody>
                    <a:bodyPr/>
                    <a:lstStyle/>
                    <a:p>
                      <a:pPr algn="r"/>
                      <a:r>
                        <a:rPr sz="1150" b="0">
                          <a:solidFill>
                            <a:srgbClr val="262B4A"/>
                          </a:solidFill>
                          <a:latin typeface="Calibri"/>
                        </a:rPr>
                        <a:t>1,774</a:t>
                      </a:r>
                    </a:p>
                  </a:txBody>
                  <a:tcPr anchor="ctr" marL="118872" marR="118872" marT="0" marB="0">
                    <a:solidFill>
                      <a:srgbClr val="FFFFFF"/>
                    </a:solidFill>
                  </a:tcPr>
                </a:tc>
                <a:tc>
                  <a:txBody>
                    <a:bodyPr/>
                    <a:lstStyle/>
                    <a:p>
                      <a:pPr algn="r"/>
                      <a:r>
                        <a:rPr sz="1150" b="0">
                          <a:solidFill>
                            <a:srgbClr val="262B4A"/>
                          </a:solidFill>
                          <a:latin typeface="Calibri"/>
                        </a:rPr>
                        <a:t>25.1%</a:t>
                      </a:r>
                    </a:p>
                  </a:txBody>
                  <a:tcPr anchor="ctr" marL="118872" marR="118872" marT="0" marB="0">
                    <a:solidFill>
                      <a:srgbClr val="FFFFFF"/>
                    </a:solidFill>
                  </a:tcPr>
                </a:tc>
              </a:tr>
              <a:tr h="356616">
                <a:tc>
                  <a:txBody>
                    <a:bodyPr/>
                    <a:lstStyle/>
                    <a:p>
                      <a:pPr algn="l"/>
                      <a:r>
                        <a:rPr sz="1150" b="0">
                          <a:solidFill>
                            <a:srgbClr val="262B4A"/>
                          </a:solidFill>
                          <a:latin typeface="Calibri"/>
                        </a:rPr>
                        <a:t>Neutral</a:t>
                      </a:r>
                    </a:p>
                  </a:txBody>
                  <a:tcPr anchor="ctr" marL="118872" marR="118872" marT="0" marB="0">
                    <a:solidFill>
                      <a:srgbClr val="FFFFFF"/>
                    </a:solidFill>
                  </a:tcPr>
                </a:tc>
                <a:tc>
                  <a:txBody>
                    <a:bodyPr/>
                    <a:lstStyle/>
                    <a:p>
                      <a:pPr algn="r"/>
                      <a:r>
                        <a:rPr sz="1150" b="0">
                          <a:solidFill>
                            <a:srgbClr val="262B4A"/>
                          </a:solidFill>
                          <a:latin typeface="Calibri"/>
                        </a:rPr>
                        <a:t>4,965</a:t>
                      </a:r>
                    </a:p>
                  </a:txBody>
                  <a:tcPr anchor="ctr" marL="118872" marR="118872" marT="0" marB="0">
                    <a:solidFill>
                      <a:srgbClr val="FFFFFF"/>
                    </a:solidFill>
                  </a:tcPr>
                </a:tc>
                <a:tc>
                  <a:txBody>
                    <a:bodyPr/>
                    <a:lstStyle/>
                    <a:p>
                      <a:pPr algn="r"/>
                      <a:r>
                        <a:rPr sz="1150" b="0">
                          <a:solidFill>
                            <a:srgbClr val="262B4A"/>
                          </a:solidFill>
                          <a:latin typeface="Calibri"/>
                        </a:rPr>
                        <a:t>1,233</a:t>
                      </a:r>
                    </a:p>
                  </a:txBody>
                  <a:tcPr anchor="ctr" marL="118872" marR="118872" marT="0" marB="0">
                    <a:solidFill>
                      <a:srgbClr val="FFFFFF"/>
                    </a:solidFill>
                  </a:tcPr>
                </a:tc>
                <a:tc>
                  <a:txBody>
                    <a:bodyPr/>
                    <a:lstStyle/>
                    <a:p>
                      <a:pPr algn="r"/>
                      <a:r>
                        <a:rPr sz="1150" b="0">
                          <a:solidFill>
                            <a:srgbClr val="262B4A"/>
                          </a:solidFill>
                          <a:latin typeface="Calibri"/>
                        </a:rPr>
                        <a:t>17.3%</a:t>
                      </a:r>
                    </a:p>
                  </a:txBody>
                  <a:tcPr anchor="ctr" marL="118872" marR="118872" marT="0" marB="0">
                    <a:solidFill>
                      <a:srgbClr val="FFFFFF"/>
                    </a:solidFill>
                  </a:tcPr>
                </a:tc>
              </a:tr>
              <a:tr h="356616">
                <a:tc>
                  <a:txBody>
                    <a:bodyPr/>
                    <a:lstStyle/>
                    <a:p>
                      <a:pPr algn="l"/>
                      <a:r>
                        <a:rPr sz="1150" b="0">
                          <a:solidFill>
                            <a:srgbClr val="262B4A"/>
                          </a:solidFill>
                          <a:latin typeface="Calibri"/>
                        </a:rPr>
                        <a:t>Sad</a:t>
                      </a:r>
                    </a:p>
                  </a:txBody>
                  <a:tcPr anchor="ctr" marL="118872" marR="118872" marT="0" marB="0">
                    <a:solidFill>
                      <a:srgbClr val="FFFFFF"/>
                    </a:solidFill>
                  </a:tcPr>
                </a:tc>
                <a:tc>
                  <a:txBody>
                    <a:bodyPr/>
                    <a:lstStyle/>
                    <a:p>
                      <a:pPr algn="r"/>
                      <a:r>
                        <a:rPr sz="1150" b="0">
                          <a:solidFill>
                            <a:srgbClr val="262B4A"/>
                          </a:solidFill>
                          <a:latin typeface="Calibri"/>
                        </a:rPr>
                        <a:t>4,830</a:t>
                      </a:r>
                    </a:p>
                  </a:txBody>
                  <a:tcPr anchor="ctr" marL="118872" marR="118872" marT="0" marB="0">
                    <a:solidFill>
                      <a:srgbClr val="FFFFFF"/>
                    </a:solidFill>
                  </a:tcPr>
                </a:tc>
                <a:tc>
                  <a:txBody>
                    <a:bodyPr/>
                    <a:lstStyle/>
                    <a:p>
                      <a:pPr algn="r"/>
                      <a:r>
                        <a:rPr sz="1150" b="0">
                          <a:solidFill>
                            <a:srgbClr val="262B4A"/>
                          </a:solidFill>
                          <a:latin typeface="Calibri"/>
                        </a:rPr>
                        <a:t>1,247</a:t>
                      </a:r>
                    </a:p>
                  </a:txBody>
                  <a:tcPr anchor="ctr" marL="118872" marR="118872" marT="0" marB="0">
                    <a:solidFill>
                      <a:srgbClr val="FFFFFF"/>
                    </a:solidFill>
                  </a:tcPr>
                </a:tc>
                <a:tc>
                  <a:txBody>
                    <a:bodyPr/>
                    <a:lstStyle/>
                    <a:p>
                      <a:pPr algn="r"/>
                      <a:r>
                        <a:rPr sz="1150" b="0">
                          <a:solidFill>
                            <a:srgbClr val="262B4A"/>
                          </a:solidFill>
                          <a:latin typeface="Calibri"/>
                        </a:rPr>
                        <a:t>16.8%</a:t>
                      </a:r>
                    </a:p>
                  </a:txBody>
                  <a:tcPr anchor="ctr" marL="118872" marR="118872" marT="0" marB="0">
                    <a:solidFill>
                      <a:srgbClr val="FFFFFF"/>
                    </a:solidFill>
                  </a:tcPr>
                </a:tc>
              </a:tr>
              <a:tr h="356616">
                <a:tc>
                  <a:txBody>
                    <a:bodyPr/>
                    <a:lstStyle/>
                    <a:p>
                      <a:pPr algn="l"/>
                      <a:r>
                        <a:rPr sz="1150" b="0">
                          <a:solidFill>
                            <a:srgbClr val="262B4A"/>
                          </a:solidFill>
                          <a:latin typeface="Calibri"/>
                        </a:rPr>
                        <a:t>Surprise</a:t>
                      </a:r>
                    </a:p>
                  </a:txBody>
                  <a:tcPr anchor="ctr" marL="118872" marR="118872" marT="0" marB="0">
                    <a:solidFill>
                      <a:srgbClr val="FFFFFF"/>
                    </a:solidFill>
                  </a:tcPr>
                </a:tc>
                <a:tc>
                  <a:txBody>
                    <a:bodyPr/>
                    <a:lstStyle/>
                    <a:p>
                      <a:pPr algn="r"/>
                      <a:r>
                        <a:rPr sz="1150" b="0">
                          <a:solidFill>
                            <a:srgbClr val="262B4A"/>
                          </a:solidFill>
                          <a:latin typeface="Calibri"/>
                        </a:rPr>
                        <a:t>3,171</a:t>
                      </a:r>
                    </a:p>
                  </a:txBody>
                  <a:tcPr anchor="ctr" marL="118872" marR="118872" marT="0" marB="0">
                    <a:solidFill>
                      <a:srgbClr val="FFFFFF"/>
                    </a:solidFill>
                  </a:tcPr>
                </a:tc>
                <a:tc>
                  <a:txBody>
                    <a:bodyPr/>
                    <a:lstStyle/>
                    <a:p>
                      <a:pPr algn="r"/>
                      <a:r>
                        <a:rPr sz="1150" b="0">
                          <a:solidFill>
                            <a:srgbClr val="262B4A"/>
                          </a:solidFill>
                          <a:latin typeface="Calibri"/>
                        </a:rPr>
                        <a:t>831</a:t>
                      </a:r>
                    </a:p>
                  </a:txBody>
                  <a:tcPr anchor="ctr" marL="118872" marR="118872" marT="0" marB="0">
                    <a:solidFill>
                      <a:srgbClr val="FFFFFF"/>
                    </a:solidFill>
                  </a:tcPr>
                </a:tc>
                <a:tc>
                  <a:txBody>
                    <a:bodyPr/>
                    <a:lstStyle/>
                    <a:p>
                      <a:pPr algn="r"/>
                      <a:r>
                        <a:rPr sz="1150" b="0">
                          <a:solidFill>
                            <a:srgbClr val="262B4A"/>
                          </a:solidFill>
                          <a:latin typeface="Calibri"/>
                        </a:rPr>
                        <a:t>11.0%</a:t>
                      </a:r>
                    </a:p>
                  </a:txBody>
                  <a:tcPr anchor="ctr" marL="118872" marR="118872" marT="0" marB="0">
                    <a:solidFill>
                      <a:srgbClr val="FFFFFF"/>
                    </a:solidFill>
                  </a:tcPr>
                </a:tc>
              </a:tr>
              <a:tr h="356616">
                <a:tc>
                  <a:txBody>
                    <a:bodyPr/>
                    <a:lstStyle/>
                    <a:p>
                      <a:pPr algn="l"/>
                      <a:r>
                        <a:rPr sz="1150" b="1">
                          <a:solidFill>
                            <a:srgbClr val="262B4A"/>
                          </a:solidFill>
                          <a:latin typeface="Calibri"/>
                        </a:rPr>
                        <a:t>Total</a:t>
                      </a:r>
                    </a:p>
                  </a:txBody>
                  <a:tcPr anchor="ctr" marL="118872" marR="118872" marT="0" marB="0">
                    <a:solidFill>
                      <a:srgbClr val="EFF2FA"/>
                    </a:solidFill>
                  </a:tcPr>
                </a:tc>
                <a:tc>
                  <a:txBody>
                    <a:bodyPr/>
                    <a:lstStyle/>
                    <a:p>
                      <a:pPr algn="r"/>
                      <a:r>
                        <a:rPr sz="1150" b="1">
                          <a:solidFill>
                            <a:srgbClr val="262B4A"/>
                          </a:solidFill>
                          <a:latin typeface="Calibri"/>
                        </a:rPr>
                        <a:t>28,709</a:t>
                      </a:r>
                    </a:p>
                  </a:txBody>
                  <a:tcPr anchor="ctr" marL="118872" marR="118872" marT="0" marB="0">
                    <a:solidFill>
                      <a:srgbClr val="EFF2FA"/>
                    </a:solidFill>
                  </a:tcPr>
                </a:tc>
                <a:tc>
                  <a:txBody>
                    <a:bodyPr/>
                    <a:lstStyle/>
                    <a:p>
                      <a:pPr algn="r"/>
                      <a:r>
                        <a:rPr sz="1150" b="1">
                          <a:solidFill>
                            <a:srgbClr val="262B4A"/>
                          </a:solidFill>
                          <a:latin typeface="Calibri"/>
                        </a:rPr>
                        <a:t>7,178</a:t>
                      </a:r>
                    </a:p>
                  </a:txBody>
                  <a:tcPr anchor="ctr" marL="118872" marR="118872" marT="0" marB="0">
                    <a:solidFill>
                      <a:srgbClr val="EFF2FA"/>
                    </a:solidFill>
                  </a:tcPr>
                </a:tc>
                <a:tc>
                  <a:txBody>
                    <a:bodyPr/>
                    <a:lstStyle/>
                    <a:p>
                      <a:pPr algn="r"/>
                      <a:r>
                        <a:rPr sz="1150" b="1">
                          <a:solidFill>
                            <a:srgbClr val="262B4A"/>
                          </a:solidFill>
                          <a:latin typeface="Calibri"/>
                        </a:rPr>
                        <a:t>100%</a:t>
                      </a:r>
                    </a:p>
                  </a:txBody>
                  <a:tcPr anchor="ctr" marL="118872" marR="118872" marT="0" marB="0">
                    <a:solidFill>
                      <a:srgbClr val="EFF2FA"/>
                    </a:solidFill>
                  </a:tcPr>
                </a:tc>
              </a:tr>
            </a:tbl>
          </a:graphicData>
        </a:graphic>
      </p:graphicFrame>
      <p:sp>
        <p:nvSpPr>
          <p:cNvPr id="20" name="Rounded Rectangle 19"/>
          <p:cNvSpPr/>
          <p:nvPr/>
        </p:nvSpPr>
        <p:spPr>
          <a:xfrm>
            <a:off x="7744968" y="2980944"/>
            <a:ext cx="3879799" cy="3246120"/>
          </a:xfrm>
          <a:prstGeom prst="roundRect">
            <a:avLst>
              <a:gd name="adj" fmla="val 3943"/>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1" name="TextBox 20"/>
          <p:cNvSpPr txBox="1"/>
          <p:nvPr/>
        </p:nvSpPr>
        <p:spPr>
          <a:xfrm>
            <a:off x="8055864" y="3273551"/>
            <a:ext cx="3258007" cy="274320"/>
          </a:xfrm>
          <a:prstGeom prst="rect">
            <a:avLst/>
          </a:prstGeom>
          <a:noFill/>
        </p:spPr>
        <p:txBody>
          <a:bodyPr wrap="square" anchor="t" lIns="0" rIns="0" tIns="0" bIns="0">
            <a:spAutoFit/>
          </a:bodyPr>
          <a:lstStyle/>
          <a:p>
            <a:pPr>
              <a:lnSpc>
                <a:spcPct val="115000"/>
              </a:lnSpc>
              <a:spcBef>
                <a:spcPts val="0"/>
              </a:spcBef>
              <a:spcAft>
                <a:spcPts val="0"/>
              </a:spcAft>
            </a:pPr>
            <a:r>
              <a:rPr sz="1400" b="1" i="0">
                <a:solidFill>
                  <a:srgbClr val="F7DF93"/>
                </a:solidFill>
                <a:latin typeface="Bookman Old Style"/>
              </a:rPr>
              <a:t>How the data is split</a:t>
            </a:r>
          </a:p>
        </p:txBody>
      </p:sp>
      <p:sp>
        <p:nvSpPr>
          <p:cNvPr id="22" name="Rectangle 21"/>
          <p:cNvSpPr/>
          <p:nvPr/>
        </p:nvSpPr>
        <p:spPr>
          <a:xfrm>
            <a:off x="8055864" y="3803904"/>
            <a:ext cx="2085124" cy="310896"/>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3" name="Rectangle 22"/>
          <p:cNvSpPr/>
          <p:nvPr/>
        </p:nvSpPr>
        <p:spPr>
          <a:xfrm>
            <a:off x="10140988" y="3803904"/>
            <a:ext cx="521281" cy="310896"/>
          </a:xfrm>
          <a:prstGeom prst="rect">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4" name="Rectangle 23"/>
          <p:cNvSpPr/>
          <p:nvPr/>
        </p:nvSpPr>
        <p:spPr>
          <a:xfrm>
            <a:off x="10662269" y="3803904"/>
            <a:ext cx="651601" cy="310896"/>
          </a:xfrm>
          <a:prstGeom prst="rect">
            <a:avLst/>
          </a:prstGeom>
          <a:solidFill>
            <a:srgbClr val="535C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5" name="TextBox 24"/>
          <p:cNvSpPr txBox="1"/>
          <p:nvPr/>
        </p:nvSpPr>
        <p:spPr>
          <a:xfrm>
            <a:off x="8055864" y="4242816"/>
            <a:ext cx="3258007" cy="1920240"/>
          </a:xfrm>
          <a:prstGeom prst="rect">
            <a:avLst/>
          </a:prstGeom>
          <a:noFill/>
        </p:spPr>
        <p:txBody>
          <a:bodyPr wrap="square" anchor="t" lIns="0" rIns="0" tIns="0" bIns="0">
            <a:spAutoFit/>
          </a:bodyPr>
          <a:lstStyle/>
          <a:p>
            <a:pPr>
              <a:lnSpc>
                <a:spcPct val="115000"/>
              </a:lnSpc>
              <a:spcBef>
                <a:spcPts val="0"/>
              </a:spcBef>
              <a:spcAft>
                <a:spcPts val="400"/>
              </a:spcAft>
            </a:pPr>
            <a:r>
              <a:rPr sz="1150" b="1" i="0">
                <a:solidFill>
                  <a:srgbClr val="F5636E"/>
                </a:solidFill>
                <a:latin typeface="Calibri"/>
              </a:rPr>
              <a:t>Training  22,967  (64%)</a:t>
            </a:r>
          </a:p>
          <a:p>
            <a:pPr>
              <a:lnSpc>
                <a:spcPct val="115000"/>
              </a:lnSpc>
              <a:spcBef>
                <a:spcPts val="0"/>
              </a:spcBef>
              <a:spcAft>
                <a:spcPts val="400"/>
              </a:spcAft>
            </a:pPr>
            <a:r>
              <a:rPr sz="1150" b="1" i="0">
                <a:solidFill>
                  <a:srgbClr val="F7DF93"/>
                </a:solidFill>
                <a:latin typeface="Calibri"/>
              </a:rPr>
              <a:t>Validation  5,742  (16%)</a:t>
            </a:r>
          </a:p>
          <a:p>
            <a:pPr>
              <a:lnSpc>
                <a:spcPct val="115000"/>
              </a:lnSpc>
              <a:spcBef>
                <a:spcPts val="0"/>
              </a:spcBef>
              <a:spcAft>
                <a:spcPts val="1000"/>
              </a:spcAft>
            </a:pPr>
            <a:r>
              <a:rPr sz="1150" b="1" i="0">
                <a:solidFill>
                  <a:srgbClr val="A9AFCE"/>
                </a:solidFill>
                <a:latin typeface="Calibri"/>
              </a:rPr>
              <a:t>Test  7,178  (20%)</a:t>
            </a:r>
          </a:p>
          <a:p>
            <a:pPr>
              <a:lnSpc>
                <a:spcPct val="128000"/>
              </a:lnSpc>
              <a:spcBef>
                <a:spcPts val="0"/>
              </a:spcBef>
              <a:spcAft>
                <a:spcPts val="0"/>
              </a:spcAft>
            </a:pPr>
            <a:r>
              <a:rPr sz="1100" b="0" i="0">
                <a:solidFill>
                  <a:srgbClr val="FFFFFF"/>
                </a:solidFill>
                <a:latin typeface="Calibri"/>
              </a:rPr>
              <a:t>The 28,709 training images are split 80 / 20 into fit and validation partitions. The split is stratified with random_state = 42, so class proportions are preserved and validation metrics are not distorted by sampling.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6</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Class Imbalance</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F7DF93"/>
                </a:solidFill>
                <a:latin typeface="Calibri"/>
              </a:rPr>
              <a:t>The defining property of FER-2013 — and the source of the largest failure mode</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TextBox 6"/>
          <p:cNvSpPr txBox="1"/>
          <p:nvPr/>
        </p:nvSpPr>
        <p:spPr>
          <a:xfrm>
            <a:off x="566928" y="1764792"/>
            <a:ext cx="1097280" cy="274320"/>
          </a:xfrm>
          <a:prstGeom prst="rect">
            <a:avLst/>
          </a:prstGeom>
          <a:noFill/>
        </p:spPr>
        <p:txBody>
          <a:bodyPr wrap="square" anchor="t" lIns="0" rIns="0" tIns="0" bIns="0">
            <a:spAutoFit/>
          </a:bodyPr>
          <a:lstStyle/>
          <a:p>
            <a:pPr algn="r">
              <a:lnSpc>
                <a:spcPct val="115000"/>
              </a:lnSpc>
              <a:spcBef>
                <a:spcPts val="0"/>
              </a:spcBef>
              <a:spcAft>
                <a:spcPts val="0"/>
              </a:spcAft>
            </a:pPr>
            <a:r>
              <a:rPr sz="1200" b="1" i="0">
                <a:solidFill>
                  <a:srgbClr val="FFFFFF"/>
                </a:solidFill>
                <a:latin typeface="Calibri"/>
              </a:rPr>
              <a:t>Happy</a:t>
            </a:r>
          </a:p>
        </p:txBody>
      </p:sp>
      <p:sp>
        <p:nvSpPr>
          <p:cNvPr id="8" name="Rectangle 7"/>
          <p:cNvSpPr/>
          <p:nvPr/>
        </p:nvSpPr>
        <p:spPr>
          <a:xfrm>
            <a:off x="1755648" y="1773936"/>
            <a:ext cx="5212080" cy="310896"/>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9" name="TextBox 8"/>
          <p:cNvSpPr txBox="1"/>
          <p:nvPr/>
        </p:nvSpPr>
        <p:spPr>
          <a:xfrm>
            <a:off x="7077456" y="1764792"/>
            <a:ext cx="1005840" cy="274320"/>
          </a:xfrm>
          <a:prstGeom prst="rect">
            <a:avLst/>
          </a:prstGeom>
          <a:noFill/>
        </p:spPr>
        <p:txBody>
          <a:bodyPr wrap="square" anchor="t" lIns="0" rIns="0" tIns="0" bIns="0">
            <a:spAutoFit/>
          </a:bodyPr>
          <a:lstStyle/>
          <a:p>
            <a:pPr>
              <a:lnSpc>
                <a:spcPct val="115000"/>
              </a:lnSpc>
              <a:spcBef>
                <a:spcPts val="0"/>
              </a:spcBef>
              <a:spcAft>
                <a:spcPts val="0"/>
              </a:spcAft>
            </a:pPr>
            <a:r>
              <a:rPr sz="1150" b="0" i="0">
                <a:solidFill>
                  <a:srgbClr val="A9AFCE"/>
                </a:solidFill>
                <a:latin typeface="Calibri"/>
              </a:rPr>
              <a:t>7,215</a:t>
            </a:r>
          </a:p>
        </p:txBody>
      </p:sp>
      <p:sp>
        <p:nvSpPr>
          <p:cNvPr id="10" name="TextBox 9"/>
          <p:cNvSpPr txBox="1"/>
          <p:nvPr/>
        </p:nvSpPr>
        <p:spPr>
          <a:xfrm>
            <a:off x="566928" y="2267712"/>
            <a:ext cx="1097280" cy="274320"/>
          </a:xfrm>
          <a:prstGeom prst="rect">
            <a:avLst/>
          </a:prstGeom>
          <a:noFill/>
        </p:spPr>
        <p:txBody>
          <a:bodyPr wrap="square" anchor="t" lIns="0" rIns="0" tIns="0" bIns="0">
            <a:spAutoFit/>
          </a:bodyPr>
          <a:lstStyle/>
          <a:p>
            <a:pPr algn="r">
              <a:lnSpc>
                <a:spcPct val="115000"/>
              </a:lnSpc>
              <a:spcBef>
                <a:spcPts val="0"/>
              </a:spcBef>
              <a:spcAft>
                <a:spcPts val="0"/>
              </a:spcAft>
            </a:pPr>
            <a:r>
              <a:rPr sz="1200" b="1" i="0">
                <a:solidFill>
                  <a:srgbClr val="FFFFFF"/>
                </a:solidFill>
                <a:latin typeface="Calibri"/>
              </a:rPr>
              <a:t>Neutral</a:t>
            </a:r>
          </a:p>
        </p:txBody>
      </p:sp>
      <p:sp>
        <p:nvSpPr>
          <p:cNvPr id="11" name="Rectangle 10"/>
          <p:cNvSpPr/>
          <p:nvPr/>
        </p:nvSpPr>
        <p:spPr>
          <a:xfrm>
            <a:off x="1755648" y="2276856"/>
            <a:ext cx="3586691" cy="310896"/>
          </a:xfrm>
          <a:prstGeom prst="rect">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TextBox 11"/>
          <p:cNvSpPr txBox="1"/>
          <p:nvPr/>
        </p:nvSpPr>
        <p:spPr>
          <a:xfrm>
            <a:off x="5452067" y="2267712"/>
            <a:ext cx="1005840" cy="274320"/>
          </a:xfrm>
          <a:prstGeom prst="rect">
            <a:avLst/>
          </a:prstGeom>
          <a:noFill/>
        </p:spPr>
        <p:txBody>
          <a:bodyPr wrap="square" anchor="t" lIns="0" rIns="0" tIns="0" bIns="0">
            <a:spAutoFit/>
          </a:bodyPr>
          <a:lstStyle/>
          <a:p>
            <a:pPr>
              <a:lnSpc>
                <a:spcPct val="115000"/>
              </a:lnSpc>
              <a:spcBef>
                <a:spcPts val="0"/>
              </a:spcBef>
              <a:spcAft>
                <a:spcPts val="0"/>
              </a:spcAft>
            </a:pPr>
            <a:r>
              <a:rPr sz="1150" b="0" i="0">
                <a:solidFill>
                  <a:srgbClr val="A9AFCE"/>
                </a:solidFill>
                <a:latin typeface="Calibri"/>
              </a:rPr>
              <a:t>4,965</a:t>
            </a:r>
          </a:p>
        </p:txBody>
      </p:sp>
      <p:sp>
        <p:nvSpPr>
          <p:cNvPr id="13" name="TextBox 12"/>
          <p:cNvSpPr txBox="1"/>
          <p:nvPr/>
        </p:nvSpPr>
        <p:spPr>
          <a:xfrm>
            <a:off x="566928" y="2770632"/>
            <a:ext cx="1097280" cy="274320"/>
          </a:xfrm>
          <a:prstGeom prst="rect">
            <a:avLst/>
          </a:prstGeom>
          <a:noFill/>
        </p:spPr>
        <p:txBody>
          <a:bodyPr wrap="square" anchor="t" lIns="0" rIns="0" tIns="0" bIns="0">
            <a:spAutoFit/>
          </a:bodyPr>
          <a:lstStyle/>
          <a:p>
            <a:pPr algn="r">
              <a:lnSpc>
                <a:spcPct val="115000"/>
              </a:lnSpc>
              <a:spcBef>
                <a:spcPts val="0"/>
              </a:spcBef>
              <a:spcAft>
                <a:spcPts val="0"/>
              </a:spcAft>
            </a:pPr>
            <a:r>
              <a:rPr sz="1200" b="1" i="0">
                <a:solidFill>
                  <a:srgbClr val="FFFFFF"/>
                </a:solidFill>
                <a:latin typeface="Calibri"/>
              </a:rPr>
              <a:t>Sad</a:t>
            </a:r>
          </a:p>
        </p:txBody>
      </p:sp>
      <p:sp>
        <p:nvSpPr>
          <p:cNvPr id="14" name="Rectangle 13"/>
          <p:cNvSpPr/>
          <p:nvPr/>
        </p:nvSpPr>
        <p:spPr>
          <a:xfrm>
            <a:off x="1755648" y="2779776"/>
            <a:ext cx="3489167" cy="310896"/>
          </a:xfrm>
          <a:prstGeom prst="rect">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5" name="TextBox 14"/>
          <p:cNvSpPr txBox="1"/>
          <p:nvPr/>
        </p:nvSpPr>
        <p:spPr>
          <a:xfrm>
            <a:off x="5354543" y="2770632"/>
            <a:ext cx="1005840" cy="274320"/>
          </a:xfrm>
          <a:prstGeom prst="rect">
            <a:avLst/>
          </a:prstGeom>
          <a:noFill/>
        </p:spPr>
        <p:txBody>
          <a:bodyPr wrap="square" anchor="t" lIns="0" rIns="0" tIns="0" bIns="0">
            <a:spAutoFit/>
          </a:bodyPr>
          <a:lstStyle/>
          <a:p>
            <a:pPr>
              <a:lnSpc>
                <a:spcPct val="115000"/>
              </a:lnSpc>
              <a:spcBef>
                <a:spcPts val="0"/>
              </a:spcBef>
              <a:spcAft>
                <a:spcPts val="0"/>
              </a:spcAft>
            </a:pPr>
            <a:r>
              <a:rPr sz="1150" b="0" i="0">
                <a:solidFill>
                  <a:srgbClr val="A9AFCE"/>
                </a:solidFill>
                <a:latin typeface="Calibri"/>
              </a:rPr>
              <a:t>4,830</a:t>
            </a:r>
          </a:p>
        </p:txBody>
      </p:sp>
      <p:sp>
        <p:nvSpPr>
          <p:cNvPr id="16" name="TextBox 15"/>
          <p:cNvSpPr txBox="1"/>
          <p:nvPr/>
        </p:nvSpPr>
        <p:spPr>
          <a:xfrm>
            <a:off x="566928" y="3273552"/>
            <a:ext cx="1097280" cy="274320"/>
          </a:xfrm>
          <a:prstGeom prst="rect">
            <a:avLst/>
          </a:prstGeom>
          <a:noFill/>
        </p:spPr>
        <p:txBody>
          <a:bodyPr wrap="square" anchor="t" lIns="0" rIns="0" tIns="0" bIns="0">
            <a:spAutoFit/>
          </a:bodyPr>
          <a:lstStyle/>
          <a:p>
            <a:pPr algn="r">
              <a:lnSpc>
                <a:spcPct val="115000"/>
              </a:lnSpc>
              <a:spcBef>
                <a:spcPts val="0"/>
              </a:spcBef>
              <a:spcAft>
                <a:spcPts val="0"/>
              </a:spcAft>
            </a:pPr>
            <a:r>
              <a:rPr sz="1200" b="1" i="0">
                <a:solidFill>
                  <a:srgbClr val="FFFFFF"/>
                </a:solidFill>
                <a:latin typeface="Calibri"/>
              </a:rPr>
              <a:t>Fear</a:t>
            </a:r>
          </a:p>
        </p:txBody>
      </p:sp>
      <p:sp>
        <p:nvSpPr>
          <p:cNvPr id="17" name="Rectangle 16"/>
          <p:cNvSpPr/>
          <p:nvPr/>
        </p:nvSpPr>
        <p:spPr>
          <a:xfrm>
            <a:off x="1755648" y="3282696"/>
            <a:ext cx="2959652" cy="310896"/>
          </a:xfrm>
          <a:prstGeom prst="rect">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8" name="TextBox 17"/>
          <p:cNvSpPr txBox="1"/>
          <p:nvPr/>
        </p:nvSpPr>
        <p:spPr>
          <a:xfrm>
            <a:off x="4825028" y="3273552"/>
            <a:ext cx="1005840" cy="274320"/>
          </a:xfrm>
          <a:prstGeom prst="rect">
            <a:avLst/>
          </a:prstGeom>
          <a:noFill/>
        </p:spPr>
        <p:txBody>
          <a:bodyPr wrap="square" anchor="t" lIns="0" rIns="0" tIns="0" bIns="0">
            <a:spAutoFit/>
          </a:bodyPr>
          <a:lstStyle/>
          <a:p>
            <a:pPr>
              <a:lnSpc>
                <a:spcPct val="115000"/>
              </a:lnSpc>
              <a:spcBef>
                <a:spcPts val="0"/>
              </a:spcBef>
              <a:spcAft>
                <a:spcPts val="0"/>
              </a:spcAft>
            </a:pPr>
            <a:r>
              <a:rPr sz="1150" b="0" i="0">
                <a:solidFill>
                  <a:srgbClr val="A9AFCE"/>
                </a:solidFill>
                <a:latin typeface="Calibri"/>
              </a:rPr>
              <a:t>4,097</a:t>
            </a:r>
          </a:p>
        </p:txBody>
      </p:sp>
      <p:sp>
        <p:nvSpPr>
          <p:cNvPr id="19" name="TextBox 18"/>
          <p:cNvSpPr txBox="1"/>
          <p:nvPr/>
        </p:nvSpPr>
        <p:spPr>
          <a:xfrm>
            <a:off x="566928" y="3776472"/>
            <a:ext cx="1097280" cy="274320"/>
          </a:xfrm>
          <a:prstGeom prst="rect">
            <a:avLst/>
          </a:prstGeom>
          <a:noFill/>
        </p:spPr>
        <p:txBody>
          <a:bodyPr wrap="square" anchor="t" lIns="0" rIns="0" tIns="0" bIns="0">
            <a:spAutoFit/>
          </a:bodyPr>
          <a:lstStyle/>
          <a:p>
            <a:pPr algn="r">
              <a:lnSpc>
                <a:spcPct val="115000"/>
              </a:lnSpc>
              <a:spcBef>
                <a:spcPts val="0"/>
              </a:spcBef>
              <a:spcAft>
                <a:spcPts val="0"/>
              </a:spcAft>
            </a:pPr>
            <a:r>
              <a:rPr sz="1200" b="1" i="0">
                <a:solidFill>
                  <a:srgbClr val="FFFFFF"/>
                </a:solidFill>
                <a:latin typeface="Calibri"/>
              </a:rPr>
              <a:t>Angry</a:t>
            </a:r>
          </a:p>
        </p:txBody>
      </p:sp>
      <p:sp>
        <p:nvSpPr>
          <p:cNvPr id="20" name="Rectangle 19"/>
          <p:cNvSpPr/>
          <p:nvPr/>
        </p:nvSpPr>
        <p:spPr>
          <a:xfrm>
            <a:off x="1755648" y="3785616"/>
            <a:ext cx="2885968" cy="310896"/>
          </a:xfrm>
          <a:prstGeom prst="rect">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1" name="TextBox 20"/>
          <p:cNvSpPr txBox="1"/>
          <p:nvPr/>
        </p:nvSpPr>
        <p:spPr>
          <a:xfrm>
            <a:off x="4751344" y="3776472"/>
            <a:ext cx="1005840" cy="274320"/>
          </a:xfrm>
          <a:prstGeom prst="rect">
            <a:avLst/>
          </a:prstGeom>
          <a:noFill/>
        </p:spPr>
        <p:txBody>
          <a:bodyPr wrap="square" anchor="t" lIns="0" rIns="0" tIns="0" bIns="0">
            <a:spAutoFit/>
          </a:bodyPr>
          <a:lstStyle/>
          <a:p>
            <a:pPr>
              <a:lnSpc>
                <a:spcPct val="115000"/>
              </a:lnSpc>
              <a:spcBef>
                <a:spcPts val="0"/>
              </a:spcBef>
              <a:spcAft>
                <a:spcPts val="0"/>
              </a:spcAft>
            </a:pPr>
            <a:r>
              <a:rPr sz="1150" b="0" i="0">
                <a:solidFill>
                  <a:srgbClr val="A9AFCE"/>
                </a:solidFill>
                <a:latin typeface="Calibri"/>
              </a:rPr>
              <a:t>3,995</a:t>
            </a:r>
          </a:p>
        </p:txBody>
      </p:sp>
      <p:sp>
        <p:nvSpPr>
          <p:cNvPr id="22" name="TextBox 21"/>
          <p:cNvSpPr txBox="1"/>
          <p:nvPr/>
        </p:nvSpPr>
        <p:spPr>
          <a:xfrm>
            <a:off x="566928" y="4279392"/>
            <a:ext cx="1097280" cy="274320"/>
          </a:xfrm>
          <a:prstGeom prst="rect">
            <a:avLst/>
          </a:prstGeom>
          <a:noFill/>
        </p:spPr>
        <p:txBody>
          <a:bodyPr wrap="square" anchor="t" lIns="0" rIns="0" tIns="0" bIns="0">
            <a:spAutoFit/>
          </a:bodyPr>
          <a:lstStyle/>
          <a:p>
            <a:pPr algn="r">
              <a:lnSpc>
                <a:spcPct val="115000"/>
              </a:lnSpc>
              <a:spcBef>
                <a:spcPts val="0"/>
              </a:spcBef>
              <a:spcAft>
                <a:spcPts val="0"/>
              </a:spcAft>
            </a:pPr>
            <a:r>
              <a:rPr sz="1200" b="1" i="0">
                <a:solidFill>
                  <a:srgbClr val="FFFFFF"/>
                </a:solidFill>
                <a:latin typeface="Calibri"/>
              </a:rPr>
              <a:t>Surprise</a:t>
            </a:r>
          </a:p>
        </p:txBody>
      </p:sp>
      <p:sp>
        <p:nvSpPr>
          <p:cNvPr id="23" name="Rectangle 22"/>
          <p:cNvSpPr/>
          <p:nvPr/>
        </p:nvSpPr>
        <p:spPr>
          <a:xfrm>
            <a:off x="1755648" y="4288536"/>
            <a:ext cx="2290714" cy="310896"/>
          </a:xfrm>
          <a:prstGeom prst="rect">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4" name="TextBox 23"/>
          <p:cNvSpPr txBox="1"/>
          <p:nvPr/>
        </p:nvSpPr>
        <p:spPr>
          <a:xfrm>
            <a:off x="4156090" y="4279392"/>
            <a:ext cx="1005840" cy="274320"/>
          </a:xfrm>
          <a:prstGeom prst="rect">
            <a:avLst/>
          </a:prstGeom>
          <a:noFill/>
        </p:spPr>
        <p:txBody>
          <a:bodyPr wrap="square" anchor="t" lIns="0" rIns="0" tIns="0" bIns="0">
            <a:spAutoFit/>
          </a:bodyPr>
          <a:lstStyle/>
          <a:p>
            <a:pPr>
              <a:lnSpc>
                <a:spcPct val="115000"/>
              </a:lnSpc>
              <a:spcBef>
                <a:spcPts val="0"/>
              </a:spcBef>
              <a:spcAft>
                <a:spcPts val="0"/>
              </a:spcAft>
            </a:pPr>
            <a:r>
              <a:rPr sz="1150" b="0" i="0">
                <a:solidFill>
                  <a:srgbClr val="A9AFCE"/>
                </a:solidFill>
                <a:latin typeface="Calibri"/>
              </a:rPr>
              <a:t>3,171</a:t>
            </a:r>
          </a:p>
        </p:txBody>
      </p:sp>
      <p:sp>
        <p:nvSpPr>
          <p:cNvPr id="25" name="TextBox 24"/>
          <p:cNvSpPr txBox="1"/>
          <p:nvPr/>
        </p:nvSpPr>
        <p:spPr>
          <a:xfrm>
            <a:off x="566928" y="4782312"/>
            <a:ext cx="1097280" cy="274320"/>
          </a:xfrm>
          <a:prstGeom prst="rect">
            <a:avLst/>
          </a:prstGeom>
          <a:noFill/>
        </p:spPr>
        <p:txBody>
          <a:bodyPr wrap="square" anchor="t" lIns="0" rIns="0" tIns="0" bIns="0">
            <a:spAutoFit/>
          </a:bodyPr>
          <a:lstStyle/>
          <a:p>
            <a:pPr algn="r">
              <a:lnSpc>
                <a:spcPct val="115000"/>
              </a:lnSpc>
              <a:spcBef>
                <a:spcPts val="0"/>
              </a:spcBef>
              <a:spcAft>
                <a:spcPts val="0"/>
              </a:spcAft>
            </a:pPr>
            <a:r>
              <a:rPr sz="1200" b="1" i="0">
                <a:solidFill>
                  <a:srgbClr val="FFFFFF"/>
                </a:solidFill>
                <a:latin typeface="Calibri"/>
              </a:rPr>
              <a:t>Disgust</a:t>
            </a:r>
          </a:p>
        </p:txBody>
      </p:sp>
      <p:sp>
        <p:nvSpPr>
          <p:cNvPr id="26" name="Rectangle 25"/>
          <p:cNvSpPr/>
          <p:nvPr/>
        </p:nvSpPr>
        <p:spPr>
          <a:xfrm>
            <a:off x="1755648" y="4791456"/>
            <a:ext cx="314964" cy="310896"/>
          </a:xfrm>
          <a:prstGeom prst="rect">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7" name="TextBox 26"/>
          <p:cNvSpPr txBox="1"/>
          <p:nvPr/>
        </p:nvSpPr>
        <p:spPr>
          <a:xfrm>
            <a:off x="2180340" y="4782312"/>
            <a:ext cx="1005840" cy="274320"/>
          </a:xfrm>
          <a:prstGeom prst="rect">
            <a:avLst/>
          </a:prstGeom>
          <a:noFill/>
        </p:spPr>
        <p:txBody>
          <a:bodyPr wrap="square" anchor="t" lIns="0" rIns="0" tIns="0" bIns="0">
            <a:spAutoFit/>
          </a:bodyPr>
          <a:lstStyle/>
          <a:p>
            <a:pPr>
              <a:lnSpc>
                <a:spcPct val="115000"/>
              </a:lnSpc>
              <a:spcBef>
                <a:spcPts val="0"/>
              </a:spcBef>
              <a:spcAft>
                <a:spcPts val="0"/>
              </a:spcAft>
            </a:pPr>
            <a:r>
              <a:rPr sz="1150" b="0" i="0">
                <a:solidFill>
                  <a:srgbClr val="A9AFCE"/>
                </a:solidFill>
                <a:latin typeface="Calibri"/>
              </a:rPr>
              <a:t>436</a:t>
            </a:r>
          </a:p>
        </p:txBody>
      </p:sp>
      <p:sp>
        <p:nvSpPr>
          <p:cNvPr id="28" name="Rounded Rectangle 27"/>
          <p:cNvSpPr/>
          <p:nvPr/>
        </p:nvSpPr>
        <p:spPr>
          <a:xfrm>
            <a:off x="7470648" y="1682496"/>
            <a:ext cx="4154119" cy="3611880"/>
          </a:xfrm>
          <a:prstGeom prst="roundRect">
            <a:avLst>
              <a:gd name="adj" fmla="val 3544"/>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9" name="TextBox 28"/>
          <p:cNvSpPr txBox="1"/>
          <p:nvPr/>
        </p:nvSpPr>
        <p:spPr>
          <a:xfrm>
            <a:off x="7790688" y="2011680"/>
            <a:ext cx="3514039" cy="3017520"/>
          </a:xfrm>
          <a:prstGeom prst="rect">
            <a:avLst/>
          </a:prstGeom>
          <a:noFill/>
        </p:spPr>
        <p:txBody>
          <a:bodyPr wrap="square" anchor="t" lIns="0" rIns="0" tIns="0" bIns="0">
            <a:spAutoFit/>
          </a:bodyPr>
          <a:lstStyle/>
          <a:p>
            <a:pPr>
              <a:lnSpc>
                <a:spcPct val="115000"/>
              </a:lnSpc>
              <a:spcBef>
                <a:spcPts val="0"/>
              </a:spcBef>
              <a:spcAft>
                <a:spcPts val="400"/>
              </a:spcAft>
            </a:pPr>
            <a:r>
              <a:rPr sz="2600" b="1" i="0">
                <a:solidFill>
                  <a:srgbClr val="F5636E"/>
                </a:solidFill>
                <a:latin typeface="Bookman Old Style"/>
              </a:rPr>
              <a:t>16.5 : 1</a:t>
            </a:r>
          </a:p>
          <a:p>
            <a:pPr>
              <a:lnSpc>
                <a:spcPct val="115000"/>
              </a:lnSpc>
              <a:spcBef>
                <a:spcPts val="0"/>
              </a:spcBef>
              <a:spcAft>
                <a:spcPts val="1600"/>
              </a:spcAft>
            </a:pPr>
            <a:r>
              <a:rPr sz="1150" b="0" i="0">
                <a:solidFill>
                  <a:srgbClr val="A9AFCE"/>
                </a:solidFill>
                <a:latin typeface="Calibri"/>
              </a:rPr>
              <a:t>Happy (7,215) against Disgust (436)</a:t>
            </a:r>
          </a:p>
          <a:p>
            <a:pPr>
              <a:lnSpc>
                <a:spcPct val="130000"/>
              </a:lnSpc>
              <a:spcBef>
                <a:spcPts val="0"/>
              </a:spcBef>
              <a:spcAft>
                <a:spcPts val="1200"/>
              </a:spcAft>
            </a:pPr>
            <a:r>
              <a:rPr sz="1200" b="0" i="0">
                <a:solidFill>
                  <a:srgbClr val="FFFFFF"/>
                </a:solidFill>
                <a:latin typeface="Calibri"/>
              </a:rPr>
              <a:t>The network is trained with an unweighted cross-entropy loss. It can therefore reduce that loss more effectively by learning the frequent classes well and effectively ignoring the rare ones.</a:t>
            </a:r>
          </a:p>
          <a:p>
            <a:pPr>
              <a:lnSpc>
                <a:spcPct val="130000"/>
              </a:lnSpc>
              <a:spcBef>
                <a:spcPts val="0"/>
              </a:spcBef>
              <a:spcAft>
                <a:spcPts val="0"/>
              </a:spcAft>
            </a:pPr>
            <a:r>
              <a:rPr sz="1200" b="1" i="0">
                <a:solidFill>
                  <a:srgbClr val="F7DF93"/>
                </a:solidFill>
                <a:latin typeface="Calibri"/>
              </a:rPr>
              <a:t>The results section shows that this is precisely what happened: Disgust recall falls to 0.171.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7</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Data Preprocessing</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training/preprocessing.py — applied identically at training and inference time</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2094524" cy="2514600"/>
          </a:xfrm>
          <a:prstGeom prst="roundRect">
            <a:avLst>
              <a:gd name="adj" fmla="val 52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Oval 7"/>
          <p:cNvSpPr/>
          <p:nvPr/>
        </p:nvSpPr>
        <p:spPr>
          <a:xfrm>
            <a:off x="822960" y="1920240"/>
            <a:ext cx="475488" cy="47548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1</a:t>
            </a:r>
          </a:p>
        </p:txBody>
      </p:sp>
      <p:sp>
        <p:nvSpPr>
          <p:cNvPr id="9" name="TextBox 8"/>
          <p:cNvSpPr txBox="1"/>
          <p:nvPr/>
        </p:nvSpPr>
        <p:spPr>
          <a:xfrm>
            <a:off x="822960" y="2542032"/>
            <a:ext cx="1582460" cy="274320"/>
          </a:xfrm>
          <a:prstGeom prst="rect">
            <a:avLst/>
          </a:prstGeom>
          <a:noFill/>
        </p:spPr>
        <p:txBody>
          <a:bodyPr wrap="square" anchor="t" lIns="0" rIns="0" tIns="0" bIns="0">
            <a:spAutoFit/>
          </a:bodyPr>
          <a:lstStyle/>
          <a:p>
            <a:pPr>
              <a:lnSpc>
                <a:spcPct val="115000"/>
              </a:lnSpc>
              <a:spcBef>
                <a:spcPts val="0"/>
              </a:spcBef>
              <a:spcAft>
                <a:spcPts val="0"/>
              </a:spcAft>
            </a:pPr>
            <a:r>
              <a:rPr sz="1350" b="1" i="0">
                <a:solidFill>
                  <a:srgbClr val="262B4A"/>
                </a:solidFill>
                <a:latin typeface="Bookman Old Style"/>
              </a:rPr>
              <a:t>Grayscale</a:t>
            </a:r>
          </a:p>
        </p:txBody>
      </p:sp>
      <p:sp>
        <p:nvSpPr>
          <p:cNvPr id="10" name="TextBox 9"/>
          <p:cNvSpPr txBox="1"/>
          <p:nvPr/>
        </p:nvSpPr>
        <p:spPr>
          <a:xfrm>
            <a:off x="822960" y="2889504"/>
            <a:ext cx="1582460" cy="1188720"/>
          </a:xfrm>
          <a:prstGeom prst="rect">
            <a:avLst/>
          </a:prstGeom>
          <a:noFill/>
        </p:spPr>
        <p:txBody>
          <a:bodyPr wrap="square" anchor="t" lIns="0" rIns="0" tIns="0" bIns="0">
            <a:spAutoFit/>
          </a:bodyPr>
          <a:lstStyle/>
          <a:p>
            <a:pPr>
              <a:lnSpc>
                <a:spcPct val="130000"/>
              </a:lnSpc>
              <a:spcBef>
                <a:spcPts val="0"/>
              </a:spcBef>
              <a:spcAft>
                <a:spcPts val="0"/>
              </a:spcAft>
            </a:pPr>
            <a:r>
              <a:rPr sz="1100" b="0" i="0">
                <a:solidFill>
                  <a:srgbClr val="707694"/>
                </a:solidFill>
                <a:latin typeface="Calibri"/>
              </a:rPr>
              <a:t>Each image is read in grayscale. Expression is carried by shape and shading, and this cuts input dimensionality threefold.</a:t>
            </a:r>
          </a:p>
        </p:txBody>
      </p:sp>
      <p:sp>
        <p:nvSpPr>
          <p:cNvPr id="11" name="TextBox 10"/>
          <p:cNvSpPr txBox="1"/>
          <p:nvPr/>
        </p:nvSpPr>
        <p:spPr>
          <a:xfrm>
            <a:off x="2666024" y="2734056"/>
            <a:ext cx="137160" cy="27432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9A3A9"/>
                </a:solidFill>
                <a:latin typeface="Calibri"/>
              </a:rPr>
              <a:t>›</a:t>
            </a:r>
          </a:p>
        </p:txBody>
      </p:sp>
      <p:sp>
        <p:nvSpPr>
          <p:cNvPr id="12" name="Rounded Rectangle 11"/>
          <p:cNvSpPr/>
          <p:nvPr/>
        </p:nvSpPr>
        <p:spPr>
          <a:xfrm>
            <a:off x="2807756" y="1682496"/>
            <a:ext cx="2094524" cy="2514600"/>
          </a:xfrm>
          <a:prstGeom prst="roundRect">
            <a:avLst>
              <a:gd name="adj" fmla="val 52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Oval 12"/>
          <p:cNvSpPr/>
          <p:nvPr/>
        </p:nvSpPr>
        <p:spPr>
          <a:xfrm>
            <a:off x="3063788" y="1920240"/>
            <a:ext cx="475488" cy="47548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2</a:t>
            </a:r>
          </a:p>
        </p:txBody>
      </p:sp>
      <p:sp>
        <p:nvSpPr>
          <p:cNvPr id="14" name="TextBox 13"/>
          <p:cNvSpPr txBox="1"/>
          <p:nvPr/>
        </p:nvSpPr>
        <p:spPr>
          <a:xfrm>
            <a:off x="3063788" y="2542032"/>
            <a:ext cx="1582460" cy="274320"/>
          </a:xfrm>
          <a:prstGeom prst="rect">
            <a:avLst/>
          </a:prstGeom>
          <a:noFill/>
        </p:spPr>
        <p:txBody>
          <a:bodyPr wrap="square" anchor="t" lIns="0" rIns="0" tIns="0" bIns="0">
            <a:spAutoFit/>
          </a:bodyPr>
          <a:lstStyle/>
          <a:p>
            <a:pPr>
              <a:lnSpc>
                <a:spcPct val="115000"/>
              </a:lnSpc>
              <a:spcBef>
                <a:spcPts val="0"/>
              </a:spcBef>
              <a:spcAft>
                <a:spcPts val="0"/>
              </a:spcAft>
            </a:pPr>
            <a:r>
              <a:rPr sz="1350" b="1" i="0">
                <a:solidFill>
                  <a:srgbClr val="262B4A"/>
                </a:solidFill>
                <a:latin typeface="Bookman Old Style"/>
              </a:rPr>
              <a:t>Resize</a:t>
            </a:r>
          </a:p>
        </p:txBody>
      </p:sp>
      <p:sp>
        <p:nvSpPr>
          <p:cNvPr id="15" name="TextBox 14"/>
          <p:cNvSpPr txBox="1"/>
          <p:nvPr/>
        </p:nvSpPr>
        <p:spPr>
          <a:xfrm>
            <a:off x="3063788" y="2889504"/>
            <a:ext cx="1582460" cy="1188720"/>
          </a:xfrm>
          <a:prstGeom prst="rect">
            <a:avLst/>
          </a:prstGeom>
          <a:noFill/>
        </p:spPr>
        <p:txBody>
          <a:bodyPr wrap="square" anchor="t" lIns="0" rIns="0" tIns="0" bIns="0">
            <a:spAutoFit/>
          </a:bodyPr>
          <a:lstStyle/>
          <a:p>
            <a:pPr>
              <a:lnSpc>
                <a:spcPct val="130000"/>
              </a:lnSpc>
              <a:spcBef>
                <a:spcPts val="0"/>
              </a:spcBef>
              <a:spcAft>
                <a:spcPts val="0"/>
              </a:spcAft>
            </a:pPr>
            <a:r>
              <a:rPr sz="1100" b="0" i="0">
                <a:solidFill>
                  <a:srgbClr val="707694"/>
                </a:solidFill>
                <a:latin typeface="Calibri"/>
              </a:rPr>
              <a:t>Every image is resized to a uniform 48×48 pixels.</a:t>
            </a:r>
          </a:p>
        </p:txBody>
      </p:sp>
      <p:sp>
        <p:nvSpPr>
          <p:cNvPr id="16" name="TextBox 15"/>
          <p:cNvSpPr txBox="1"/>
          <p:nvPr/>
        </p:nvSpPr>
        <p:spPr>
          <a:xfrm>
            <a:off x="4906853" y="2734056"/>
            <a:ext cx="137160" cy="27432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9A3A9"/>
                </a:solidFill>
                <a:latin typeface="Calibri"/>
              </a:rPr>
              <a:t>›</a:t>
            </a:r>
          </a:p>
        </p:txBody>
      </p:sp>
      <p:sp>
        <p:nvSpPr>
          <p:cNvPr id="17" name="Rounded Rectangle 16"/>
          <p:cNvSpPr/>
          <p:nvPr/>
        </p:nvSpPr>
        <p:spPr>
          <a:xfrm>
            <a:off x="5048585" y="1682496"/>
            <a:ext cx="2094524" cy="2514600"/>
          </a:xfrm>
          <a:prstGeom prst="roundRect">
            <a:avLst>
              <a:gd name="adj" fmla="val 52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8" name="Oval 17"/>
          <p:cNvSpPr/>
          <p:nvPr/>
        </p:nvSpPr>
        <p:spPr>
          <a:xfrm>
            <a:off x="5304617" y="1920240"/>
            <a:ext cx="475488" cy="47548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3</a:t>
            </a:r>
          </a:p>
        </p:txBody>
      </p:sp>
      <p:sp>
        <p:nvSpPr>
          <p:cNvPr id="19" name="TextBox 18"/>
          <p:cNvSpPr txBox="1"/>
          <p:nvPr/>
        </p:nvSpPr>
        <p:spPr>
          <a:xfrm>
            <a:off x="5304617" y="2542032"/>
            <a:ext cx="1582460" cy="274320"/>
          </a:xfrm>
          <a:prstGeom prst="rect">
            <a:avLst/>
          </a:prstGeom>
          <a:noFill/>
        </p:spPr>
        <p:txBody>
          <a:bodyPr wrap="square" anchor="t" lIns="0" rIns="0" tIns="0" bIns="0">
            <a:spAutoFit/>
          </a:bodyPr>
          <a:lstStyle/>
          <a:p>
            <a:pPr>
              <a:lnSpc>
                <a:spcPct val="115000"/>
              </a:lnSpc>
              <a:spcBef>
                <a:spcPts val="0"/>
              </a:spcBef>
              <a:spcAft>
                <a:spcPts val="0"/>
              </a:spcAft>
            </a:pPr>
            <a:r>
              <a:rPr sz="1350" b="1" i="0">
                <a:solidFill>
                  <a:srgbClr val="262B4A"/>
                </a:solidFill>
                <a:latin typeface="Bookman Old Style"/>
              </a:rPr>
              <a:t>Normalise</a:t>
            </a:r>
          </a:p>
        </p:txBody>
      </p:sp>
      <p:sp>
        <p:nvSpPr>
          <p:cNvPr id="20" name="TextBox 19"/>
          <p:cNvSpPr txBox="1"/>
          <p:nvPr/>
        </p:nvSpPr>
        <p:spPr>
          <a:xfrm>
            <a:off x="5304617" y="2889504"/>
            <a:ext cx="1582460" cy="1188720"/>
          </a:xfrm>
          <a:prstGeom prst="rect">
            <a:avLst/>
          </a:prstGeom>
          <a:noFill/>
        </p:spPr>
        <p:txBody>
          <a:bodyPr wrap="square" anchor="t" lIns="0" rIns="0" tIns="0" bIns="0">
            <a:spAutoFit/>
          </a:bodyPr>
          <a:lstStyle/>
          <a:p>
            <a:pPr>
              <a:lnSpc>
                <a:spcPct val="130000"/>
              </a:lnSpc>
              <a:spcBef>
                <a:spcPts val="0"/>
              </a:spcBef>
              <a:spcAft>
                <a:spcPts val="0"/>
              </a:spcAft>
            </a:pPr>
            <a:r>
              <a:rPr sz="1100" b="0" i="0">
                <a:solidFill>
                  <a:srgbClr val="707694"/>
                </a:solidFill>
                <a:latin typeface="Calibri"/>
              </a:rPr>
              <a:t>Pixel values are scaled from [0, 255] to [0, 1], keeping gradients well-scaled during optimisation.</a:t>
            </a:r>
          </a:p>
        </p:txBody>
      </p:sp>
      <p:sp>
        <p:nvSpPr>
          <p:cNvPr id="21" name="TextBox 20"/>
          <p:cNvSpPr txBox="1"/>
          <p:nvPr/>
        </p:nvSpPr>
        <p:spPr>
          <a:xfrm>
            <a:off x="7147681" y="2734056"/>
            <a:ext cx="137160" cy="27432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9A3A9"/>
                </a:solidFill>
                <a:latin typeface="Calibri"/>
              </a:rPr>
              <a:t>›</a:t>
            </a:r>
          </a:p>
        </p:txBody>
      </p:sp>
      <p:sp>
        <p:nvSpPr>
          <p:cNvPr id="22" name="Rounded Rectangle 21"/>
          <p:cNvSpPr/>
          <p:nvPr/>
        </p:nvSpPr>
        <p:spPr>
          <a:xfrm>
            <a:off x="7289413" y="1682496"/>
            <a:ext cx="2094524" cy="2514600"/>
          </a:xfrm>
          <a:prstGeom prst="roundRect">
            <a:avLst>
              <a:gd name="adj" fmla="val 52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3" name="Oval 22"/>
          <p:cNvSpPr/>
          <p:nvPr/>
        </p:nvSpPr>
        <p:spPr>
          <a:xfrm>
            <a:off x="7545445" y="1920240"/>
            <a:ext cx="475488" cy="47548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4</a:t>
            </a:r>
          </a:p>
        </p:txBody>
      </p:sp>
      <p:sp>
        <p:nvSpPr>
          <p:cNvPr id="24" name="TextBox 23"/>
          <p:cNvSpPr txBox="1"/>
          <p:nvPr/>
        </p:nvSpPr>
        <p:spPr>
          <a:xfrm>
            <a:off x="7545445" y="2542032"/>
            <a:ext cx="1582460" cy="274320"/>
          </a:xfrm>
          <a:prstGeom prst="rect">
            <a:avLst/>
          </a:prstGeom>
          <a:noFill/>
        </p:spPr>
        <p:txBody>
          <a:bodyPr wrap="square" anchor="t" lIns="0" rIns="0" tIns="0" bIns="0">
            <a:spAutoFit/>
          </a:bodyPr>
          <a:lstStyle/>
          <a:p>
            <a:pPr>
              <a:lnSpc>
                <a:spcPct val="115000"/>
              </a:lnSpc>
              <a:spcBef>
                <a:spcPts val="0"/>
              </a:spcBef>
              <a:spcAft>
                <a:spcPts val="0"/>
              </a:spcAft>
            </a:pPr>
            <a:r>
              <a:rPr sz="1350" b="1" i="0">
                <a:solidFill>
                  <a:srgbClr val="262B4A"/>
                </a:solidFill>
                <a:latin typeface="Bookman Old Style"/>
              </a:rPr>
              <a:t>Reshape</a:t>
            </a:r>
          </a:p>
        </p:txBody>
      </p:sp>
      <p:sp>
        <p:nvSpPr>
          <p:cNvPr id="25" name="TextBox 24"/>
          <p:cNvSpPr txBox="1"/>
          <p:nvPr/>
        </p:nvSpPr>
        <p:spPr>
          <a:xfrm>
            <a:off x="7545445" y="2889504"/>
            <a:ext cx="1582460" cy="1188720"/>
          </a:xfrm>
          <a:prstGeom prst="rect">
            <a:avLst/>
          </a:prstGeom>
          <a:noFill/>
        </p:spPr>
        <p:txBody>
          <a:bodyPr wrap="square" anchor="t" lIns="0" rIns="0" tIns="0" bIns="0">
            <a:spAutoFit/>
          </a:bodyPr>
          <a:lstStyle/>
          <a:p>
            <a:pPr>
              <a:lnSpc>
                <a:spcPct val="130000"/>
              </a:lnSpc>
              <a:spcBef>
                <a:spcPts val="0"/>
              </a:spcBef>
              <a:spcAft>
                <a:spcPts val="0"/>
              </a:spcAft>
            </a:pPr>
            <a:r>
              <a:rPr sz="1100" b="0" i="0">
                <a:solidFill>
                  <a:srgbClr val="707694"/>
                </a:solidFill>
                <a:latin typeface="Calibri"/>
              </a:rPr>
              <a:t>A channel dimension is added, giving each sample the shape (48, 48, 1).</a:t>
            </a:r>
          </a:p>
        </p:txBody>
      </p:sp>
      <p:sp>
        <p:nvSpPr>
          <p:cNvPr id="26" name="TextBox 25"/>
          <p:cNvSpPr txBox="1"/>
          <p:nvPr/>
        </p:nvSpPr>
        <p:spPr>
          <a:xfrm>
            <a:off x="9388510" y="2734056"/>
            <a:ext cx="137160" cy="27432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9A3A9"/>
                </a:solidFill>
                <a:latin typeface="Calibri"/>
              </a:rPr>
              <a:t>›</a:t>
            </a:r>
          </a:p>
        </p:txBody>
      </p:sp>
      <p:sp>
        <p:nvSpPr>
          <p:cNvPr id="27" name="Rounded Rectangle 26"/>
          <p:cNvSpPr/>
          <p:nvPr/>
        </p:nvSpPr>
        <p:spPr>
          <a:xfrm>
            <a:off x="9530242" y="1682496"/>
            <a:ext cx="2094524" cy="2514600"/>
          </a:xfrm>
          <a:prstGeom prst="roundRect">
            <a:avLst>
              <a:gd name="adj" fmla="val 523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8" name="Oval 27"/>
          <p:cNvSpPr/>
          <p:nvPr/>
        </p:nvSpPr>
        <p:spPr>
          <a:xfrm>
            <a:off x="9786274" y="1920240"/>
            <a:ext cx="475488" cy="475488"/>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5</a:t>
            </a:r>
          </a:p>
        </p:txBody>
      </p:sp>
      <p:sp>
        <p:nvSpPr>
          <p:cNvPr id="29" name="TextBox 28"/>
          <p:cNvSpPr txBox="1"/>
          <p:nvPr/>
        </p:nvSpPr>
        <p:spPr>
          <a:xfrm>
            <a:off x="9786274" y="2542032"/>
            <a:ext cx="1582460" cy="274320"/>
          </a:xfrm>
          <a:prstGeom prst="rect">
            <a:avLst/>
          </a:prstGeom>
          <a:noFill/>
        </p:spPr>
        <p:txBody>
          <a:bodyPr wrap="square" anchor="t" lIns="0" rIns="0" tIns="0" bIns="0">
            <a:spAutoFit/>
          </a:bodyPr>
          <a:lstStyle/>
          <a:p>
            <a:pPr>
              <a:lnSpc>
                <a:spcPct val="115000"/>
              </a:lnSpc>
              <a:spcBef>
                <a:spcPts val="0"/>
              </a:spcBef>
              <a:spcAft>
                <a:spcPts val="0"/>
              </a:spcAft>
            </a:pPr>
            <a:r>
              <a:rPr sz="1350" b="1" i="0">
                <a:solidFill>
                  <a:srgbClr val="262B4A"/>
                </a:solidFill>
                <a:latin typeface="Bookman Old Style"/>
              </a:rPr>
              <a:t>Cache</a:t>
            </a:r>
          </a:p>
        </p:txBody>
      </p:sp>
      <p:sp>
        <p:nvSpPr>
          <p:cNvPr id="30" name="TextBox 29"/>
          <p:cNvSpPr txBox="1"/>
          <p:nvPr/>
        </p:nvSpPr>
        <p:spPr>
          <a:xfrm>
            <a:off x="9786274" y="2889504"/>
            <a:ext cx="1582460" cy="1188720"/>
          </a:xfrm>
          <a:prstGeom prst="rect">
            <a:avLst/>
          </a:prstGeom>
          <a:noFill/>
        </p:spPr>
        <p:txBody>
          <a:bodyPr wrap="square" anchor="t" lIns="0" rIns="0" tIns="0" bIns="0">
            <a:spAutoFit/>
          </a:bodyPr>
          <a:lstStyle/>
          <a:p>
            <a:pPr>
              <a:lnSpc>
                <a:spcPct val="130000"/>
              </a:lnSpc>
              <a:spcBef>
                <a:spcPts val="0"/>
              </a:spcBef>
              <a:spcAft>
                <a:spcPts val="0"/>
              </a:spcAft>
            </a:pPr>
            <a:r>
              <a:rPr sz="1100" b="0" i="0">
                <a:solidFill>
                  <a:srgbClr val="707694"/>
                </a:solidFill>
                <a:latin typeface="Calibri"/>
              </a:rPr>
              <a:t>Processed arrays are written to X_data.npy and y_labels.npy so training runs never repeat the decode step.</a:t>
            </a:r>
          </a:p>
        </p:txBody>
      </p:sp>
      <p:sp>
        <p:nvSpPr>
          <p:cNvPr id="31" name="Rounded Rectangle 30"/>
          <p:cNvSpPr/>
          <p:nvPr/>
        </p:nvSpPr>
        <p:spPr>
          <a:xfrm>
            <a:off x="566928" y="4425696"/>
            <a:ext cx="11057839" cy="1051560"/>
          </a:xfrm>
          <a:prstGeom prst="roundRect">
            <a:avLst>
              <a:gd name="adj" fmla="val 10434"/>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32" name="Rectangle 31"/>
          <p:cNvSpPr/>
          <p:nvPr/>
        </p:nvSpPr>
        <p:spPr>
          <a:xfrm>
            <a:off x="566928" y="4425696"/>
            <a:ext cx="68580" cy="1051560"/>
          </a:xfrm>
          <a:prstGeom prst="rect">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33" name="TextBox 32"/>
          <p:cNvSpPr txBox="1"/>
          <p:nvPr/>
        </p:nvSpPr>
        <p:spPr>
          <a:xfrm>
            <a:off x="950976" y="4608576"/>
            <a:ext cx="10289743" cy="731520"/>
          </a:xfrm>
          <a:prstGeom prst="rect">
            <a:avLst/>
          </a:prstGeom>
          <a:noFill/>
        </p:spPr>
        <p:txBody>
          <a:bodyPr wrap="square" anchor="t" lIns="0" rIns="0" tIns="0" bIns="0">
            <a:spAutoFit/>
          </a:bodyPr>
          <a:lstStyle/>
          <a:p>
            <a:pPr>
              <a:lnSpc>
                <a:spcPct val="115000"/>
              </a:lnSpc>
              <a:spcBef>
                <a:spcPts val="0"/>
              </a:spcBef>
              <a:spcAft>
                <a:spcPts val="600"/>
              </a:spcAft>
            </a:pPr>
            <a:r>
              <a:rPr sz="1300" b="1" i="0">
                <a:solidFill>
                  <a:srgbClr val="F7DF93"/>
                </a:solidFill>
                <a:latin typeface="Calibri"/>
              </a:rPr>
              <a:t>The label order is load-bearing</a:t>
            </a:r>
          </a:p>
          <a:p>
            <a:pPr>
              <a:lnSpc>
                <a:spcPct val="130000"/>
              </a:lnSpc>
              <a:spcBef>
                <a:spcPts val="0"/>
              </a:spcBef>
              <a:spcAft>
                <a:spcPts val="0"/>
              </a:spcAft>
            </a:pPr>
            <a:r>
              <a:rPr sz="1150" b="0" i="0">
                <a:solidFill>
                  <a:srgbClr val="FFFFFF"/>
                </a:solidFill>
                <a:latin typeface="Calibri"/>
              </a:rPr>
              <a:t>Labels are assigned by index into  [ angry, disgust, fear, happy, neutral, sad, surprise ].  Every component that maps a model output index back to a human-readable name must use exactly this order — a mismatch produces confident but wrong labels, silently.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8</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CNN Model Architecture</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F7DF93"/>
                </a:solidFill>
                <a:latin typeface="Calibri"/>
              </a:rPr>
              <a:t>training/model.py — 355,847 trainable parameters</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6720840" cy="566928"/>
          </a:xfrm>
          <a:prstGeom prst="roundRect">
            <a:avLst>
              <a:gd name="adj" fmla="val 16129"/>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TextBox 7"/>
          <p:cNvSpPr txBox="1"/>
          <p:nvPr/>
        </p:nvSpPr>
        <p:spPr>
          <a:xfrm>
            <a:off x="841247" y="1682496"/>
            <a:ext cx="3246120" cy="566928"/>
          </a:xfrm>
          <a:prstGeom prst="rect">
            <a:avLst/>
          </a:prstGeom>
          <a:noFill/>
        </p:spPr>
        <p:txBody>
          <a:bodyPr wrap="square" anchor="ctr" lIns="0" rIns="0" tIns="0" bIns="0">
            <a:spAutoFit/>
          </a:bodyPr>
          <a:lstStyle/>
          <a:p>
            <a:pPr>
              <a:lnSpc>
                <a:spcPct val="115000"/>
              </a:lnSpc>
              <a:spcBef>
                <a:spcPts val="0"/>
              </a:spcBef>
              <a:spcAft>
                <a:spcPts val="0"/>
              </a:spcAft>
            </a:pPr>
            <a:r>
              <a:rPr sz="1250" b="1" i="0">
                <a:solidFill>
                  <a:srgbClr val="FFFFFF"/>
                </a:solidFill>
                <a:latin typeface="Calibri"/>
              </a:rPr>
              <a:t>Input</a:t>
            </a:r>
          </a:p>
        </p:txBody>
      </p:sp>
      <p:sp>
        <p:nvSpPr>
          <p:cNvPr id="9" name="TextBox 8"/>
          <p:cNvSpPr txBox="1"/>
          <p:nvPr/>
        </p:nvSpPr>
        <p:spPr>
          <a:xfrm>
            <a:off x="4178808" y="1682496"/>
            <a:ext cx="2834640" cy="566928"/>
          </a:xfrm>
          <a:prstGeom prst="rect">
            <a:avLst/>
          </a:prstGeom>
          <a:noFill/>
        </p:spPr>
        <p:txBody>
          <a:bodyPr wrap="square" anchor="ctr" lIns="0" rIns="0" tIns="0" bIns="0">
            <a:spAutoFit/>
          </a:bodyPr>
          <a:lstStyle/>
          <a:p>
            <a:pPr>
              <a:lnSpc>
                <a:spcPct val="115000"/>
              </a:lnSpc>
              <a:spcBef>
                <a:spcPts val="0"/>
              </a:spcBef>
              <a:spcAft>
                <a:spcPts val="0"/>
              </a:spcAft>
            </a:pPr>
            <a:r>
              <a:rPr sz="1100" b="0" i="0">
                <a:solidFill>
                  <a:srgbClr val="A9AFCE"/>
                </a:solidFill>
                <a:latin typeface="Calibri"/>
              </a:rPr>
              <a:t>48 × 48 × 1  grayscale image</a:t>
            </a:r>
          </a:p>
        </p:txBody>
      </p:sp>
      <p:sp>
        <p:nvSpPr>
          <p:cNvPr id="10" name="Rounded Rectangle 9"/>
          <p:cNvSpPr/>
          <p:nvPr/>
        </p:nvSpPr>
        <p:spPr>
          <a:xfrm>
            <a:off x="566928" y="2350008"/>
            <a:ext cx="6720840" cy="566928"/>
          </a:xfrm>
          <a:prstGeom prst="roundRect">
            <a:avLst>
              <a:gd name="adj" fmla="val 16129"/>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1" name="TextBox 10"/>
          <p:cNvSpPr txBox="1"/>
          <p:nvPr/>
        </p:nvSpPr>
        <p:spPr>
          <a:xfrm>
            <a:off x="841247" y="2350008"/>
            <a:ext cx="3246120" cy="566928"/>
          </a:xfrm>
          <a:prstGeom prst="rect">
            <a:avLst/>
          </a:prstGeom>
          <a:noFill/>
        </p:spPr>
        <p:txBody>
          <a:bodyPr wrap="square" anchor="ctr" lIns="0" rIns="0" tIns="0" bIns="0">
            <a:spAutoFit/>
          </a:bodyPr>
          <a:lstStyle/>
          <a:p>
            <a:pPr>
              <a:lnSpc>
                <a:spcPct val="115000"/>
              </a:lnSpc>
              <a:spcBef>
                <a:spcPts val="0"/>
              </a:spcBef>
              <a:spcAft>
                <a:spcPts val="0"/>
              </a:spcAft>
            </a:pPr>
            <a:r>
              <a:rPr sz="1250" b="1" i="0">
                <a:solidFill>
                  <a:srgbClr val="FFFFFF"/>
                </a:solidFill>
                <a:latin typeface="Calibri"/>
              </a:rPr>
              <a:t>Conv2D 32 @ 3×3 + ReLU</a:t>
            </a:r>
          </a:p>
        </p:txBody>
      </p:sp>
      <p:sp>
        <p:nvSpPr>
          <p:cNvPr id="12" name="TextBox 11"/>
          <p:cNvSpPr txBox="1"/>
          <p:nvPr/>
        </p:nvSpPr>
        <p:spPr>
          <a:xfrm>
            <a:off x="4178808" y="2350008"/>
            <a:ext cx="2834640" cy="566928"/>
          </a:xfrm>
          <a:prstGeom prst="rect">
            <a:avLst/>
          </a:prstGeom>
          <a:noFill/>
        </p:spPr>
        <p:txBody>
          <a:bodyPr wrap="square" anchor="ctr" lIns="0" rIns="0" tIns="0" bIns="0">
            <a:spAutoFit/>
          </a:bodyPr>
          <a:lstStyle/>
          <a:p>
            <a:pPr>
              <a:lnSpc>
                <a:spcPct val="115000"/>
              </a:lnSpc>
              <a:spcBef>
                <a:spcPts val="0"/>
              </a:spcBef>
              <a:spcAft>
                <a:spcPts val="0"/>
              </a:spcAft>
            </a:pPr>
            <a:r>
              <a:rPr sz="1100" b="0" i="0">
                <a:solidFill>
                  <a:srgbClr val="A9AFCE"/>
                </a:solidFill>
                <a:latin typeface="Calibri"/>
              </a:rPr>
              <a:t>→  MaxPooling 2×2</a:t>
            </a:r>
          </a:p>
        </p:txBody>
      </p:sp>
      <p:sp>
        <p:nvSpPr>
          <p:cNvPr id="13" name="Rounded Rectangle 12"/>
          <p:cNvSpPr/>
          <p:nvPr/>
        </p:nvSpPr>
        <p:spPr>
          <a:xfrm>
            <a:off x="566928" y="3017520"/>
            <a:ext cx="6720840" cy="566928"/>
          </a:xfrm>
          <a:prstGeom prst="roundRect">
            <a:avLst>
              <a:gd name="adj" fmla="val 16129"/>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4" name="TextBox 13"/>
          <p:cNvSpPr txBox="1"/>
          <p:nvPr/>
        </p:nvSpPr>
        <p:spPr>
          <a:xfrm>
            <a:off x="841247" y="3017520"/>
            <a:ext cx="3246120" cy="566928"/>
          </a:xfrm>
          <a:prstGeom prst="rect">
            <a:avLst/>
          </a:prstGeom>
          <a:noFill/>
        </p:spPr>
        <p:txBody>
          <a:bodyPr wrap="square" anchor="ctr" lIns="0" rIns="0" tIns="0" bIns="0">
            <a:spAutoFit/>
          </a:bodyPr>
          <a:lstStyle/>
          <a:p>
            <a:pPr>
              <a:lnSpc>
                <a:spcPct val="115000"/>
              </a:lnSpc>
              <a:spcBef>
                <a:spcPts val="0"/>
              </a:spcBef>
              <a:spcAft>
                <a:spcPts val="0"/>
              </a:spcAft>
            </a:pPr>
            <a:r>
              <a:rPr sz="1250" b="1" i="0">
                <a:solidFill>
                  <a:srgbClr val="FFFFFF"/>
                </a:solidFill>
                <a:latin typeface="Calibri"/>
              </a:rPr>
              <a:t>Conv2D 64 @ 3×3 + ReLU</a:t>
            </a:r>
          </a:p>
        </p:txBody>
      </p:sp>
      <p:sp>
        <p:nvSpPr>
          <p:cNvPr id="15" name="TextBox 14"/>
          <p:cNvSpPr txBox="1"/>
          <p:nvPr/>
        </p:nvSpPr>
        <p:spPr>
          <a:xfrm>
            <a:off x="4178808" y="3017520"/>
            <a:ext cx="2834640" cy="566928"/>
          </a:xfrm>
          <a:prstGeom prst="rect">
            <a:avLst/>
          </a:prstGeom>
          <a:noFill/>
        </p:spPr>
        <p:txBody>
          <a:bodyPr wrap="square" anchor="ctr" lIns="0" rIns="0" tIns="0" bIns="0">
            <a:spAutoFit/>
          </a:bodyPr>
          <a:lstStyle/>
          <a:p>
            <a:pPr>
              <a:lnSpc>
                <a:spcPct val="115000"/>
              </a:lnSpc>
              <a:spcBef>
                <a:spcPts val="0"/>
              </a:spcBef>
              <a:spcAft>
                <a:spcPts val="0"/>
              </a:spcAft>
            </a:pPr>
            <a:r>
              <a:rPr sz="1100" b="0" i="0">
                <a:solidFill>
                  <a:srgbClr val="A9AFCE"/>
                </a:solidFill>
                <a:latin typeface="Calibri"/>
              </a:rPr>
              <a:t>→  MaxPooling 2×2</a:t>
            </a:r>
          </a:p>
        </p:txBody>
      </p:sp>
      <p:sp>
        <p:nvSpPr>
          <p:cNvPr id="16" name="Rounded Rectangle 15"/>
          <p:cNvSpPr/>
          <p:nvPr/>
        </p:nvSpPr>
        <p:spPr>
          <a:xfrm>
            <a:off x="566928" y="3685032"/>
            <a:ext cx="6720840" cy="566928"/>
          </a:xfrm>
          <a:prstGeom prst="roundRect">
            <a:avLst>
              <a:gd name="adj" fmla="val 16129"/>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7" name="TextBox 16"/>
          <p:cNvSpPr txBox="1"/>
          <p:nvPr/>
        </p:nvSpPr>
        <p:spPr>
          <a:xfrm>
            <a:off x="841247" y="3685032"/>
            <a:ext cx="3246120" cy="566928"/>
          </a:xfrm>
          <a:prstGeom prst="rect">
            <a:avLst/>
          </a:prstGeom>
          <a:noFill/>
        </p:spPr>
        <p:txBody>
          <a:bodyPr wrap="square" anchor="ctr" lIns="0" rIns="0" tIns="0" bIns="0">
            <a:spAutoFit/>
          </a:bodyPr>
          <a:lstStyle/>
          <a:p>
            <a:pPr>
              <a:lnSpc>
                <a:spcPct val="115000"/>
              </a:lnSpc>
              <a:spcBef>
                <a:spcPts val="0"/>
              </a:spcBef>
              <a:spcAft>
                <a:spcPts val="0"/>
              </a:spcAft>
            </a:pPr>
            <a:r>
              <a:rPr sz="1250" b="1" i="0">
                <a:solidFill>
                  <a:srgbClr val="FFFFFF"/>
                </a:solidFill>
                <a:latin typeface="Calibri"/>
              </a:rPr>
              <a:t>Conv2D 128 @ 3×3 + ReLU</a:t>
            </a:r>
          </a:p>
        </p:txBody>
      </p:sp>
      <p:sp>
        <p:nvSpPr>
          <p:cNvPr id="18" name="TextBox 17"/>
          <p:cNvSpPr txBox="1"/>
          <p:nvPr/>
        </p:nvSpPr>
        <p:spPr>
          <a:xfrm>
            <a:off x="4178808" y="3685032"/>
            <a:ext cx="2834640" cy="566928"/>
          </a:xfrm>
          <a:prstGeom prst="rect">
            <a:avLst/>
          </a:prstGeom>
          <a:noFill/>
        </p:spPr>
        <p:txBody>
          <a:bodyPr wrap="square" anchor="ctr" lIns="0" rIns="0" tIns="0" bIns="0">
            <a:spAutoFit/>
          </a:bodyPr>
          <a:lstStyle/>
          <a:p>
            <a:pPr>
              <a:lnSpc>
                <a:spcPct val="115000"/>
              </a:lnSpc>
              <a:spcBef>
                <a:spcPts val="0"/>
              </a:spcBef>
              <a:spcAft>
                <a:spcPts val="0"/>
              </a:spcAft>
            </a:pPr>
            <a:r>
              <a:rPr sz="1100" b="0" i="0">
                <a:solidFill>
                  <a:srgbClr val="A9AFCE"/>
                </a:solidFill>
                <a:latin typeface="Calibri"/>
              </a:rPr>
              <a:t>→  MaxPooling 2×2</a:t>
            </a:r>
          </a:p>
        </p:txBody>
      </p:sp>
      <p:sp>
        <p:nvSpPr>
          <p:cNvPr id="19" name="Rounded Rectangle 18"/>
          <p:cNvSpPr/>
          <p:nvPr/>
        </p:nvSpPr>
        <p:spPr>
          <a:xfrm>
            <a:off x="566928" y="4352544"/>
            <a:ext cx="6720840" cy="566928"/>
          </a:xfrm>
          <a:prstGeom prst="roundRect">
            <a:avLst>
              <a:gd name="adj" fmla="val 16129"/>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0" name="TextBox 19"/>
          <p:cNvSpPr txBox="1"/>
          <p:nvPr/>
        </p:nvSpPr>
        <p:spPr>
          <a:xfrm>
            <a:off x="841247" y="4352544"/>
            <a:ext cx="3246120" cy="566928"/>
          </a:xfrm>
          <a:prstGeom prst="rect">
            <a:avLst/>
          </a:prstGeom>
          <a:noFill/>
        </p:spPr>
        <p:txBody>
          <a:bodyPr wrap="square" anchor="ctr" lIns="0" rIns="0" tIns="0" bIns="0">
            <a:spAutoFit/>
          </a:bodyPr>
          <a:lstStyle/>
          <a:p>
            <a:pPr>
              <a:lnSpc>
                <a:spcPct val="115000"/>
              </a:lnSpc>
              <a:spcBef>
                <a:spcPts val="0"/>
              </a:spcBef>
              <a:spcAft>
                <a:spcPts val="0"/>
              </a:spcAft>
            </a:pPr>
            <a:r>
              <a:rPr sz="1250" b="1" i="0">
                <a:solidFill>
                  <a:srgbClr val="FFFFFF"/>
                </a:solidFill>
                <a:latin typeface="Calibri"/>
              </a:rPr>
              <a:t>Flatten</a:t>
            </a:r>
          </a:p>
        </p:txBody>
      </p:sp>
      <p:sp>
        <p:nvSpPr>
          <p:cNvPr id="21" name="TextBox 20"/>
          <p:cNvSpPr txBox="1"/>
          <p:nvPr/>
        </p:nvSpPr>
        <p:spPr>
          <a:xfrm>
            <a:off x="4178808" y="4352544"/>
            <a:ext cx="2834640" cy="566928"/>
          </a:xfrm>
          <a:prstGeom prst="rect">
            <a:avLst/>
          </a:prstGeom>
          <a:noFill/>
        </p:spPr>
        <p:txBody>
          <a:bodyPr wrap="square" anchor="ctr" lIns="0" rIns="0" tIns="0" bIns="0">
            <a:spAutoFit/>
          </a:bodyPr>
          <a:lstStyle/>
          <a:p>
            <a:pPr>
              <a:lnSpc>
                <a:spcPct val="115000"/>
              </a:lnSpc>
              <a:spcBef>
                <a:spcPts val="0"/>
              </a:spcBef>
              <a:spcAft>
                <a:spcPts val="0"/>
              </a:spcAft>
            </a:pPr>
            <a:r>
              <a:rPr sz="1100" b="0" i="0">
                <a:solidFill>
                  <a:srgbClr val="A9AFCE"/>
                </a:solidFill>
                <a:latin typeface="Calibri"/>
              </a:rPr>
              <a:t>feature maps → 1-D vector</a:t>
            </a:r>
          </a:p>
        </p:txBody>
      </p:sp>
      <p:sp>
        <p:nvSpPr>
          <p:cNvPr id="22" name="Rounded Rectangle 21"/>
          <p:cNvSpPr/>
          <p:nvPr/>
        </p:nvSpPr>
        <p:spPr>
          <a:xfrm>
            <a:off x="566928" y="5020056"/>
            <a:ext cx="6720840" cy="566928"/>
          </a:xfrm>
          <a:prstGeom prst="roundRect">
            <a:avLst>
              <a:gd name="adj" fmla="val 16129"/>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3" name="TextBox 22"/>
          <p:cNvSpPr txBox="1"/>
          <p:nvPr/>
        </p:nvSpPr>
        <p:spPr>
          <a:xfrm>
            <a:off x="841247" y="5020056"/>
            <a:ext cx="3246120" cy="566928"/>
          </a:xfrm>
          <a:prstGeom prst="rect">
            <a:avLst/>
          </a:prstGeom>
          <a:noFill/>
        </p:spPr>
        <p:txBody>
          <a:bodyPr wrap="square" anchor="ctr" lIns="0" rIns="0" tIns="0" bIns="0">
            <a:spAutoFit/>
          </a:bodyPr>
          <a:lstStyle/>
          <a:p>
            <a:pPr>
              <a:lnSpc>
                <a:spcPct val="115000"/>
              </a:lnSpc>
              <a:spcBef>
                <a:spcPts val="0"/>
              </a:spcBef>
              <a:spcAft>
                <a:spcPts val="0"/>
              </a:spcAft>
            </a:pPr>
            <a:r>
              <a:rPr sz="1250" b="1" i="0">
                <a:solidFill>
                  <a:srgbClr val="FFFFFF"/>
                </a:solidFill>
                <a:latin typeface="Calibri"/>
              </a:rPr>
              <a:t>Dense 128 + ReLU</a:t>
            </a:r>
          </a:p>
        </p:txBody>
      </p:sp>
      <p:sp>
        <p:nvSpPr>
          <p:cNvPr id="24" name="TextBox 23"/>
          <p:cNvSpPr txBox="1"/>
          <p:nvPr/>
        </p:nvSpPr>
        <p:spPr>
          <a:xfrm>
            <a:off x="4178808" y="5020056"/>
            <a:ext cx="2834640" cy="566928"/>
          </a:xfrm>
          <a:prstGeom prst="rect">
            <a:avLst/>
          </a:prstGeom>
          <a:noFill/>
        </p:spPr>
        <p:txBody>
          <a:bodyPr wrap="square" anchor="ctr" lIns="0" rIns="0" tIns="0" bIns="0">
            <a:spAutoFit/>
          </a:bodyPr>
          <a:lstStyle/>
          <a:p>
            <a:pPr>
              <a:lnSpc>
                <a:spcPct val="115000"/>
              </a:lnSpc>
              <a:spcBef>
                <a:spcPts val="0"/>
              </a:spcBef>
              <a:spcAft>
                <a:spcPts val="0"/>
              </a:spcAft>
            </a:pPr>
            <a:r>
              <a:rPr sz="1100" b="0" i="0">
                <a:solidFill>
                  <a:srgbClr val="A9AFCE"/>
                </a:solidFill>
                <a:latin typeface="Calibri"/>
              </a:rPr>
              <a:t>→  Dropout 0.5</a:t>
            </a:r>
          </a:p>
        </p:txBody>
      </p:sp>
      <p:sp>
        <p:nvSpPr>
          <p:cNvPr id="25" name="Rounded Rectangle 24"/>
          <p:cNvSpPr/>
          <p:nvPr/>
        </p:nvSpPr>
        <p:spPr>
          <a:xfrm>
            <a:off x="566928" y="5687568"/>
            <a:ext cx="6720840" cy="566928"/>
          </a:xfrm>
          <a:prstGeom prst="roundRect">
            <a:avLst>
              <a:gd name="adj" fmla="val 16129"/>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6" name="TextBox 25"/>
          <p:cNvSpPr txBox="1"/>
          <p:nvPr/>
        </p:nvSpPr>
        <p:spPr>
          <a:xfrm>
            <a:off x="841247" y="5687568"/>
            <a:ext cx="3246120" cy="566928"/>
          </a:xfrm>
          <a:prstGeom prst="rect">
            <a:avLst/>
          </a:prstGeom>
          <a:noFill/>
        </p:spPr>
        <p:txBody>
          <a:bodyPr wrap="square" anchor="ctr" lIns="0" rIns="0" tIns="0" bIns="0">
            <a:spAutoFit/>
          </a:bodyPr>
          <a:lstStyle/>
          <a:p>
            <a:pPr>
              <a:lnSpc>
                <a:spcPct val="115000"/>
              </a:lnSpc>
              <a:spcBef>
                <a:spcPts val="0"/>
              </a:spcBef>
              <a:spcAft>
                <a:spcPts val="0"/>
              </a:spcAft>
            </a:pPr>
            <a:r>
              <a:rPr sz="1250" b="1" i="0">
                <a:solidFill>
                  <a:srgbClr val="FFFFFF"/>
                </a:solidFill>
                <a:latin typeface="Calibri"/>
              </a:rPr>
              <a:t>Dense 7 + Softmax</a:t>
            </a:r>
          </a:p>
        </p:txBody>
      </p:sp>
      <p:sp>
        <p:nvSpPr>
          <p:cNvPr id="27" name="TextBox 26"/>
          <p:cNvSpPr txBox="1"/>
          <p:nvPr/>
        </p:nvSpPr>
        <p:spPr>
          <a:xfrm>
            <a:off x="4178808" y="5687568"/>
            <a:ext cx="2834640" cy="566928"/>
          </a:xfrm>
          <a:prstGeom prst="rect">
            <a:avLst/>
          </a:prstGeom>
          <a:noFill/>
        </p:spPr>
        <p:txBody>
          <a:bodyPr wrap="square" anchor="ctr" lIns="0" rIns="0" tIns="0" bIns="0">
            <a:spAutoFit/>
          </a:bodyPr>
          <a:lstStyle/>
          <a:p>
            <a:pPr>
              <a:lnSpc>
                <a:spcPct val="115000"/>
              </a:lnSpc>
              <a:spcBef>
                <a:spcPts val="0"/>
              </a:spcBef>
              <a:spcAft>
                <a:spcPts val="0"/>
              </a:spcAft>
            </a:pPr>
            <a:r>
              <a:rPr sz="1100" b="0" i="0">
                <a:solidFill>
                  <a:srgbClr val="FFFFFF"/>
                </a:solidFill>
                <a:latin typeface="Calibri"/>
              </a:rPr>
              <a:t>probability over seven emotions</a:t>
            </a:r>
          </a:p>
        </p:txBody>
      </p:sp>
      <p:sp>
        <p:nvSpPr>
          <p:cNvPr id="28" name="Rounded Rectangle 27"/>
          <p:cNvSpPr/>
          <p:nvPr/>
        </p:nvSpPr>
        <p:spPr>
          <a:xfrm>
            <a:off x="7653527" y="1682496"/>
            <a:ext cx="3971239" cy="1188720"/>
          </a:xfrm>
          <a:prstGeom prst="roundRect">
            <a:avLst>
              <a:gd name="adj" fmla="val 9230"/>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9" name="TextBox 28"/>
          <p:cNvSpPr txBox="1"/>
          <p:nvPr/>
        </p:nvSpPr>
        <p:spPr>
          <a:xfrm>
            <a:off x="7927848" y="1920240"/>
            <a:ext cx="3422599" cy="822960"/>
          </a:xfrm>
          <a:prstGeom prst="rect">
            <a:avLst/>
          </a:prstGeom>
          <a:noFill/>
        </p:spPr>
        <p:txBody>
          <a:bodyPr wrap="square" anchor="t" lIns="0" rIns="0" tIns="0" bIns="0">
            <a:spAutoFit/>
          </a:bodyPr>
          <a:lstStyle/>
          <a:p>
            <a:pPr>
              <a:lnSpc>
                <a:spcPct val="115000"/>
              </a:lnSpc>
              <a:spcBef>
                <a:spcPts val="0"/>
              </a:spcBef>
              <a:spcAft>
                <a:spcPts val="200"/>
              </a:spcAft>
            </a:pPr>
            <a:r>
              <a:rPr sz="2500" b="1" i="0">
                <a:solidFill>
                  <a:srgbClr val="F7DF93"/>
                </a:solidFill>
                <a:latin typeface="Bookman Old Style"/>
              </a:rPr>
              <a:t>355,847</a:t>
            </a:r>
          </a:p>
          <a:p>
            <a:pPr>
              <a:lnSpc>
                <a:spcPct val="115000"/>
              </a:lnSpc>
              <a:spcBef>
                <a:spcPts val="0"/>
              </a:spcBef>
              <a:spcAft>
                <a:spcPts val="0"/>
              </a:spcAft>
            </a:pPr>
            <a:r>
              <a:rPr sz="1100" b="0" i="0">
                <a:solidFill>
                  <a:srgbClr val="A9AFCE"/>
                </a:solidFill>
                <a:latin typeface="Calibri"/>
              </a:rPr>
              <a:t>trainable parameters</a:t>
            </a:r>
          </a:p>
        </p:txBody>
      </p:sp>
      <p:sp>
        <p:nvSpPr>
          <p:cNvPr id="30" name="Rounded Rectangle 29"/>
          <p:cNvSpPr/>
          <p:nvPr/>
        </p:nvSpPr>
        <p:spPr>
          <a:xfrm>
            <a:off x="7653527" y="2999232"/>
            <a:ext cx="3971239" cy="1417320"/>
          </a:xfrm>
          <a:prstGeom prst="roundRect">
            <a:avLst>
              <a:gd name="adj" fmla="val 7741"/>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31" name="TextBox 30"/>
          <p:cNvSpPr txBox="1"/>
          <p:nvPr/>
        </p:nvSpPr>
        <p:spPr>
          <a:xfrm>
            <a:off x="7927848" y="3218688"/>
            <a:ext cx="3422599" cy="1005840"/>
          </a:xfrm>
          <a:prstGeom prst="rect">
            <a:avLst/>
          </a:prstGeom>
          <a:noFill/>
        </p:spPr>
        <p:txBody>
          <a:bodyPr wrap="square" anchor="t" lIns="0" rIns="0" tIns="0" bIns="0">
            <a:spAutoFit/>
          </a:bodyPr>
          <a:lstStyle/>
          <a:p>
            <a:pPr>
              <a:lnSpc>
                <a:spcPct val="115000"/>
              </a:lnSpc>
              <a:spcBef>
                <a:spcPts val="0"/>
              </a:spcBef>
              <a:spcAft>
                <a:spcPts val="600"/>
              </a:spcAft>
            </a:pPr>
            <a:r>
              <a:rPr sz="1300" b="1" i="0">
                <a:solidFill>
                  <a:srgbClr val="F5636E"/>
                </a:solidFill>
                <a:latin typeface="Calibri"/>
              </a:rPr>
              <a:t>32 → 64 → 128</a:t>
            </a:r>
          </a:p>
          <a:p>
            <a:pPr>
              <a:lnSpc>
                <a:spcPct val="128000"/>
              </a:lnSpc>
              <a:spcBef>
                <a:spcPts val="0"/>
              </a:spcBef>
              <a:spcAft>
                <a:spcPts val="0"/>
              </a:spcAft>
            </a:pPr>
            <a:r>
              <a:rPr sz="1100" b="0" i="0">
                <a:solidFill>
                  <a:srgbClr val="FFFFFF"/>
                </a:solidFill>
                <a:latin typeface="Calibri"/>
              </a:rPr>
              <a:t>Filter counts double at each stage while pooling halves the spatial resolution — a standard design that trades spatial detail for representational depth.</a:t>
            </a:r>
          </a:p>
        </p:txBody>
      </p:sp>
      <p:sp>
        <p:nvSpPr>
          <p:cNvPr id="32" name="Rounded Rectangle 31"/>
          <p:cNvSpPr/>
          <p:nvPr/>
        </p:nvSpPr>
        <p:spPr>
          <a:xfrm>
            <a:off x="7653527" y="4544568"/>
            <a:ext cx="3971239" cy="1417320"/>
          </a:xfrm>
          <a:prstGeom prst="roundRect">
            <a:avLst>
              <a:gd name="adj" fmla="val 7741"/>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33" name="TextBox 32"/>
          <p:cNvSpPr txBox="1"/>
          <p:nvPr/>
        </p:nvSpPr>
        <p:spPr>
          <a:xfrm>
            <a:off x="7927848" y="4764024"/>
            <a:ext cx="3422599" cy="1005840"/>
          </a:xfrm>
          <a:prstGeom prst="rect">
            <a:avLst/>
          </a:prstGeom>
          <a:noFill/>
        </p:spPr>
        <p:txBody>
          <a:bodyPr wrap="square" anchor="t" lIns="0" rIns="0" tIns="0" bIns="0">
            <a:spAutoFit/>
          </a:bodyPr>
          <a:lstStyle/>
          <a:p>
            <a:pPr>
              <a:lnSpc>
                <a:spcPct val="115000"/>
              </a:lnSpc>
              <a:spcBef>
                <a:spcPts val="0"/>
              </a:spcBef>
              <a:spcAft>
                <a:spcPts val="600"/>
              </a:spcAft>
            </a:pPr>
            <a:r>
              <a:rPr sz="1300" b="1" i="0">
                <a:solidFill>
                  <a:srgbClr val="F5636E"/>
                </a:solidFill>
                <a:latin typeface="Calibri"/>
              </a:rPr>
              <a:t>A single regulariser</a:t>
            </a:r>
          </a:p>
          <a:p>
            <a:pPr>
              <a:lnSpc>
                <a:spcPct val="128000"/>
              </a:lnSpc>
              <a:spcBef>
                <a:spcPts val="0"/>
              </a:spcBef>
              <a:spcAft>
                <a:spcPts val="0"/>
              </a:spcAft>
            </a:pPr>
            <a:r>
              <a:rPr sz="1100" b="0" i="0">
                <a:solidFill>
                  <a:srgbClr val="FFFFFF"/>
                </a:solidFill>
                <a:latin typeface="Calibri"/>
              </a:rPr>
              <a:t>Dropout(0.5) before the classifier is the only explicit regularisation in the network — a point returned to under Limitations.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9</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Training Configuration</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training/train.py</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722376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TextBox 7"/>
          <p:cNvSpPr txBox="1"/>
          <p:nvPr/>
        </p:nvSpPr>
        <p:spPr>
          <a:xfrm>
            <a:off x="822960" y="1682496"/>
            <a:ext cx="2651760" cy="45720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Optimiser</a:t>
            </a:r>
          </a:p>
        </p:txBody>
      </p:sp>
      <p:sp>
        <p:nvSpPr>
          <p:cNvPr id="9" name="TextBox 8"/>
          <p:cNvSpPr txBox="1"/>
          <p:nvPr/>
        </p:nvSpPr>
        <p:spPr>
          <a:xfrm>
            <a:off x="3584448" y="1682496"/>
            <a:ext cx="3977639" cy="457200"/>
          </a:xfrm>
          <a:prstGeom prst="rect">
            <a:avLst/>
          </a:prstGeom>
          <a:noFill/>
        </p:spPr>
        <p:txBody>
          <a:bodyPr wrap="square" anchor="ctr" lIns="0" rIns="0" tIns="0" bIns="0">
            <a:spAutoFit/>
          </a:bodyPr>
          <a:lstStyle/>
          <a:p>
            <a:pPr>
              <a:lnSpc>
                <a:spcPct val="115000"/>
              </a:lnSpc>
              <a:spcBef>
                <a:spcPts val="0"/>
              </a:spcBef>
              <a:spcAft>
                <a:spcPts val="0"/>
              </a:spcAft>
            </a:pPr>
            <a:r>
              <a:rPr sz="1150" b="0" i="0">
                <a:solidFill>
                  <a:srgbClr val="707694"/>
                </a:solidFill>
                <a:latin typeface="Calibri"/>
              </a:rPr>
              <a:t>Adam, default learning rate 0.001</a:t>
            </a:r>
          </a:p>
        </p:txBody>
      </p:sp>
      <p:sp>
        <p:nvSpPr>
          <p:cNvPr id="10" name="Rounded Rectangle 9"/>
          <p:cNvSpPr/>
          <p:nvPr/>
        </p:nvSpPr>
        <p:spPr>
          <a:xfrm>
            <a:off x="566928" y="2231136"/>
            <a:ext cx="722376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1" name="TextBox 10"/>
          <p:cNvSpPr txBox="1"/>
          <p:nvPr/>
        </p:nvSpPr>
        <p:spPr>
          <a:xfrm>
            <a:off x="822960" y="2231136"/>
            <a:ext cx="2651760" cy="45720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Loss function</a:t>
            </a:r>
          </a:p>
        </p:txBody>
      </p:sp>
      <p:sp>
        <p:nvSpPr>
          <p:cNvPr id="12" name="TextBox 11"/>
          <p:cNvSpPr txBox="1"/>
          <p:nvPr/>
        </p:nvSpPr>
        <p:spPr>
          <a:xfrm>
            <a:off x="3584448" y="2231136"/>
            <a:ext cx="3977639" cy="457200"/>
          </a:xfrm>
          <a:prstGeom prst="rect">
            <a:avLst/>
          </a:prstGeom>
          <a:noFill/>
        </p:spPr>
        <p:txBody>
          <a:bodyPr wrap="square" anchor="ctr" lIns="0" rIns="0" tIns="0" bIns="0">
            <a:spAutoFit/>
          </a:bodyPr>
          <a:lstStyle/>
          <a:p>
            <a:pPr>
              <a:lnSpc>
                <a:spcPct val="115000"/>
              </a:lnSpc>
              <a:spcBef>
                <a:spcPts val="0"/>
              </a:spcBef>
              <a:spcAft>
                <a:spcPts val="0"/>
              </a:spcAft>
            </a:pPr>
            <a:r>
              <a:rPr sz="1150" b="0" i="0">
                <a:solidFill>
                  <a:srgbClr val="707694"/>
                </a:solidFill>
                <a:latin typeface="Calibri"/>
              </a:rPr>
              <a:t>Categorical cross-entropy</a:t>
            </a:r>
          </a:p>
        </p:txBody>
      </p:sp>
      <p:sp>
        <p:nvSpPr>
          <p:cNvPr id="13" name="Rounded Rectangle 12"/>
          <p:cNvSpPr/>
          <p:nvPr/>
        </p:nvSpPr>
        <p:spPr>
          <a:xfrm>
            <a:off x="566928" y="2779776"/>
            <a:ext cx="722376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4" name="TextBox 13"/>
          <p:cNvSpPr txBox="1"/>
          <p:nvPr/>
        </p:nvSpPr>
        <p:spPr>
          <a:xfrm>
            <a:off x="822960" y="2779776"/>
            <a:ext cx="2651760" cy="45720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Batch size</a:t>
            </a:r>
          </a:p>
        </p:txBody>
      </p:sp>
      <p:sp>
        <p:nvSpPr>
          <p:cNvPr id="15" name="TextBox 14"/>
          <p:cNvSpPr txBox="1"/>
          <p:nvPr/>
        </p:nvSpPr>
        <p:spPr>
          <a:xfrm>
            <a:off x="3584448" y="2779776"/>
            <a:ext cx="3977639" cy="457200"/>
          </a:xfrm>
          <a:prstGeom prst="rect">
            <a:avLst/>
          </a:prstGeom>
          <a:noFill/>
        </p:spPr>
        <p:txBody>
          <a:bodyPr wrap="square" anchor="ctr" lIns="0" rIns="0" tIns="0" bIns="0">
            <a:spAutoFit/>
          </a:bodyPr>
          <a:lstStyle/>
          <a:p>
            <a:pPr>
              <a:lnSpc>
                <a:spcPct val="115000"/>
              </a:lnSpc>
              <a:spcBef>
                <a:spcPts val="0"/>
              </a:spcBef>
              <a:spcAft>
                <a:spcPts val="0"/>
              </a:spcAft>
            </a:pPr>
            <a:r>
              <a:rPr sz="1150" b="0" i="0">
                <a:solidFill>
                  <a:srgbClr val="707694"/>
                </a:solidFill>
                <a:latin typeface="Calibri"/>
              </a:rPr>
              <a:t>64 images per step</a:t>
            </a:r>
          </a:p>
        </p:txBody>
      </p:sp>
      <p:sp>
        <p:nvSpPr>
          <p:cNvPr id="16" name="Rounded Rectangle 15"/>
          <p:cNvSpPr/>
          <p:nvPr/>
        </p:nvSpPr>
        <p:spPr>
          <a:xfrm>
            <a:off x="566928" y="3328415"/>
            <a:ext cx="722376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7" name="TextBox 16"/>
          <p:cNvSpPr txBox="1"/>
          <p:nvPr/>
        </p:nvSpPr>
        <p:spPr>
          <a:xfrm>
            <a:off x="822960" y="3328415"/>
            <a:ext cx="2651760" cy="45720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Maximum epochs</a:t>
            </a:r>
          </a:p>
        </p:txBody>
      </p:sp>
      <p:sp>
        <p:nvSpPr>
          <p:cNvPr id="18" name="TextBox 17"/>
          <p:cNvSpPr txBox="1"/>
          <p:nvPr/>
        </p:nvSpPr>
        <p:spPr>
          <a:xfrm>
            <a:off x="3584448" y="3328415"/>
            <a:ext cx="3977639" cy="457200"/>
          </a:xfrm>
          <a:prstGeom prst="rect">
            <a:avLst/>
          </a:prstGeom>
          <a:noFill/>
        </p:spPr>
        <p:txBody>
          <a:bodyPr wrap="square" anchor="ctr" lIns="0" rIns="0" tIns="0" bIns="0">
            <a:spAutoFit/>
          </a:bodyPr>
          <a:lstStyle/>
          <a:p>
            <a:pPr>
              <a:lnSpc>
                <a:spcPct val="115000"/>
              </a:lnSpc>
              <a:spcBef>
                <a:spcPts val="0"/>
              </a:spcBef>
              <a:spcAft>
                <a:spcPts val="0"/>
              </a:spcAft>
            </a:pPr>
            <a:r>
              <a:rPr sz="1150" b="0" i="0">
                <a:solidFill>
                  <a:srgbClr val="707694"/>
                </a:solidFill>
                <a:latin typeface="Calibri"/>
              </a:rPr>
              <a:t>50</a:t>
            </a:r>
          </a:p>
        </p:txBody>
      </p:sp>
      <p:sp>
        <p:nvSpPr>
          <p:cNvPr id="19" name="Rounded Rectangle 18"/>
          <p:cNvSpPr/>
          <p:nvPr/>
        </p:nvSpPr>
        <p:spPr>
          <a:xfrm>
            <a:off x="566928" y="3877056"/>
            <a:ext cx="722376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0" name="TextBox 19"/>
          <p:cNvSpPr txBox="1"/>
          <p:nvPr/>
        </p:nvSpPr>
        <p:spPr>
          <a:xfrm>
            <a:off x="822960" y="3877056"/>
            <a:ext cx="2651760" cy="45720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Validation split</a:t>
            </a:r>
          </a:p>
        </p:txBody>
      </p:sp>
      <p:sp>
        <p:nvSpPr>
          <p:cNvPr id="21" name="TextBox 20"/>
          <p:cNvSpPr txBox="1"/>
          <p:nvPr/>
        </p:nvSpPr>
        <p:spPr>
          <a:xfrm>
            <a:off x="3584448" y="3877056"/>
            <a:ext cx="3977639" cy="457200"/>
          </a:xfrm>
          <a:prstGeom prst="rect">
            <a:avLst/>
          </a:prstGeom>
          <a:noFill/>
        </p:spPr>
        <p:txBody>
          <a:bodyPr wrap="square" anchor="ctr" lIns="0" rIns="0" tIns="0" bIns="0">
            <a:spAutoFit/>
          </a:bodyPr>
          <a:lstStyle/>
          <a:p>
            <a:pPr>
              <a:lnSpc>
                <a:spcPct val="115000"/>
              </a:lnSpc>
              <a:spcBef>
                <a:spcPts val="0"/>
              </a:spcBef>
              <a:spcAft>
                <a:spcPts val="0"/>
              </a:spcAft>
            </a:pPr>
            <a:r>
              <a:rPr sz="1150" b="0" i="0">
                <a:solidFill>
                  <a:srgbClr val="707694"/>
                </a:solidFill>
                <a:latin typeface="Calibri"/>
              </a:rPr>
              <a:t>20% of the training set, stratified, random_state = 42</a:t>
            </a:r>
          </a:p>
        </p:txBody>
      </p:sp>
      <p:sp>
        <p:nvSpPr>
          <p:cNvPr id="22" name="Rounded Rectangle 21"/>
          <p:cNvSpPr/>
          <p:nvPr/>
        </p:nvSpPr>
        <p:spPr>
          <a:xfrm>
            <a:off x="566928" y="4425696"/>
            <a:ext cx="722376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3" name="TextBox 22"/>
          <p:cNvSpPr txBox="1"/>
          <p:nvPr/>
        </p:nvSpPr>
        <p:spPr>
          <a:xfrm>
            <a:off x="822960" y="4425696"/>
            <a:ext cx="2651760" cy="45720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Early stopping</a:t>
            </a:r>
          </a:p>
        </p:txBody>
      </p:sp>
      <p:sp>
        <p:nvSpPr>
          <p:cNvPr id="24" name="TextBox 23"/>
          <p:cNvSpPr txBox="1"/>
          <p:nvPr/>
        </p:nvSpPr>
        <p:spPr>
          <a:xfrm>
            <a:off x="3584448" y="4425696"/>
            <a:ext cx="3977639" cy="457200"/>
          </a:xfrm>
          <a:prstGeom prst="rect">
            <a:avLst/>
          </a:prstGeom>
          <a:noFill/>
        </p:spPr>
        <p:txBody>
          <a:bodyPr wrap="square" anchor="ctr" lIns="0" rIns="0" tIns="0" bIns="0">
            <a:spAutoFit/>
          </a:bodyPr>
          <a:lstStyle/>
          <a:p>
            <a:pPr>
              <a:lnSpc>
                <a:spcPct val="115000"/>
              </a:lnSpc>
              <a:spcBef>
                <a:spcPts val="0"/>
              </a:spcBef>
              <a:spcAft>
                <a:spcPts val="0"/>
              </a:spcAft>
            </a:pPr>
            <a:r>
              <a:rPr sz="1150" b="0" i="0">
                <a:solidFill>
                  <a:srgbClr val="707694"/>
                </a:solidFill>
                <a:latin typeface="Calibri"/>
              </a:rPr>
              <a:t>Monitor val_loss, patience 10, restore best weights</a:t>
            </a:r>
          </a:p>
        </p:txBody>
      </p:sp>
      <p:sp>
        <p:nvSpPr>
          <p:cNvPr id="25" name="Rounded Rectangle 24"/>
          <p:cNvSpPr/>
          <p:nvPr/>
        </p:nvSpPr>
        <p:spPr>
          <a:xfrm>
            <a:off x="566928" y="4974336"/>
            <a:ext cx="722376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6" name="TextBox 25"/>
          <p:cNvSpPr txBox="1"/>
          <p:nvPr/>
        </p:nvSpPr>
        <p:spPr>
          <a:xfrm>
            <a:off x="822960" y="4974336"/>
            <a:ext cx="2651760" cy="45720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Learning-rate reduction</a:t>
            </a:r>
          </a:p>
        </p:txBody>
      </p:sp>
      <p:sp>
        <p:nvSpPr>
          <p:cNvPr id="27" name="TextBox 26"/>
          <p:cNvSpPr txBox="1"/>
          <p:nvPr/>
        </p:nvSpPr>
        <p:spPr>
          <a:xfrm>
            <a:off x="3584448" y="4974336"/>
            <a:ext cx="3977639" cy="457200"/>
          </a:xfrm>
          <a:prstGeom prst="rect">
            <a:avLst/>
          </a:prstGeom>
          <a:noFill/>
        </p:spPr>
        <p:txBody>
          <a:bodyPr wrap="square" anchor="ctr" lIns="0" rIns="0" tIns="0" bIns="0">
            <a:spAutoFit/>
          </a:bodyPr>
          <a:lstStyle/>
          <a:p>
            <a:pPr>
              <a:lnSpc>
                <a:spcPct val="115000"/>
              </a:lnSpc>
              <a:spcBef>
                <a:spcPts val="0"/>
              </a:spcBef>
              <a:spcAft>
                <a:spcPts val="0"/>
              </a:spcAft>
            </a:pPr>
            <a:r>
              <a:rPr sz="1150" b="0" i="0">
                <a:solidFill>
                  <a:srgbClr val="707694"/>
                </a:solidFill>
                <a:latin typeface="Calibri"/>
              </a:rPr>
              <a:t>Factor 0.5, patience 5, minimum 1e-5</a:t>
            </a:r>
          </a:p>
        </p:txBody>
      </p:sp>
      <p:sp>
        <p:nvSpPr>
          <p:cNvPr id="28" name="Rounded Rectangle 27"/>
          <p:cNvSpPr/>
          <p:nvPr/>
        </p:nvSpPr>
        <p:spPr>
          <a:xfrm>
            <a:off x="566928" y="5522976"/>
            <a:ext cx="7223760" cy="457200"/>
          </a:xfrm>
          <a:prstGeom prst="roundRect">
            <a:avLst>
              <a:gd name="adj" fmla="val 1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9" name="TextBox 28"/>
          <p:cNvSpPr txBox="1"/>
          <p:nvPr/>
        </p:nvSpPr>
        <p:spPr>
          <a:xfrm>
            <a:off x="822960" y="5522976"/>
            <a:ext cx="2651760" cy="45720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Checkpointing</a:t>
            </a:r>
          </a:p>
        </p:txBody>
      </p:sp>
      <p:sp>
        <p:nvSpPr>
          <p:cNvPr id="30" name="TextBox 29"/>
          <p:cNvSpPr txBox="1"/>
          <p:nvPr/>
        </p:nvSpPr>
        <p:spPr>
          <a:xfrm>
            <a:off x="3584448" y="5522976"/>
            <a:ext cx="3977639" cy="457200"/>
          </a:xfrm>
          <a:prstGeom prst="rect">
            <a:avLst/>
          </a:prstGeom>
          <a:noFill/>
        </p:spPr>
        <p:txBody>
          <a:bodyPr wrap="square" anchor="ctr" lIns="0" rIns="0" tIns="0" bIns="0">
            <a:spAutoFit/>
          </a:bodyPr>
          <a:lstStyle/>
          <a:p>
            <a:pPr>
              <a:lnSpc>
                <a:spcPct val="115000"/>
              </a:lnSpc>
              <a:spcBef>
                <a:spcPts val="0"/>
              </a:spcBef>
              <a:spcAft>
                <a:spcPts val="0"/>
              </a:spcAft>
            </a:pPr>
            <a:r>
              <a:rPr sz="1150" b="0" i="0">
                <a:solidFill>
                  <a:srgbClr val="707694"/>
                </a:solidFill>
                <a:latin typeface="Calibri"/>
              </a:rPr>
              <a:t>Save the best model by val_accuracy</a:t>
            </a:r>
          </a:p>
        </p:txBody>
      </p:sp>
      <p:sp>
        <p:nvSpPr>
          <p:cNvPr id="31" name="Rounded Rectangle 30"/>
          <p:cNvSpPr/>
          <p:nvPr/>
        </p:nvSpPr>
        <p:spPr>
          <a:xfrm>
            <a:off x="8156448" y="1682496"/>
            <a:ext cx="3468319" cy="2011680"/>
          </a:xfrm>
          <a:prstGeom prst="roundRect">
            <a:avLst>
              <a:gd name="adj" fmla="val 6363"/>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32" name="TextBox 31"/>
          <p:cNvSpPr txBox="1"/>
          <p:nvPr/>
        </p:nvSpPr>
        <p:spPr>
          <a:xfrm>
            <a:off x="8449056" y="1956816"/>
            <a:ext cx="2883103" cy="1554480"/>
          </a:xfrm>
          <a:prstGeom prst="rect">
            <a:avLst/>
          </a:prstGeom>
          <a:noFill/>
        </p:spPr>
        <p:txBody>
          <a:bodyPr wrap="square" anchor="t" lIns="0" rIns="0" tIns="0" bIns="0">
            <a:spAutoFit/>
          </a:bodyPr>
          <a:lstStyle/>
          <a:p>
            <a:pPr>
              <a:lnSpc>
                <a:spcPct val="115000"/>
              </a:lnSpc>
              <a:spcBef>
                <a:spcPts val="0"/>
              </a:spcBef>
              <a:spcAft>
                <a:spcPts val="800"/>
              </a:spcAft>
            </a:pPr>
            <a:r>
              <a:rPr sz="1400" b="1" i="0">
                <a:solidFill>
                  <a:srgbClr val="F7DF93"/>
                </a:solidFill>
                <a:latin typeface="Bookman Old Style"/>
              </a:rPr>
              <a:t>Why stratify?</a:t>
            </a:r>
          </a:p>
          <a:p>
            <a:pPr>
              <a:lnSpc>
                <a:spcPct val="130000"/>
              </a:lnSpc>
              <a:spcBef>
                <a:spcPts val="0"/>
              </a:spcBef>
              <a:spcAft>
                <a:spcPts val="0"/>
              </a:spcAft>
            </a:pPr>
            <a:r>
              <a:rPr sz="1150" b="0" i="0">
                <a:solidFill>
                  <a:srgbClr val="FFFFFF"/>
                </a:solidFill>
                <a:latin typeface="Calibri"/>
              </a:rPr>
              <a:t>The stratified split preserves the class proportions of the full dataset in both the training and validation partitions, so validation metrics are not distorted by sampling.</a:t>
            </a:r>
          </a:p>
        </p:txBody>
      </p:sp>
      <p:sp>
        <p:nvSpPr>
          <p:cNvPr id="33" name="Rounded Rectangle 32"/>
          <p:cNvSpPr/>
          <p:nvPr/>
        </p:nvSpPr>
        <p:spPr>
          <a:xfrm>
            <a:off x="8156448" y="3877056"/>
            <a:ext cx="3468319" cy="2011680"/>
          </a:xfrm>
          <a:prstGeom prst="roundRect">
            <a:avLst>
              <a:gd name="adj" fmla="val 636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34" name="TextBox 33"/>
          <p:cNvSpPr txBox="1"/>
          <p:nvPr/>
        </p:nvSpPr>
        <p:spPr>
          <a:xfrm>
            <a:off x="8449056" y="4151376"/>
            <a:ext cx="2883103" cy="1554480"/>
          </a:xfrm>
          <a:prstGeom prst="rect">
            <a:avLst/>
          </a:prstGeom>
          <a:noFill/>
        </p:spPr>
        <p:txBody>
          <a:bodyPr wrap="square" anchor="t" lIns="0" rIns="0" tIns="0" bIns="0">
            <a:spAutoFit/>
          </a:bodyPr>
          <a:lstStyle/>
          <a:p>
            <a:pPr>
              <a:lnSpc>
                <a:spcPct val="115000"/>
              </a:lnSpc>
              <a:spcBef>
                <a:spcPts val="0"/>
              </a:spcBef>
              <a:spcAft>
                <a:spcPts val="800"/>
              </a:spcAft>
            </a:pPr>
            <a:r>
              <a:rPr sz="1400" b="1" i="0">
                <a:solidFill>
                  <a:srgbClr val="F5636E"/>
                </a:solidFill>
                <a:latin typeface="Bookman Old Style"/>
              </a:rPr>
              <a:t>Why early stopping?</a:t>
            </a:r>
          </a:p>
          <a:p>
            <a:pPr>
              <a:lnSpc>
                <a:spcPct val="130000"/>
              </a:lnSpc>
              <a:spcBef>
                <a:spcPts val="0"/>
              </a:spcBef>
              <a:spcAft>
                <a:spcPts val="0"/>
              </a:spcAft>
            </a:pPr>
            <a:r>
              <a:rPr sz="1150" b="0" i="0">
                <a:solidFill>
                  <a:srgbClr val="707694"/>
                </a:solidFill>
                <a:latin typeface="Calibri"/>
              </a:rPr>
              <a:t>Training was permitted to run for 50 epochs but was halted automatically at epoch 19, with the best weights restored — the network had already begun to overfit.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10</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Training Behaviour</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What the learning curves reveal</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2641015" cy="877824"/>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Rectangle 7"/>
          <p:cNvSpPr/>
          <p:nvPr/>
        </p:nvSpPr>
        <p:spPr>
          <a:xfrm>
            <a:off x="566928" y="1682496"/>
            <a:ext cx="2641015" cy="4572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9" name="TextBox 8"/>
          <p:cNvSpPr txBox="1"/>
          <p:nvPr/>
        </p:nvSpPr>
        <p:spPr>
          <a:xfrm>
            <a:off x="768096" y="1828800"/>
            <a:ext cx="2238679" cy="274320"/>
          </a:xfrm>
          <a:prstGeom prst="rect">
            <a:avLst/>
          </a:prstGeom>
          <a:noFill/>
        </p:spPr>
        <p:txBody>
          <a:bodyPr wrap="square" anchor="t" lIns="0" rIns="0" tIns="0" bIns="0">
            <a:spAutoFit/>
          </a:bodyPr>
          <a:lstStyle/>
          <a:p>
            <a:pPr>
              <a:lnSpc>
                <a:spcPct val="115000"/>
              </a:lnSpc>
              <a:spcBef>
                <a:spcPts val="0"/>
              </a:spcBef>
              <a:spcAft>
                <a:spcPts val="0"/>
              </a:spcAft>
            </a:pPr>
            <a:r>
              <a:rPr sz="1450" b="1" i="0">
                <a:solidFill>
                  <a:srgbClr val="262B4A"/>
                </a:solidFill>
                <a:latin typeface="Bookman Old Style"/>
              </a:rPr>
              <a:t>Epoch 19 / 50</a:t>
            </a:r>
          </a:p>
        </p:txBody>
      </p:sp>
      <p:sp>
        <p:nvSpPr>
          <p:cNvPr id="10" name="TextBox 9"/>
          <p:cNvSpPr txBox="1"/>
          <p:nvPr/>
        </p:nvSpPr>
        <p:spPr>
          <a:xfrm>
            <a:off x="768096" y="2157984"/>
            <a:ext cx="2238679" cy="384048"/>
          </a:xfrm>
          <a:prstGeom prst="rect">
            <a:avLst/>
          </a:prstGeom>
          <a:noFill/>
        </p:spPr>
        <p:txBody>
          <a:bodyPr wrap="square" anchor="t" lIns="0" rIns="0" tIns="0" bIns="0">
            <a:spAutoFit/>
          </a:bodyPr>
          <a:lstStyle/>
          <a:p>
            <a:pPr>
              <a:lnSpc>
                <a:spcPct val="118000"/>
              </a:lnSpc>
              <a:spcBef>
                <a:spcPts val="0"/>
              </a:spcBef>
              <a:spcAft>
                <a:spcPts val="0"/>
              </a:spcAft>
            </a:pPr>
            <a:r>
              <a:rPr sz="1000" b="0" i="0">
                <a:solidFill>
                  <a:srgbClr val="707694"/>
                </a:solidFill>
                <a:latin typeface="Calibri"/>
              </a:rPr>
              <a:t>Early stopping fired; best weights restored</a:t>
            </a:r>
          </a:p>
        </p:txBody>
      </p:sp>
      <p:sp>
        <p:nvSpPr>
          <p:cNvPr id="11" name="Rounded Rectangle 10"/>
          <p:cNvSpPr/>
          <p:nvPr/>
        </p:nvSpPr>
        <p:spPr>
          <a:xfrm>
            <a:off x="3372535" y="1682496"/>
            <a:ext cx="2641015" cy="877824"/>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Rectangle 11"/>
          <p:cNvSpPr/>
          <p:nvPr/>
        </p:nvSpPr>
        <p:spPr>
          <a:xfrm>
            <a:off x="3372535" y="1682496"/>
            <a:ext cx="2641015" cy="4572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TextBox 12"/>
          <p:cNvSpPr txBox="1"/>
          <p:nvPr/>
        </p:nvSpPr>
        <p:spPr>
          <a:xfrm>
            <a:off x="3573703" y="1828800"/>
            <a:ext cx="2238679" cy="274320"/>
          </a:xfrm>
          <a:prstGeom prst="rect">
            <a:avLst/>
          </a:prstGeom>
          <a:noFill/>
        </p:spPr>
        <p:txBody>
          <a:bodyPr wrap="square" anchor="t" lIns="0" rIns="0" tIns="0" bIns="0">
            <a:spAutoFit/>
          </a:bodyPr>
          <a:lstStyle/>
          <a:p>
            <a:pPr>
              <a:lnSpc>
                <a:spcPct val="115000"/>
              </a:lnSpc>
              <a:spcBef>
                <a:spcPts val="0"/>
              </a:spcBef>
              <a:spcAft>
                <a:spcPts val="0"/>
              </a:spcAft>
            </a:pPr>
            <a:r>
              <a:rPr sz="1450" b="1" i="0">
                <a:solidFill>
                  <a:srgbClr val="262B4A"/>
                </a:solidFill>
                <a:latin typeface="Bookman Old Style"/>
              </a:rPr>
              <a:t>≈ 72%</a:t>
            </a:r>
          </a:p>
        </p:txBody>
      </p:sp>
      <p:sp>
        <p:nvSpPr>
          <p:cNvPr id="14" name="TextBox 13"/>
          <p:cNvSpPr txBox="1"/>
          <p:nvPr/>
        </p:nvSpPr>
        <p:spPr>
          <a:xfrm>
            <a:off x="3573703" y="2157984"/>
            <a:ext cx="2238679" cy="384048"/>
          </a:xfrm>
          <a:prstGeom prst="rect">
            <a:avLst/>
          </a:prstGeom>
          <a:noFill/>
        </p:spPr>
        <p:txBody>
          <a:bodyPr wrap="square" anchor="t" lIns="0" rIns="0" tIns="0" bIns="0">
            <a:spAutoFit/>
          </a:bodyPr>
          <a:lstStyle/>
          <a:p>
            <a:pPr>
              <a:lnSpc>
                <a:spcPct val="118000"/>
              </a:lnSpc>
              <a:spcBef>
                <a:spcPts val="0"/>
              </a:spcBef>
              <a:spcAft>
                <a:spcPts val="0"/>
              </a:spcAft>
            </a:pPr>
            <a:r>
              <a:rPr sz="1000" b="0" i="0">
                <a:solidFill>
                  <a:srgbClr val="707694"/>
                </a:solidFill>
                <a:latin typeface="Calibri"/>
              </a:rPr>
              <a:t>Final training accuracy</a:t>
            </a:r>
          </a:p>
        </p:txBody>
      </p:sp>
      <p:sp>
        <p:nvSpPr>
          <p:cNvPr id="15" name="Rounded Rectangle 14"/>
          <p:cNvSpPr/>
          <p:nvPr/>
        </p:nvSpPr>
        <p:spPr>
          <a:xfrm>
            <a:off x="6178143" y="1682496"/>
            <a:ext cx="2641015" cy="877824"/>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6" name="Rectangle 15"/>
          <p:cNvSpPr/>
          <p:nvPr/>
        </p:nvSpPr>
        <p:spPr>
          <a:xfrm>
            <a:off x="6178143" y="1682496"/>
            <a:ext cx="2641015" cy="4572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7" name="TextBox 16"/>
          <p:cNvSpPr txBox="1"/>
          <p:nvPr/>
        </p:nvSpPr>
        <p:spPr>
          <a:xfrm>
            <a:off x="6379311" y="1828800"/>
            <a:ext cx="2238679" cy="274320"/>
          </a:xfrm>
          <a:prstGeom prst="rect">
            <a:avLst/>
          </a:prstGeom>
          <a:noFill/>
        </p:spPr>
        <p:txBody>
          <a:bodyPr wrap="square" anchor="t" lIns="0" rIns="0" tIns="0" bIns="0">
            <a:spAutoFit/>
          </a:bodyPr>
          <a:lstStyle/>
          <a:p>
            <a:pPr>
              <a:lnSpc>
                <a:spcPct val="115000"/>
              </a:lnSpc>
              <a:spcBef>
                <a:spcPts val="0"/>
              </a:spcBef>
              <a:spcAft>
                <a:spcPts val="0"/>
              </a:spcAft>
            </a:pPr>
            <a:r>
              <a:rPr sz="1450" b="1" i="0">
                <a:solidFill>
                  <a:srgbClr val="262B4A"/>
                </a:solidFill>
                <a:latin typeface="Bookman Old Style"/>
              </a:rPr>
              <a:t>≈ 56%</a:t>
            </a:r>
          </a:p>
        </p:txBody>
      </p:sp>
      <p:sp>
        <p:nvSpPr>
          <p:cNvPr id="18" name="TextBox 17"/>
          <p:cNvSpPr txBox="1"/>
          <p:nvPr/>
        </p:nvSpPr>
        <p:spPr>
          <a:xfrm>
            <a:off x="6379311" y="2157984"/>
            <a:ext cx="2238679" cy="384048"/>
          </a:xfrm>
          <a:prstGeom prst="rect">
            <a:avLst/>
          </a:prstGeom>
          <a:noFill/>
        </p:spPr>
        <p:txBody>
          <a:bodyPr wrap="square" anchor="t" lIns="0" rIns="0" tIns="0" bIns="0">
            <a:spAutoFit/>
          </a:bodyPr>
          <a:lstStyle/>
          <a:p>
            <a:pPr>
              <a:lnSpc>
                <a:spcPct val="118000"/>
              </a:lnSpc>
              <a:spcBef>
                <a:spcPts val="0"/>
              </a:spcBef>
              <a:spcAft>
                <a:spcPts val="0"/>
              </a:spcAft>
            </a:pPr>
            <a:r>
              <a:rPr sz="1000" b="0" i="0">
                <a:solidFill>
                  <a:srgbClr val="707694"/>
                </a:solidFill>
                <a:latin typeface="Calibri"/>
              </a:rPr>
              <a:t>Validation accuracy — plateaued and flat</a:t>
            </a:r>
          </a:p>
        </p:txBody>
      </p:sp>
      <p:sp>
        <p:nvSpPr>
          <p:cNvPr id="19" name="Rounded Rectangle 18"/>
          <p:cNvSpPr/>
          <p:nvPr/>
        </p:nvSpPr>
        <p:spPr>
          <a:xfrm>
            <a:off x="8983751" y="1682496"/>
            <a:ext cx="2641015" cy="877824"/>
          </a:xfrm>
          <a:prstGeom prst="roundRect">
            <a:avLst>
              <a:gd name="adj" fmla="val 125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0" name="Rectangle 19"/>
          <p:cNvSpPr/>
          <p:nvPr/>
        </p:nvSpPr>
        <p:spPr>
          <a:xfrm>
            <a:off x="8983751" y="1682496"/>
            <a:ext cx="2641015" cy="4572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1" name="TextBox 20"/>
          <p:cNvSpPr txBox="1"/>
          <p:nvPr/>
        </p:nvSpPr>
        <p:spPr>
          <a:xfrm>
            <a:off x="9184919" y="1828800"/>
            <a:ext cx="2238679" cy="274320"/>
          </a:xfrm>
          <a:prstGeom prst="rect">
            <a:avLst/>
          </a:prstGeom>
          <a:noFill/>
        </p:spPr>
        <p:txBody>
          <a:bodyPr wrap="square" anchor="t" lIns="0" rIns="0" tIns="0" bIns="0">
            <a:spAutoFit/>
          </a:bodyPr>
          <a:lstStyle/>
          <a:p>
            <a:pPr>
              <a:lnSpc>
                <a:spcPct val="115000"/>
              </a:lnSpc>
              <a:spcBef>
                <a:spcPts val="0"/>
              </a:spcBef>
              <a:spcAft>
                <a:spcPts val="0"/>
              </a:spcAft>
            </a:pPr>
            <a:r>
              <a:rPr sz="1450" b="1" i="0">
                <a:solidFill>
                  <a:srgbClr val="262B4A"/>
                </a:solidFill>
                <a:latin typeface="Bookman Old Style"/>
              </a:rPr>
              <a:t>Epoch 8</a:t>
            </a:r>
          </a:p>
        </p:txBody>
      </p:sp>
      <p:sp>
        <p:nvSpPr>
          <p:cNvPr id="22" name="TextBox 21"/>
          <p:cNvSpPr txBox="1"/>
          <p:nvPr/>
        </p:nvSpPr>
        <p:spPr>
          <a:xfrm>
            <a:off x="9184919" y="2157984"/>
            <a:ext cx="2238679" cy="384048"/>
          </a:xfrm>
          <a:prstGeom prst="rect">
            <a:avLst/>
          </a:prstGeom>
          <a:noFill/>
        </p:spPr>
        <p:txBody>
          <a:bodyPr wrap="square" anchor="t" lIns="0" rIns="0" tIns="0" bIns="0">
            <a:spAutoFit/>
          </a:bodyPr>
          <a:lstStyle/>
          <a:p>
            <a:pPr>
              <a:lnSpc>
                <a:spcPct val="118000"/>
              </a:lnSpc>
              <a:spcBef>
                <a:spcPts val="0"/>
              </a:spcBef>
              <a:spcAft>
                <a:spcPts val="0"/>
              </a:spcAft>
            </a:pPr>
            <a:r>
              <a:rPr sz="1000" b="0" i="0">
                <a:solidFill>
                  <a:srgbClr val="707694"/>
                </a:solidFill>
                <a:latin typeface="Calibri"/>
              </a:rPr>
              <a:t>Validation loss bottoms at ≈1.20, then rises to ≈1.29</a:t>
            </a:r>
          </a:p>
        </p:txBody>
      </p:sp>
      <p:pic>
        <p:nvPicPr>
          <p:cNvPr id="23" name="Picture 22" descr="training_history.png"/>
          <p:cNvPicPr>
            <a:picLocks noChangeAspect="1"/>
          </p:cNvPicPr>
          <p:nvPr/>
        </p:nvPicPr>
        <p:blipFill>
          <a:blip r:embed="rId2"/>
          <a:stretch>
            <a:fillRect/>
          </a:stretch>
        </p:blipFill>
        <p:spPr>
          <a:xfrm>
            <a:off x="1686016" y="2651760"/>
            <a:ext cx="8819662" cy="2880360"/>
          </a:xfrm>
          <a:prstGeom prst="rect">
            <a:avLst/>
          </a:prstGeom>
        </p:spPr>
      </p:pic>
      <p:sp>
        <p:nvSpPr>
          <p:cNvPr id="24" name="Rounded Rectangle 23"/>
          <p:cNvSpPr/>
          <p:nvPr/>
        </p:nvSpPr>
        <p:spPr>
          <a:xfrm>
            <a:off x="566928" y="5632704"/>
            <a:ext cx="11057839" cy="621792"/>
          </a:xfrm>
          <a:prstGeom prst="roundRect">
            <a:avLst>
              <a:gd name="adj" fmla="val 14705"/>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5" name="Rectangle 24"/>
          <p:cNvSpPr/>
          <p:nvPr/>
        </p:nvSpPr>
        <p:spPr>
          <a:xfrm>
            <a:off x="566928" y="5632704"/>
            <a:ext cx="64008" cy="621792"/>
          </a:xfrm>
          <a:prstGeom prst="rect">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6" name="TextBox 25"/>
          <p:cNvSpPr txBox="1"/>
          <p:nvPr/>
        </p:nvSpPr>
        <p:spPr>
          <a:xfrm>
            <a:off x="932688" y="5632704"/>
            <a:ext cx="10326319" cy="621792"/>
          </a:xfrm>
          <a:prstGeom prst="rect">
            <a:avLst/>
          </a:prstGeom>
          <a:noFill/>
        </p:spPr>
        <p:txBody>
          <a:bodyPr wrap="square" anchor="ctr" lIns="0" rIns="0" tIns="0" bIns="0">
            <a:spAutoFit/>
          </a:bodyPr>
          <a:lstStyle/>
          <a:p>
            <a:pPr>
              <a:lnSpc>
                <a:spcPct val="125000"/>
              </a:lnSpc>
              <a:spcBef>
                <a:spcPts val="0"/>
              </a:spcBef>
              <a:spcAft>
                <a:spcPts val="0"/>
              </a:spcAft>
            </a:pPr>
            <a:r>
              <a:rPr sz="1150" b="0" i="0">
                <a:solidFill>
                  <a:srgbClr val="FFFFFF"/>
                </a:solidFill>
                <a:latin typeface="Calibri"/>
              </a:rPr>
              <a:t>A rising validation loss alongside a falling training loss is the textbook signature of overfitting: beyond roughly epoch 8 the network is memorising training examples rather than learning generalisable features.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11</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Results — Overall Performance</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F7DF93"/>
                </a:solidFill>
                <a:latin typeface="Calibri"/>
              </a:rPr>
              <a:t>Evaluated on the complete 7,178-image test set, disjoint from training and validation</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4206240" cy="2331720"/>
          </a:xfrm>
          <a:prstGeom prst="roundRect">
            <a:avLst>
              <a:gd name="adj" fmla="val 6274"/>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TextBox 7"/>
          <p:cNvSpPr txBox="1"/>
          <p:nvPr/>
        </p:nvSpPr>
        <p:spPr>
          <a:xfrm>
            <a:off x="566928" y="2066544"/>
            <a:ext cx="4206240" cy="914400"/>
          </a:xfrm>
          <a:prstGeom prst="rect">
            <a:avLst/>
          </a:prstGeom>
          <a:noFill/>
        </p:spPr>
        <p:txBody>
          <a:bodyPr wrap="square" anchor="t" lIns="0" rIns="0" tIns="0" bIns="0">
            <a:spAutoFit/>
          </a:bodyPr>
          <a:lstStyle/>
          <a:p>
            <a:pPr algn="ctr">
              <a:lnSpc>
                <a:spcPct val="115000"/>
              </a:lnSpc>
              <a:spcBef>
                <a:spcPts val="0"/>
              </a:spcBef>
              <a:spcAft>
                <a:spcPts val="0"/>
              </a:spcAft>
            </a:pPr>
            <a:r>
              <a:rPr sz="5200" b="1" i="0">
                <a:solidFill>
                  <a:srgbClr val="FFFFFF"/>
                </a:solidFill>
                <a:latin typeface="Bookman Old Style"/>
              </a:rPr>
              <a:t>57.09%</a:t>
            </a:r>
          </a:p>
        </p:txBody>
      </p:sp>
      <p:sp>
        <p:nvSpPr>
          <p:cNvPr id="9" name="TextBox 8"/>
          <p:cNvSpPr txBox="1"/>
          <p:nvPr/>
        </p:nvSpPr>
        <p:spPr>
          <a:xfrm>
            <a:off x="566928" y="3163824"/>
            <a:ext cx="4206240" cy="548640"/>
          </a:xfrm>
          <a:prstGeom prst="rect">
            <a:avLst/>
          </a:prstGeom>
          <a:noFill/>
        </p:spPr>
        <p:txBody>
          <a:bodyPr wrap="square" anchor="t" lIns="0" rIns="0" tIns="0" bIns="0">
            <a:spAutoFit/>
          </a:bodyPr>
          <a:lstStyle/>
          <a:p>
            <a:pPr algn="ctr">
              <a:lnSpc>
                <a:spcPct val="130000"/>
              </a:lnSpc>
              <a:spcBef>
                <a:spcPts val="0"/>
              </a:spcBef>
              <a:spcAft>
                <a:spcPts val="0"/>
              </a:spcAft>
            </a:pPr>
            <a:r>
              <a:rPr sz="1250" b="0" i="0">
                <a:solidFill>
                  <a:srgbClr val="FFFFFF"/>
                </a:solidFill>
                <a:latin typeface="Calibri"/>
              </a:rPr>
              <a:t>Test accuracy across seven classes
on 7,178 unseen images</a:t>
            </a:r>
          </a:p>
        </p:txBody>
      </p:sp>
      <p:sp>
        <p:nvSpPr>
          <p:cNvPr id="10" name="Rounded Rectangle 9"/>
          <p:cNvSpPr/>
          <p:nvPr/>
        </p:nvSpPr>
        <p:spPr>
          <a:xfrm>
            <a:off x="5047488" y="1682496"/>
            <a:ext cx="1920240" cy="2331720"/>
          </a:xfrm>
          <a:prstGeom prst="roundRect">
            <a:avLst>
              <a:gd name="adj" fmla="val 7619"/>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1" name="TextBox 10"/>
          <p:cNvSpPr txBox="1"/>
          <p:nvPr/>
        </p:nvSpPr>
        <p:spPr>
          <a:xfrm>
            <a:off x="5047488" y="2432304"/>
            <a:ext cx="1920240" cy="457200"/>
          </a:xfrm>
          <a:prstGeom prst="rect">
            <a:avLst/>
          </a:prstGeom>
          <a:noFill/>
        </p:spPr>
        <p:txBody>
          <a:bodyPr wrap="square" anchor="t" lIns="0" rIns="0" tIns="0" bIns="0">
            <a:spAutoFit/>
          </a:bodyPr>
          <a:lstStyle/>
          <a:p>
            <a:pPr algn="ctr">
              <a:lnSpc>
                <a:spcPct val="115000"/>
              </a:lnSpc>
              <a:spcBef>
                <a:spcPts val="0"/>
              </a:spcBef>
              <a:spcAft>
                <a:spcPts val="0"/>
              </a:spcAft>
            </a:pPr>
            <a:r>
              <a:rPr sz="2600" b="1" i="0">
                <a:solidFill>
                  <a:srgbClr val="F7DF93"/>
                </a:solidFill>
                <a:latin typeface="Bookman Old Style"/>
              </a:rPr>
              <a:t>0.514</a:t>
            </a:r>
          </a:p>
        </p:txBody>
      </p:sp>
      <p:sp>
        <p:nvSpPr>
          <p:cNvPr id="12" name="TextBox 11"/>
          <p:cNvSpPr txBox="1"/>
          <p:nvPr/>
        </p:nvSpPr>
        <p:spPr>
          <a:xfrm>
            <a:off x="5047488" y="2999232"/>
            <a:ext cx="1920240" cy="365760"/>
          </a:xfrm>
          <a:prstGeom prst="rect">
            <a:avLst/>
          </a:prstGeom>
          <a:noFill/>
        </p:spPr>
        <p:txBody>
          <a:bodyPr wrap="square" anchor="t" lIns="0" rIns="0" tIns="0" bIns="0">
            <a:spAutoFit/>
          </a:bodyPr>
          <a:lstStyle/>
          <a:p>
            <a:pPr algn="ctr">
              <a:lnSpc>
                <a:spcPct val="125000"/>
              </a:lnSpc>
              <a:spcBef>
                <a:spcPts val="0"/>
              </a:spcBef>
              <a:spcAft>
                <a:spcPts val="0"/>
              </a:spcAft>
            </a:pPr>
            <a:r>
              <a:rPr sz="1100" b="0" i="0">
                <a:solidFill>
                  <a:srgbClr val="A9AFCE"/>
                </a:solidFill>
                <a:latin typeface="Calibri"/>
              </a:rPr>
              <a:t>Macro-averaged F1</a:t>
            </a:r>
          </a:p>
        </p:txBody>
      </p:sp>
      <p:sp>
        <p:nvSpPr>
          <p:cNvPr id="13" name="Rounded Rectangle 12"/>
          <p:cNvSpPr/>
          <p:nvPr/>
        </p:nvSpPr>
        <p:spPr>
          <a:xfrm>
            <a:off x="7150608" y="1682496"/>
            <a:ext cx="1920240" cy="2331720"/>
          </a:xfrm>
          <a:prstGeom prst="roundRect">
            <a:avLst>
              <a:gd name="adj" fmla="val 7619"/>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4" name="TextBox 13"/>
          <p:cNvSpPr txBox="1"/>
          <p:nvPr/>
        </p:nvSpPr>
        <p:spPr>
          <a:xfrm>
            <a:off x="7150608" y="2432304"/>
            <a:ext cx="1920240" cy="457200"/>
          </a:xfrm>
          <a:prstGeom prst="rect">
            <a:avLst/>
          </a:prstGeom>
          <a:noFill/>
        </p:spPr>
        <p:txBody>
          <a:bodyPr wrap="square" anchor="t" lIns="0" rIns="0" tIns="0" bIns="0">
            <a:spAutoFit/>
          </a:bodyPr>
          <a:lstStyle/>
          <a:p>
            <a:pPr algn="ctr">
              <a:lnSpc>
                <a:spcPct val="115000"/>
              </a:lnSpc>
              <a:spcBef>
                <a:spcPts val="0"/>
              </a:spcBef>
              <a:spcAft>
                <a:spcPts val="0"/>
              </a:spcAft>
            </a:pPr>
            <a:r>
              <a:rPr sz="2600" b="1" i="0">
                <a:solidFill>
                  <a:srgbClr val="F7DF93"/>
                </a:solidFill>
                <a:latin typeface="Bookman Old Style"/>
              </a:rPr>
              <a:t>0.566</a:t>
            </a:r>
          </a:p>
        </p:txBody>
      </p:sp>
      <p:sp>
        <p:nvSpPr>
          <p:cNvPr id="15" name="TextBox 14"/>
          <p:cNvSpPr txBox="1"/>
          <p:nvPr/>
        </p:nvSpPr>
        <p:spPr>
          <a:xfrm>
            <a:off x="7150608" y="2999232"/>
            <a:ext cx="1920240" cy="365760"/>
          </a:xfrm>
          <a:prstGeom prst="rect">
            <a:avLst/>
          </a:prstGeom>
          <a:noFill/>
        </p:spPr>
        <p:txBody>
          <a:bodyPr wrap="square" anchor="t" lIns="0" rIns="0" tIns="0" bIns="0">
            <a:spAutoFit/>
          </a:bodyPr>
          <a:lstStyle/>
          <a:p>
            <a:pPr algn="ctr">
              <a:lnSpc>
                <a:spcPct val="125000"/>
              </a:lnSpc>
              <a:spcBef>
                <a:spcPts val="0"/>
              </a:spcBef>
              <a:spcAft>
                <a:spcPts val="0"/>
              </a:spcAft>
            </a:pPr>
            <a:r>
              <a:rPr sz="1100" b="0" i="0">
                <a:solidFill>
                  <a:srgbClr val="A9AFCE"/>
                </a:solidFill>
                <a:latin typeface="Calibri"/>
              </a:rPr>
              <a:t>Weighted-averaged F1</a:t>
            </a:r>
          </a:p>
        </p:txBody>
      </p:sp>
      <p:sp>
        <p:nvSpPr>
          <p:cNvPr id="16" name="Rounded Rectangle 15"/>
          <p:cNvSpPr/>
          <p:nvPr/>
        </p:nvSpPr>
        <p:spPr>
          <a:xfrm>
            <a:off x="9299448" y="1682496"/>
            <a:ext cx="2325319" cy="2331720"/>
          </a:xfrm>
          <a:prstGeom prst="roundRect">
            <a:avLst>
              <a:gd name="adj" fmla="val 6291"/>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7" name="TextBox 16"/>
          <p:cNvSpPr txBox="1"/>
          <p:nvPr/>
        </p:nvSpPr>
        <p:spPr>
          <a:xfrm>
            <a:off x="9592056" y="1956816"/>
            <a:ext cx="1740103" cy="1828800"/>
          </a:xfrm>
          <a:prstGeom prst="rect">
            <a:avLst/>
          </a:prstGeom>
          <a:noFill/>
        </p:spPr>
        <p:txBody>
          <a:bodyPr wrap="square" anchor="t" lIns="0" rIns="0" tIns="0" bIns="0">
            <a:spAutoFit/>
          </a:bodyPr>
          <a:lstStyle/>
          <a:p>
            <a:pPr>
              <a:lnSpc>
                <a:spcPct val="115000"/>
              </a:lnSpc>
              <a:spcBef>
                <a:spcPts val="0"/>
              </a:spcBef>
              <a:spcAft>
                <a:spcPts val="1000"/>
              </a:spcAft>
            </a:pPr>
            <a:r>
              <a:rPr sz="1350" b="1" i="0">
                <a:solidFill>
                  <a:srgbClr val="F7DF93"/>
                </a:solidFill>
                <a:latin typeface="Bookman Old Style"/>
              </a:rPr>
              <a:t>Against baselines</a:t>
            </a:r>
          </a:p>
          <a:p>
            <a:pPr>
              <a:lnSpc>
                <a:spcPct val="115000"/>
              </a:lnSpc>
              <a:spcBef>
                <a:spcPts val="0"/>
              </a:spcBef>
              <a:spcAft>
                <a:spcPts val="700"/>
              </a:spcAft>
            </a:pPr>
            <a:r>
              <a:rPr sz="1150" b="0" i="0">
                <a:solidFill>
                  <a:srgbClr val="A9AFCE"/>
                </a:solidFill>
                <a:latin typeface="Calibri"/>
              </a:rPr>
              <a:t>Random guess (1 / 7)          14.29%</a:t>
            </a:r>
          </a:p>
          <a:p>
            <a:pPr>
              <a:lnSpc>
                <a:spcPct val="115000"/>
              </a:lnSpc>
              <a:spcBef>
                <a:spcPts val="0"/>
              </a:spcBef>
              <a:spcAft>
                <a:spcPts val="700"/>
              </a:spcAft>
            </a:pPr>
            <a:r>
              <a:rPr sz="1150" b="0" i="0">
                <a:solidFill>
                  <a:srgbClr val="A9AFCE"/>
                </a:solidFill>
                <a:latin typeface="Calibri"/>
              </a:rPr>
              <a:t>Always predict “happy”       24.71%</a:t>
            </a:r>
          </a:p>
          <a:p>
            <a:pPr>
              <a:lnSpc>
                <a:spcPct val="115000"/>
              </a:lnSpc>
              <a:spcBef>
                <a:spcPts val="0"/>
              </a:spcBef>
              <a:spcAft>
                <a:spcPts val="0"/>
              </a:spcAft>
            </a:pPr>
            <a:r>
              <a:rPr sz="1150" b="1" i="0">
                <a:solidFill>
                  <a:srgbClr val="F5636E"/>
                </a:solidFill>
                <a:latin typeface="Calibri"/>
              </a:rPr>
              <a:t>This model                          57.09%</a:t>
            </a:r>
          </a:p>
        </p:txBody>
      </p:sp>
      <p:sp>
        <p:nvSpPr>
          <p:cNvPr id="18" name="TextBox 17"/>
          <p:cNvSpPr txBox="1"/>
          <p:nvPr/>
        </p:nvSpPr>
        <p:spPr>
          <a:xfrm>
            <a:off x="566928" y="4325112"/>
            <a:ext cx="3246120" cy="274320"/>
          </a:xfrm>
          <a:prstGeom prst="rect">
            <a:avLst/>
          </a:prstGeom>
          <a:noFill/>
        </p:spPr>
        <p:txBody>
          <a:bodyPr wrap="square" anchor="t" lIns="0" rIns="0" tIns="0" bIns="0">
            <a:spAutoFit/>
          </a:bodyPr>
          <a:lstStyle/>
          <a:p>
            <a:pPr algn="r">
              <a:lnSpc>
                <a:spcPct val="115000"/>
              </a:lnSpc>
              <a:spcBef>
                <a:spcPts val="0"/>
              </a:spcBef>
              <a:spcAft>
                <a:spcPts val="0"/>
              </a:spcAft>
            </a:pPr>
            <a:r>
              <a:rPr sz="1150" b="0" i="0">
                <a:solidFill>
                  <a:srgbClr val="FFFFFF"/>
                </a:solidFill>
                <a:latin typeface="Calibri"/>
              </a:rPr>
              <a:t>Random baseline (1 / 7)</a:t>
            </a:r>
          </a:p>
        </p:txBody>
      </p:sp>
      <p:sp>
        <p:nvSpPr>
          <p:cNvPr id="19" name="Rectangle 18"/>
          <p:cNvSpPr/>
          <p:nvPr/>
        </p:nvSpPr>
        <p:spPr>
          <a:xfrm>
            <a:off x="3995928" y="4334256"/>
            <a:ext cx="1568013" cy="329184"/>
          </a:xfrm>
          <a:prstGeom prst="rect">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0" name="TextBox 19"/>
          <p:cNvSpPr txBox="1"/>
          <p:nvPr/>
        </p:nvSpPr>
        <p:spPr>
          <a:xfrm>
            <a:off x="5691957" y="4325112"/>
            <a:ext cx="1097280" cy="274320"/>
          </a:xfrm>
          <a:prstGeom prst="rect">
            <a:avLst/>
          </a:prstGeom>
          <a:noFill/>
        </p:spPr>
        <p:txBody>
          <a:bodyPr wrap="square" anchor="t" lIns="0" rIns="0" tIns="0" bIns="0">
            <a:spAutoFit/>
          </a:bodyPr>
          <a:lstStyle/>
          <a:p>
            <a:pPr>
              <a:lnSpc>
                <a:spcPct val="115000"/>
              </a:lnSpc>
              <a:spcBef>
                <a:spcPts val="0"/>
              </a:spcBef>
              <a:spcAft>
                <a:spcPts val="0"/>
              </a:spcAft>
            </a:pPr>
            <a:r>
              <a:rPr sz="1150" b="1" i="0">
                <a:solidFill>
                  <a:srgbClr val="A9AFCE"/>
                </a:solidFill>
                <a:latin typeface="Calibri"/>
              </a:rPr>
              <a:t>14.29%</a:t>
            </a:r>
          </a:p>
        </p:txBody>
      </p:sp>
      <p:sp>
        <p:nvSpPr>
          <p:cNvPr id="21" name="TextBox 20"/>
          <p:cNvSpPr txBox="1"/>
          <p:nvPr/>
        </p:nvSpPr>
        <p:spPr>
          <a:xfrm>
            <a:off x="566928" y="4873752"/>
            <a:ext cx="3246120" cy="274320"/>
          </a:xfrm>
          <a:prstGeom prst="rect">
            <a:avLst/>
          </a:prstGeom>
          <a:noFill/>
        </p:spPr>
        <p:txBody>
          <a:bodyPr wrap="square" anchor="t" lIns="0" rIns="0" tIns="0" bIns="0">
            <a:spAutoFit/>
          </a:bodyPr>
          <a:lstStyle/>
          <a:p>
            <a:pPr algn="r">
              <a:lnSpc>
                <a:spcPct val="115000"/>
              </a:lnSpc>
              <a:spcBef>
                <a:spcPts val="0"/>
              </a:spcBef>
              <a:spcAft>
                <a:spcPts val="0"/>
              </a:spcAft>
            </a:pPr>
            <a:r>
              <a:rPr sz="1150" b="0" i="0">
                <a:solidFill>
                  <a:srgbClr val="FFFFFF"/>
                </a:solidFill>
                <a:latin typeface="Calibri"/>
              </a:rPr>
              <a:t>Majority class — always “happy”</a:t>
            </a:r>
          </a:p>
        </p:txBody>
      </p:sp>
      <p:sp>
        <p:nvSpPr>
          <p:cNvPr id="22" name="Rectangle 21"/>
          <p:cNvSpPr/>
          <p:nvPr/>
        </p:nvSpPr>
        <p:spPr>
          <a:xfrm>
            <a:off x="3995928" y="4882896"/>
            <a:ext cx="2711378" cy="329184"/>
          </a:xfrm>
          <a:prstGeom prst="rect">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3" name="TextBox 22"/>
          <p:cNvSpPr txBox="1"/>
          <p:nvPr/>
        </p:nvSpPr>
        <p:spPr>
          <a:xfrm>
            <a:off x="6835322" y="4873752"/>
            <a:ext cx="1097280" cy="274320"/>
          </a:xfrm>
          <a:prstGeom prst="rect">
            <a:avLst/>
          </a:prstGeom>
          <a:noFill/>
        </p:spPr>
        <p:txBody>
          <a:bodyPr wrap="square" anchor="t" lIns="0" rIns="0" tIns="0" bIns="0">
            <a:spAutoFit/>
          </a:bodyPr>
          <a:lstStyle/>
          <a:p>
            <a:pPr>
              <a:lnSpc>
                <a:spcPct val="115000"/>
              </a:lnSpc>
              <a:spcBef>
                <a:spcPts val="0"/>
              </a:spcBef>
              <a:spcAft>
                <a:spcPts val="0"/>
              </a:spcAft>
            </a:pPr>
            <a:r>
              <a:rPr sz="1150" b="1" i="0">
                <a:solidFill>
                  <a:srgbClr val="A9AFCE"/>
                </a:solidFill>
                <a:latin typeface="Calibri"/>
              </a:rPr>
              <a:t>24.71%</a:t>
            </a:r>
          </a:p>
        </p:txBody>
      </p:sp>
      <p:sp>
        <p:nvSpPr>
          <p:cNvPr id="24" name="TextBox 23"/>
          <p:cNvSpPr txBox="1"/>
          <p:nvPr/>
        </p:nvSpPr>
        <p:spPr>
          <a:xfrm>
            <a:off x="566928" y="5422392"/>
            <a:ext cx="3246120" cy="274320"/>
          </a:xfrm>
          <a:prstGeom prst="rect">
            <a:avLst/>
          </a:prstGeom>
          <a:noFill/>
        </p:spPr>
        <p:txBody>
          <a:bodyPr wrap="square" anchor="t" lIns="0" rIns="0" tIns="0" bIns="0">
            <a:spAutoFit/>
          </a:bodyPr>
          <a:lstStyle/>
          <a:p>
            <a:pPr algn="r">
              <a:lnSpc>
                <a:spcPct val="115000"/>
              </a:lnSpc>
              <a:spcBef>
                <a:spcPts val="0"/>
              </a:spcBef>
              <a:spcAft>
                <a:spcPts val="0"/>
              </a:spcAft>
            </a:pPr>
            <a:r>
              <a:rPr sz="1150" b="0" i="0">
                <a:solidFill>
                  <a:srgbClr val="FFFFFF"/>
                </a:solidFill>
                <a:latin typeface="Calibri"/>
              </a:rPr>
              <a:t>Trained CNN</a:t>
            </a:r>
          </a:p>
        </p:txBody>
      </p:sp>
      <p:sp>
        <p:nvSpPr>
          <p:cNvPr id="25" name="Rectangle 24"/>
          <p:cNvSpPr/>
          <p:nvPr/>
        </p:nvSpPr>
        <p:spPr>
          <a:xfrm>
            <a:off x="3995928" y="5431536"/>
            <a:ext cx="6264371" cy="329184"/>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6" name="TextBox 25"/>
          <p:cNvSpPr txBox="1"/>
          <p:nvPr/>
        </p:nvSpPr>
        <p:spPr>
          <a:xfrm>
            <a:off x="10388315" y="5422392"/>
            <a:ext cx="1097280" cy="274320"/>
          </a:xfrm>
          <a:prstGeom prst="rect">
            <a:avLst/>
          </a:prstGeom>
          <a:noFill/>
        </p:spPr>
        <p:txBody>
          <a:bodyPr wrap="square" anchor="t" lIns="0" rIns="0" tIns="0" bIns="0">
            <a:spAutoFit/>
          </a:bodyPr>
          <a:lstStyle/>
          <a:p>
            <a:pPr>
              <a:lnSpc>
                <a:spcPct val="115000"/>
              </a:lnSpc>
              <a:spcBef>
                <a:spcPts val="0"/>
              </a:spcBef>
              <a:spcAft>
                <a:spcPts val="0"/>
              </a:spcAft>
            </a:pPr>
            <a:r>
              <a:rPr sz="1150" b="1" i="0">
                <a:solidFill>
                  <a:srgbClr val="FFFFFF"/>
                </a:solidFill>
                <a:latin typeface="Calibri"/>
              </a:rPr>
              <a:t>57.09%</a:t>
            </a:r>
          </a:p>
        </p:txBody>
      </p:sp>
      <p:sp>
        <p:nvSpPr>
          <p:cNvPr id="27" name="TextBox 26"/>
          <p:cNvSpPr txBox="1"/>
          <p:nvPr/>
        </p:nvSpPr>
        <p:spPr>
          <a:xfrm>
            <a:off x="566928" y="6089904"/>
            <a:ext cx="11057839" cy="320040"/>
          </a:xfrm>
          <a:prstGeom prst="rect">
            <a:avLst/>
          </a:prstGeom>
          <a:noFill/>
        </p:spPr>
        <p:txBody>
          <a:bodyPr wrap="square" anchor="t" lIns="0" rIns="0" tIns="0" bIns="0">
            <a:spAutoFit/>
          </a:bodyPr>
          <a:lstStyle/>
          <a:p>
            <a:pPr>
              <a:lnSpc>
                <a:spcPct val="115000"/>
              </a:lnSpc>
              <a:spcBef>
                <a:spcPts val="0"/>
              </a:spcBef>
              <a:spcAft>
                <a:spcPts val="0"/>
              </a:spcAft>
            </a:pPr>
            <a:r>
              <a:rPr sz="1150" b="0" i="1">
                <a:solidFill>
                  <a:srgbClr val="A9AFCE"/>
                </a:solidFill>
                <a:latin typeface="Calibri"/>
              </a:rPr>
              <a:t>The model performs well above both baselines, confirming that it has learned genuine discriminative structure rather than exploiting the class prior.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12</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Per-Class Performance</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Accuracy alone conceals how uneven the model is</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graphicFrame>
        <p:nvGraphicFramePr>
          <p:cNvPr id="7" name="Table 6"/>
          <p:cNvGraphicFramePr>
            <a:graphicFrameLocks noGrp="1"/>
          </p:cNvGraphicFramePr>
          <p:nvPr/>
        </p:nvGraphicFramePr>
        <p:xfrm>
          <a:off x="566928" y="1682496"/>
          <a:ext cx="6492240" cy="3218688"/>
        </p:xfrm>
        <a:graphic>
          <a:graphicData uri="http://schemas.openxmlformats.org/drawingml/2006/table">
            <a:tbl>
              <a:tblPr>
                <a:tableStyleId>{5C22544A-7EE6-4342-B048-85BDC9FD1C3A}</a:tableStyleId>
              </a:tblPr>
              <a:tblGrid>
                <a:gridCol w="1572768"/>
                <a:gridCol w="1280160"/>
                <a:gridCol w="1207008"/>
                <a:gridCol w="1188720"/>
                <a:gridCol w="1243584"/>
              </a:tblGrid>
              <a:tr h="402336">
                <a:tc>
                  <a:txBody>
                    <a:bodyPr/>
                    <a:lstStyle/>
                    <a:p>
                      <a:pPr algn="l"/>
                      <a:r>
                        <a:rPr sz="1150" b="1">
                          <a:solidFill>
                            <a:srgbClr val="FFFFFF"/>
                          </a:solidFill>
                          <a:latin typeface="Calibri"/>
                        </a:rPr>
                        <a:t>Emotion</a:t>
                      </a:r>
                    </a:p>
                  </a:txBody>
                  <a:tcPr anchor="ctr" marL="109728" marR="109728" marT="0" marB="0">
                    <a:solidFill>
                      <a:srgbClr val="262B4A"/>
                    </a:solidFill>
                  </a:tcPr>
                </a:tc>
                <a:tc>
                  <a:txBody>
                    <a:bodyPr/>
                    <a:lstStyle/>
                    <a:p>
                      <a:pPr algn="r"/>
                      <a:r>
                        <a:rPr sz="1150" b="1">
                          <a:solidFill>
                            <a:srgbClr val="FFFFFF"/>
                          </a:solidFill>
                          <a:latin typeface="Calibri"/>
                        </a:rPr>
                        <a:t>Precision</a:t>
                      </a:r>
                    </a:p>
                  </a:txBody>
                  <a:tcPr anchor="ctr" marL="109728" marR="109728" marT="0" marB="0">
                    <a:solidFill>
                      <a:srgbClr val="262B4A"/>
                    </a:solidFill>
                  </a:tcPr>
                </a:tc>
                <a:tc>
                  <a:txBody>
                    <a:bodyPr/>
                    <a:lstStyle/>
                    <a:p>
                      <a:pPr algn="r"/>
                      <a:r>
                        <a:rPr sz="1150" b="1">
                          <a:solidFill>
                            <a:srgbClr val="FFFFFF"/>
                          </a:solidFill>
                          <a:latin typeface="Calibri"/>
                        </a:rPr>
                        <a:t>Recall</a:t>
                      </a:r>
                    </a:p>
                  </a:txBody>
                  <a:tcPr anchor="ctr" marL="109728" marR="109728" marT="0" marB="0">
                    <a:solidFill>
                      <a:srgbClr val="262B4A"/>
                    </a:solidFill>
                  </a:tcPr>
                </a:tc>
                <a:tc>
                  <a:txBody>
                    <a:bodyPr/>
                    <a:lstStyle/>
                    <a:p>
                      <a:pPr algn="r"/>
                      <a:r>
                        <a:rPr sz="1150" b="1">
                          <a:solidFill>
                            <a:srgbClr val="FFFFFF"/>
                          </a:solidFill>
                          <a:latin typeface="Calibri"/>
                        </a:rPr>
                        <a:t>F1</a:t>
                      </a:r>
                    </a:p>
                  </a:txBody>
                  <a:tcPr anchor="ctr" marL="109728" marR="109728" marT="0" marB="0">
                    <a:solidFill>
                      <a:srgbClr val="262B4A"/>
                    </a:solidFill>
                  </a:tcPr>
                </a:tc>
                <a:tc>
                  <a:txBody>
                    <a:bodyPr/>
                    <a:lstStyle/>
                    <a:p>
                      <a:pPr algn="r"/>
                      <a:r>
                        <a:rPr sz="1150" b="1">
                          <a:solidFill>
                            <a:srgbClr val="FFFFFF"/>
                          </a:solidFill>
                          <a:latin typeface="Calibri"/>
                        </a:rPr>
                        <a:t>Support</a:t>
                      </a:r>
                    </a:p>
                  </a:txBody>
                  <a:tcPr anchor="ctr" marL="109728" marR="109728" marT="0" marB="0">
                    <a:solidFill>
                      <a:srgbClr val="262B4A"/>
                    </a:solidFill>
                  </a:tcPr>
                </a:tc>
              </a:tr>
              <a:tr h="402336">
                <a:tc>
                  <a:txBody>
                    <a:bodyPr/>
                    <a:lstStyle/>
                    <a:p>
                      <a:pPr algn="l"/>
                      <a:r>
                        <a:rPr sz="1150" b="0">
                          <a:solidFill>
                            <a:srgbClr val="262B4A"/>
                          </a:solidFill>
                          <a:latin typeface="Calibri"/>
                        </a:rPr>
                        <a:t>Angry</a:t>
                      </a:r>
                    </a:p>
                  </a:txBody>
                  <a:tcPr anchor="ctr" marL="109728" marR="109728" marT="0" marB="0">
                    <a:solidFill>
                      <a:srgbClr val="FFFFFF"/>
                    </a:solidFill>
                  </a:tcPr>
                </a:tc>
                <a:tc>
                  <a:txBody>
                    <a:bodyPr/>
                    <a:lstStyle/>
                    <a:p>
                      <a:pPr algn="r"/>
                      <a:r>
                        <a:rPr sz="1150" b="0">
                          <a:solidFill>
                            <a:srgbClr val="262B4A"/>
                          </a:solidFill>
                          <a:latin typeface="Calibri"/>
                        </a:rPr>
                        <a:t>0.494</a:t>
                      </a:r>
                    </a:p>
                  </a:txBody>
                  <a:tcPr anchor="ctr" marL="109728" marR="109728" marT="0" marB="0">
                    <a:solidFill>
                      <a:srgbClr val="FFFFFF"/>
                    </a:solidFill>
                  </a:tcPr>
                </a:tc>
                <a:tc>
                  <a:txBody>
                    <a:bodyPr/>
                    <a:lstStyle/>
                    <a:p>
                      <a:pPr algn="r"/>
                      <a:r>
                        <a:rPr sz="1150" b="0">
                          <a:solidFill>
                            <a:srgbClr val="262B4A"/>
                          </a:solidFill>
                          <a:latin typeface="Calibri"/>
                        </a:rPr>
                        <a:t>0.478</a:t>
                      </a:r>
                    </a:p>
                  </a:txBody>
                  <a:tcPr anchor="ctr" marL="109728" marR="109728" marT="0" marB="0">
                    <a:solidFill>
                      <a:srgbClr val="FFFFFF"/>
                    </a:solidFill>
                  </a:tcPr>
                </a:tc>
                <a:tc>
                  <a:txBody>
                    <a:bodyPr/>
                    <a:lstStyle/>
                    <a:p>
                      <a:pPr algn="r"/>
                      <a:r>
                        <a:rPr sz="1150" b="0">
                          <a:solidFill>
                            <a:srgbClr val="262B4A"/>
                          </a:solidFill>
                          <a:latin typeface="Calibri"/>
                        </a:rPr>
                        <a:t>0.486</a:t>
                      </a:r>
                    </a:p>
                  </a:txBody>
                  <a:tcPr anchor="ctr" marL="109728" marR="109728" marT="0" marB="0">
                    <a:solidFill>
                      <a:srgbClr val="FFFFFF"/>
                    </a:solidFill>
                  </a:tcPr>
                </a:tc>
                <a:tc>
                  <a:txBody>
                    <a:bodyPr/>
                    <a:lstStyle/>
                    <a:p>
                      <a:pPr algn="r"/>
                      <a:r>
                        <a:rPr sz="1150" b="0">
                          <a:solidFill>
                            <a:srgbClr val="262B4A"/>
                          </a:solidFill>
                          <a:latin typeface="Calibri"/>
                        </a:rPr>
                        <a:t>958</a:t>
                      </a:r>
                    </a:p>
                  </a:txBody>
                  <a:tcPr anchor="ctr" marL="109728" marR="109728" marT="0" marB="0">
                    <a:solidFill>
                      <a:srgbClr val="FFFFFF"/>
                    </a:solidFill>
                  </a:tcPr>
                </a:tc>
              </a:tr>
              <a:tr h="402336">
                <a:tc>
                  <a:txBody>
                    <a:bodyPr/>
                    <a:lstStyle/>
                    <a:p>
                      <a:pPr algn="l"/>
                      <a:r>
                        <a:rPr sz="1150" b="0">
                          <a:solidFill>
                            <a:srgbClr val="262B4A"/>
                          </a:solidFill>
                          <a:latin typeface="Calibri"/>
                        </a:rPr>
                        <a:t>Disgust</a:t>
                      </a:r>
                    </a:p>
                  </a:txBody>
                  <a:tcPr anchor="ctr" marL="109728" marR="109728" marT="0" marB="0">
                    <a:solidFill>
                      <a:srgbClr val="FFFFFF"/>
                    </a:solidFill>
                  </a:tcPr>
                </a:tc>
                <a:tc>
                  <a:txBody>
                    <a:bodyPr/>
                    <a:lstStyle/>
                    <a:p>
                      <a:pPr algn="r"/>
                      <a:r>
                        <a:rPr sz="1150" b="0">
                          <a:solidFill>
                            <a:srgbClr val="262B4A"/>
                          </a:solidFill>
                          <a:latin typeface="Calibri"/>
                        </a:rPr>
                        <a:t>0.792</a:t>
                      </a:r>
                    </a:p>
                  </a:txBody>
                  <a:tcPr anchor="ctr" marL="109728" marR="109728" marT="0" marB="0">
                    <a:solidFill>
                      <a:srgbClr val="FFFFFF"/>
                    </a:solidFill>
                  </a:tcPr>
                </a:tc>
                <a:tc>
                  <a:txBody>
                    <a:bodyPr/>
                    <a:lstStyle/>
                    <a:p>
                      <a:pPr algn="r"/>
                      <a:r>
                        <a:rPr sz="1150" b="0">
                          <a:solidFill>
                            <a:srgbClr val="262B4A"/>
                          </a:solidFill>
                          <a:latin typeface="Calibri"/>
                        </a:rPr>
                        <a:t>0.171</a:t>
                      </a:r>
                    </a:p>
                  </a:txBody>
                  <a:tcPr anchor="ctr" marL="109728" marR="109728" marT="0" marB="0">
                    <a:solidFill>
                      <a:srgbClr val="FFFFFF"/>
                    </a:solidFill>
                  </a:tcPr>
                </a:tc>
                <a:tc>
                  <a:txBody>
                    <a:bodyPr/>
                    <a:lstStyle/>
                    <a:p>
                      <a:pPr algn="r"/>
                      <a:r>
                        <a:rPr sz="1150" b="0">
                          <a:solidFill>
                            <a:srgbClr val="F5636E"/>
                          </a:solidFill>
                          <a:latin typeface="Calibri"/>
                        </a:rPr>
                        <a:t>0.281</a:t>
                      </a:r>
                    </a:p>
                  </a:txBody>
                  <a:tcPr anchor="ctr" marL="109728" marR="109728" marT="0" marB="0">
                    <a:solidFill>
                      <a:srgbClr val="FFFFFF"/>
                    </a:solidFill>
                  </a:tcPr>
                </a:tc>
                <a:tc>
                  <a:txBody>
                    <a:bodyPr/>
                    <a:lstStyle/>
                    <a:p>
                      <a:pPr algn="r"/>
                      <a:r>
                        <a:rPr sz="1150" b="0">
                          <a:solidFill>
                            <a:srgbClr val="262B4A"/>
                          </a:solidFill>
                          <a:latin typeface="Calibri"/>
                        </a:rPr>
                        <a:t>111</a:t>
                      </a:r>
                    </a:p>
                  </a:txBody>
                  <a:tcPr anchor="ctr" marL="109728" marR="109728" marT="0" marB="0">
                    <a:solidFill>
                      <a:srgbClr val="FFFFFF"/>
                    </a:solidFill>
                  </a:tcPr>
                </a:tc>
              </a:tr>
              <a:tr h="402336">
                <a:tc>
                  <a:txBody>
                    <a:bodyPr/>
                    <a:lstStyle/>
                    <a:p>
                      <a:pPr algn="l"/>
                      <a:r>
                        <a:rPr sz="1150" b="0">
                          <a:solidFill>
                            <a:srgbClr val="262B4A"/>
                          </a:solidFill>
                          <a:latin typeface="Calibri"/>
                        </a:rPr>
                        <a:t>Fear</a:t>
                      </a:r>
                    </a:p>
                  </a:txBody>
                  <a:tcPr anchor="ctr" marL="109728" marR="109728" marT="0" marB="0">
                    <a:solidFill>
                      <a:srgbClr val="FFFFFF"/>
                    </a:solidFill>
                  </a:tcPr>
                </a:tc>
                <a:tc>
                  <a:txBody>
                    <a:bodyPr/>
                    <a:lstStyle/>
                    <a:p>
                      <a:pPr algn="r"/>
                      <a:r>
                        <a:rPr sz="1150" b="0">
                          <a:solidFill>
                            <a:srgbClr val="262B4A"/>
                          </a:solidFill>
                          <a:latin typeface="Calibri"/>
                        </a:rPr>
                        <a:t>0.422</a:t>
                      </a:r>
                    </a:p>
                  </a:txBody>
                  <a:tcPr anchor="ctr" marL="109728" marR="109728" marT="0" marB="0">
                    <a:solidFill>
                      <a:srgbClr val="FFFFFF"/>
                    </a:solidFill>
                  </a:tcPr>
                </a:tc>
                <a:tc>
                  <a:txBody>
                    <a:bodyPr/>
                    <a:lstStyle/>
                    <a:p>
                      <a:pPr algn="r"/>
                      <a:r>
                        <a:rPr sz="1150" b="0">
                          <a:solidFill>
                            <a:srgbClr val="262B4A"/>
                          </a:solidFill>
                          <a:latin typeface="Calibri"/>
                        </a:rPr>
                        <a:t>0.294</a:t>
                      </a:r>
                    </a:p>
                  </a:txBody>
                  <a:tcPr anchor="ctr" marL="109728" marR="109728" marT="0" marB="0">
                    <a:solidFill>
                      <a:srgbClr val="FFFFFF"/>
                    </a:solidFill>
                  </a:tcPr>
                </a:tc>
                <a:tc>
                  <a:txBody>
                    <a:bodyPr/>
                    <a:lstStyle/>
                    <a:p>
                      <a:pPr algn="r"/>
                      <a:r>
                        <a:rPr sz="1150" b="0">
                          <a:solidFill>
                            <a:srgbClr val="F5636E"/>
                          </a:solidFill>
                          <a:latin typeface="Calibri"/>
                        </a:rPr>
                        <a:t>0.346</a:t>
                      </a:r>
                    </a:p>
                  </a:txBody>
                  <a:tcPr anchor="ctr" marL="109728" marR="109728" marT="0" marB="0">
                    <a:solidFill>
                      <a:srgbClr val="FFFFFF"/>
                    </a:solidFill>
                  </a:tcPr>
                </a:tc>
                <a:tc>
                  <a:txBody>
                    <a:bodyPr/>
                    <a:lstStyle/>
                    <a:p>
                      <a:pPr algn="r"/>
                      <a:r>
                        <a:rPr sz="1150" b="0">
                          <a:solidFill>
                            <a:srgbClr val="262B4A"/>
                          </a:solidFill>
                          <a:latin typeface="Calibri"/>
                        </a:rPr>
                        <a:t>1,024</a:t>
                      </a:r>
                    </a:p>
                  </a:txBody>
                  <a:tcPr anchor="ctr" marL="109728" marR="109728" marT="0" marB="0">
                    <a:solidFill>
                      <a:srgbClr val="FFFFFF"/>
                    </a:solidFill>
                  </a:tcPr>
                </a:tc>
              </a:tr>
              <a:tr h="402336">
                <a:tc>
                  <a:txBody>
                    <a:bodyPr/>
                    <a:lstStyle/>
                    <a:p>
                      <a:pPr algn="l"/>
                      <a:r>
                        <a:rPr sz="1150" b="0">
                          <a:solidFill>
                            <a:srgbClr val="262B4A"/>
                          </a:solidFill>
                          <a:latin typeface="Calibri"/>
                        </a:rPr>
                        <a:t>Happy</a:t>
                      </a:r>
                    </a:p>
                  </a:txBody>
                  <a:tcPr anchor="ctr" marL="109728" marR="109728" marT="0" marB="0">
                    <a:solidFill>
                      <a:srgbClr val="FFFFFF"/>
                    </a:solidFill>
                  </a:tcPr>
                </a:tc>
                <a:tc>
                  <a:txBody>
                    <a:bodyPr/>
                    <a:lstStyle/>
                    <a:p>
                      <a:pPr algn="r"/>
                      <a:r>
                        <a:rPr sz="1150" b="0">
                          <a:solidFill>
                            <a:srgbClr val="262B4A"/>
                          </a:solidFill>
                          <a:latin typeface="Calibri"/>
                        </a:rPr>
                        <a:t>0.767</a:t>
                      </a:r>
                    </a:p>
                  </a:txBody>
                  <a:tcPr anchor="ctr" marL="109728" marR="109728" marT="0" marB="0">
                    <a:solidFill>
                      <a:srgbClr val="FFFFFF"/>
                    </a:solidFill>
                  </a:tcPr>
                </a:tc>
                <a:tc>
                  <a:txBody>
                    <a:bodyPr/>
                    <a:lstStyle/>
                    <a:p>
                      <a:pPr algn="r"/>
                      <a:r>
                        <a:rPr sz="1150" b="0">
                          <a:solidFill>
                            <a:srgbClr val="262B4A"/>
                          </a:solidFill>
                          <a:latin typeface="Calibri"/>
                        </a:rPr>
                        <a:t>0.796</a:t>
                      </a:r>
                    </a:p>
                  </a:txBody>
                  <a:tcPr anchor="ctr" marL="109728" marR="109728" marT="0" marB="0">
                    <a:solidFill>
                      <a:srgbClr val="FFFFFF"/>
                    </a:solidFill>
                  </a:tcPr>
                </a:tc>
                <a:tc>
                  <a:txBody>
                    <a:bodyPr/>
                    <a:lstStyle/>
                    <a:p>
                      <a:pPr algn="r"/>
                      <a:r>
                        <a:rPr sz="1150" b="1">
                          <a:solidFill>
                            <a:srgbClr val="1B7F5A"/>
                          </a:solidFill>
                          <a:latin typeface="Calibri"/>
                        </a:rPr>
                        <a:t>0.781</a:t>
                      </a:r>
                    </a:p>
                  </a:txBody>
                  <a:tcPr anchor="ctr" marL="109728" marR="109728" marT="0" marB="0">
                    <a:solidFill>
                      <a:srgbClr val="FFFFFF"/>
                    </a:solidFill>
                  </a:tcPr>
                </a:tc>
                <a:tc>
                  <a:txBody>
                    <a:bodyPr/>
                    <a:lstStyle/>
                    <a:p>
                      <a:pPr algn="r"/>
                      <a:r>
                        <a:rPr sz="1150" b="0">
                          <a:solidFill>
                            <a:srgbClr val="262B4A"/>
                          </a:solidFill>
                          <a:latin typeface="Calibri"/>
                        </a:rPr>
                        <a:t>1,774</a:t>
                      </a:r>
                    </a:p>
                  </a:txBody>
                  <a:tcPr anchor="ctr" marL="109728" marR="109728" marT="0" marB="0">
                    <a:solidFill>
                      <a:srgbClr val="FFFFFF"/>
                    </a:solidFill>
                  </a:tcPr>
                </a:tc>
              </a:tr>
              <a:tr h="402336">
                <a:tc>
                  <a:txBody>
                    <a:bodyPr/>
                    <a:lstStyle/>
                    <a:p>
                      <a:pPr algn="l"/>
                      <a:r>
                        <a:rPr sz="1150" b="0">
                          <a:solidFill>
                            <a:srgbClr val="262B4A"/>
                          </a:solidFill>
                          <a:latin typeface="Calibri"/>
                        </a:rPr>
                        <a:t>Neutral</a:t>
                      </a:r>
                    </a:p>
                  </a:txBody>
                  <a:tcPr anchor="ctr" marL="109728" marR="109728" marT="0" marB="0">
                    <a:solidFill>
                      <a:srgbClr val="FFFFFF"/>
                    </a:solidFill>
                  </a:tcPr>
                </a:tc>
                <a:tc>
                  <a:txBody>
                    <a:bodyPr/>
                    <a:lstStyle/>
                    <a:p>
                      <a:pPr algn="r"/>
                      <a:r>
                        <a:rPr sz="1150" b="0">
                          <a:solidFill>
                            <a:srgbClr val="262B4A"/>
                          </a:solidFill>
                          <a:latin typeface="Calibri"/>
                        </a:rPr>
                        <a:t>0.496</a:t>
                      </a:r>
                    </a:p>
                  </a:txBody>
                  <a:tcPr anchor="ctr" marL="109728" marR="109728" marT="0" marB="0">
                    <a:solidFill>
                      <a:srgbClr val="FFFFFF"/>
                    </a:solidFill>
                  </a:tcPr>
                </a:tc>
                <a:tc>
                  <a:txBody>
                    <a:bodyPr/>
                    <a:lstStyle/>
                    <a:p>
                      <a:pPr algn="r"/>
                      <a:r>
                        <a:rPr sz="1150" b="0">
                          <a:solidFill>
                            <a:srgbClr val="262B4A"/>
                          </a:solidFill>
                          <a:latin typeface="Calibri"/>
                        </a:rPr>
                        <a:t>0.606</a:t>
                      </a:r>
                    </a:p>
                  </a:txBody>
                  <a:tcPr anchor="ctr" marL="109728" marR="109728" marT="0" marB="0">
                    <a:solidFill>
                      <a:srgbClr val="FFFFFF"/>
                    </a:solidFill>
                  </a:tcPr>
                </a:tc>
                <a:tc>
                  <a:txBody>
                    <a:bodyPr/>
                    <a:lstStyle/>
                    <a:p>
                      <a:pPr algn="r"/>
                      <a:r>
                        <a:rPr sz="1150" b="0">
                          <a:solidFill>
                            <a:srgbClr val="262B4A"/>
                          </a:solidFill>
                          <a:latin typeface="Calibri"/>
                        </a:rPr>
                        <a:t>0.545</a:t>
                      </a:r>
                    </a:p>
                  </a:txBody>
                  <a:tcPr anchor="ctr" marL="109728" marR="109728" marT="0" marB="0">
                    <a:solidFill>
                      <a:srgbClr val="FFFFFF"/>
                    </a:solidFill>
                  </a:tcPr>
                </a:tc>
                <a:tc>
                  <a:txBody>
                    <a:bodyPr/>
                    <a:lstStyle/>
                    <a:p>
                      <a:pPr algn="r"/>
                      <a:r>
                        <a:rPr sz="1150" b="0">
                          <a:solidFill>
                            <a:srgbClr val="262B4A"/>
                          </a:solidFill>
                          <a:latin typeface="Calibri"/>
                        </a:rPr>
                        <a:t>1,233</a:t>
                      </a:r>
                    </a:p>
                  </a:txBody>
                  <a:tcPr anchor="ctr" marL="109728" marR="109728" marT="0" marB="0">
                    <a:solidFill>
                      <a:srgbClr val="FFFFFF"/>
                    </a:solidFill>
                  </a:tcPr>
                </a:tc>
              </a:tr>
              <a:tr h="402336">
                <a:tc>
                  <a:txBody>
                    <a:bodyPr/>
                    <a:lstStyle/>
                    <a:p>
                      <a:pPr algn="l"/>
                      <a:r>
                        <a:rPr sz="1150" b="0">
                          <a:solidFill>
                            <a:srgbClr val="262B4A"/>
                          </a:solidFill>
                          <a:latin typeface="Calibri"/>
                        </a:rPr>
                        <a:t>Sad</a:t>
                      </a:r>
                    </a:p>
                  </a:txBody>
                  <a:tcPr anchor="ctr" marL="109728" marR="109728" marT="0" marB="0">
                    <a:solidFill>
                      <a:srgbClr val="FFFFFF"/>
                    </a:solidFill>
                  </a:tcPr>
                </a:tc>
                <a:tc>
                  <a:txBody>
                    <a:bodyPr/>
                    <a:lstStyle/>
                    <a:p>
                      <a:pPr algn="r"/>
                      <a:r>
                        <a:rPr sz="1150" b="0">
                          <a:solidFill>
                            <a:srgbClr val="262B4A"/>
                          </a:solidFill>
                          <a:latin typeface="Calibri"/>
                        </a:rPr>
                        <a:t>0.423</a:t>
                      </a:r>
                    </a:p>
                  </a:txBody>
                  <a:tcPr anchor="ctr" marL="109728" marR="109728" marT="0" marB="0">
                    <a:solidFill>
                      <a:srgbClr val="FFFFFF"/>
                    </a:solidFill>
                  </a:tcPr>
                </a:tc>
                <a:tc>
                  <a:txBody>
                    <a:bodyPr/>
                    <a:lstStyle/>
                    <a:p>
                      <a:pPr algn="r"/>
                      <a:r>
                        <a:rPr sz="1150" b="0">
                          <a:solidFill>
                            <a:srgbClr val="262B4A"/>
                          </a:solidFill>
                          <a:latin typeface="Calibri"/>
                        </a:rPr>
                        <a:t>0.477</a:t>
                      </a:r>
                    </a:p>
                  </a:txBody>
                  <a:tcPr anchor="ctr" marL="109728" marR="109728" marT="0" marB="0">
                    <a:solidFill>
                      <a:srgbClr val="FFFFFF"/>
                    </a:solidFill>
                  </a:tcPr>
                </a:tc>
                <a:tc>
                  <a:txBody>
                    <a:bodyPr/>
                    <a:lstStyle/>
                    <a:p>
                      <a:pPr algn="r"/>
                      <a:r>
                        <a:rPr sz="1150" b="0">
                          <a:solidFill>
                            <a:srgbClr val="F5636E"/>
                          </a:solidFill>
                          <a:latin typeface="Calibri"/>
                        </a:rPr>
                        <a:t>0.448</a:t>
                      </a:r>
                    </a:p>
                  </a:txBody>
                  <a:tcPr anchor="ctr" marL="109728" marR="109728" marT="0" marB="0">
                    <a:solidFill>
                      <a:srgbClr val="FFFFFF"/>
                    </a:solidFill>
                  </a:tcPr>
                </a:tc>
                <a:tc>
                  <a:txBody>
                    <a:bodyPr/>
                    <a:lstStyle/>
                    <a:p>
                      <a:pPr algn="r"/>
                      <a:r>
                        <a:rPr sz="1150" b="0">
                          <a:solidFill>
                            <a:srgbClr val="262B4A"/>
                          </a:solidFill>
                          <a:latin typeface="Calibri"/>
                        </a:rPr>
                        <a:t>1,247</a:t>
                      </a:r>
                    </a:p>
                  </a:txBody>
                  <a:tcPr anchor="ctr" marL="109728" marR="109728" marT="0" marB="0">
                    <a:solidFill>
                      <a:srgbClr val="FFFFFF"/>
                    </a:solidFill>
                  </a:tcPr>
                </a:tc>
              </a:tr>
              <a:tr h="402336">
                <a:tc>
                  <a:txBody>
                    <a:bodyPr/>
                    <a:lstStyle/>
                    <a:p>
                      <a:pPr algn="l"/>
                      <a:r>
                        <a:rPr sz="1150" b="0">
                          <a:solidFill>
                            <a:srgbClr val="262B4A"/>
                          </a:solidFill>
                          <a:latin typeface="Calibri"/>
                        </a:rPr>
                        <a:t>Surprise</a:t>
                      </a:r>
                    </a:p>
                  </a:txBody>
                  <a:tcPr anchor="ctr" marL="109728" marR="109728" marT="0" marB="0">
                    <a:solidFill>
                      <a:srgbClr val="FFFFFF"/>
                    </a:solidFill>
                  </a:tcPr>
                </a:tc>
                <a:tc>
                  <a:txBody>
                    <a:bodyPr/>
                    <a:lstStyle/>
                    <a:p>
                      <a:pPr algn="r"/>
                      <a:r>
                        <a:rPr sz="1150" b="0">
                          <a:solidFill>
                            <a:srgbClr val="262B4A"/>
                          </a:solidFill>
                          <a:latin typeface="Calibri"/>
                        </a:rPr>
                        <a:t>0.747</a:t>
                      </a:r>
                    </a:p>
                  </a:txBody>
                  <a:tcPr anchor="ctr" marL="109728" marR="109728" marT="0" marB="0">
                    <a:solidFill>
                      <a:srgbClr val="FFFFFF"/>
                    </a:solidFill>
                  </a:tcPr>
                </a:tc>
                <a:tc>
                  <a:txBody>
                    <a:bodyPr/>
                    <a:lstStyle/>
                    <a:p>
                      <a:pPr algn="r"/>
                      <a:r>
                        <a:rPr sz="1150" b="0">
                          <a:solidFill>
                            <a:srgbClr val="262B4A"/>
                          </a:solidFill>
                          <a:latin typeface="Calibri"/>
                        </a:rPr>
                        <a:t>0.681</a:t>
                      </a:r>
                    </a:p>
                  </a:txBody>
                  <a:tcPr anchor="ctr" marL="109728" marR="109728" marT="0" marB="0">
                    <a:solidFill>
                      <a:srgbClr val="FFFFFF"/>
                    </a:solidFill>
                  </a:tcPr>
                </a:tc>
                <a:tc>
                  <a:txBody>
                    <a:bodyPr/>
                    <a:lstStyle/>
                    <a:p>
                      <a:pPr algn="r"/>
                      <a:r>
                        <a:rPr sz="1150" b="1">
                          <a:solidFill>
                            <a:srgbClr val="1B7F5A"/>
                          </a:solidFill>
                          <a:latin typeface="Calibri"/>
                        </a:rPr>
                        <a:t>0.712</a:t>
                      </a:r>
                    </a:p>
                  </a:txBody>
                  <a:tcPr anchor="ctr" marL="109728" marR="109728" marT="0" marB="0">
                    <a:solidFill>
                      <a:srgbClr val="FFFFFF"/>
                    </a:solidFill>
                  </a:tcPr>
                </a:tc>
                <a:tc>
                  <a:txBody>
                    <a:bodyPr/>
                    <a:lstStyle/>
                    <a:p>
                      <a:pPr algn="r"/>
                      <a:r>
                        <a:rPr sz="1150" b="0">
                          <a:solidFill>
                            <a:srgbClr val="262B4A"/>
                          </a:solidFill>
                          <a:latin typeface="Calibri"/>
                        </a:rPr>
                        <a:t>831</a:t>
                      </a:r>
                    </a:p>
                  </a:txBody>
                  <a:tcPr anchor="ctr" marL="109728" marR="109728" marT="0" marB="0">
                    <a:solidFill>
                      <a:srgbClr val="FFFFFF"/>
                    </a:solidFill>
                  </a:tcPr>
                </a:tc>
              </a:tr>
            </a:tbl>
          </a:graphicData>
        </a:graphic>
      </p:graphicFrame>
      <p:sp>
        <p:nvSpPr>
          <p:cNvPr id="8" name="Rounded Rectangle 7"/>
          <p:cNvSpPr/>
          <p:nvPr/>
        </p:nvSpPr>
        <p:spPr>
          <a:xfrm>
            <a:off x="7333488" y="1682496"/>
            <a:ext cx="4291279" cy="1298448"/>
          </a:xfrm>
          <a:prstGeom prst="roundRect">
            <a:avLst>
              <a:gd name="adj" fmla="val 845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9" name="TextBox 8"/>
          <p:cNvSpPr txBox="1"/>
          <p:nvPr/>
        </p:nvSpPr>
        <p:spPr>
          <a:xfrm>
            <a:off x="7571231" y="1847088"/>
            <a:ext cx="3815791" cy="256032"/>
          </a:xfrm>
          <a:prstGeom prst="rect">
            <a:avLst/>
          </a:prstGeom>
          <a:noFill/>
        </p:spPr>
        <p:txBody>
          <a:bodyPr wrap="square" anchor="t" lIns="0" rIns="0" tIns="0" bIns="0">
            <a:spAutoFit/>
          </a:bodyPr>
          <a:lstStyle/>
          <a:p>
            <a:pPr>
              <a:lnSpc>
                <a:spcPct val="115000"/>
              </a:lnSpc>
              <a:spcBef>
                <a:spcPts val="0"/>
              </a:spcBef>
              <a:spcAft>
                <a:spcPts val="0"/>
              </a:spcAft>
            </a:pPr>
            <a:r>
              <a:rPr sz="1250" b="1" i="0">
                <a:solidFill>
                  <a:srgbClr val="F5636E"/>
                </a:solidFill>
                <a:latin typeface="Calibri"/>
              </a:rPr>
              <a:t>Recognised reliably</a:t>
            </a:r>
          </a:p>
        </p:txBody>
      </p:sp>
      <p:sp>
        <p:nvSpPr>
          <p:cNvPr id="10" name="TextBox 9"/>
          <p:cNvSpPr txBox="1"/>
          <p:nvPr/>
        </p:nvSpPr>
        <p:spPr>
          <a:xfrm>
            <a:off x="7571231" y="2157984"/>
            <a:ext cx="3815791" cy="676655"/>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262B4A"/>
                </a:solidFill>
                <a:latin typeface="Calibri"/>
              </a:rPr>
              <a:t>Happy (F1 0.781) and Surprise (F1 0.712). Both involve large, unambiguous geometric deformation — a raised mouth curve, lifted brows — that survives downsampling to 48×48.</a:t>
            </a:r>
          </a:p>
        </p:txBody>
      </p:sp>
      <p:sp>
        <p:nvSpPr>
          <p:cNvPr id="11" name="Rounded Rectangle 10"/>
          <p:cNvSpPr/>
          <p:nvPr/>
        </p:nvSpPr>
        <p:spPr>
          <a:xfrm>
            <a:off x="7333488" y="3127248"/>
            <a:ext cx="4291279"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TextBox 11"/>
          <p:cNvSpPr txBox="1"/>
          <p:nvPr/>
        </p:nvSpPr>
        <p:spPr>
          <a:xfrm>
            <a:off x="7571231" y="3291840"/>
            <a:ext cx="3815791" cy="256032"/>
          </a:xfrm>
          <a:prstGeom prst="rect">
            <a:avLst/>
          </a:prstGeom>
          <a:noFill/>
        </p:spPr>
        <p:txBody>
          <a:bodyPr wrap="square" anchor="t" lIns="0" rIns="0" tIns="0" bIns="0">
            <a:spAutoFit/>
          </a:bodyPr>
          <a:lstStyle/>
          <a:p>
            <a:pPr>
              <a:lnSpc>
                <a:spcPct val="115000"/>
              </a:lnSpc>
              <a:spcBef>
                <a:spcPts val="0"/>
              </a:spcBef>
              <a:spcAft>
                <a:spcPts val="0"/>
              </a:spcAft>
            </a:pPr>
            <a:r>
              <a:rPr sz="1250" b="1" i="0">
                <a:solidFill>
                  <a:srgbClr val="F5636E"/>
                </a:solidFill>
                <a:latin typeface="Calibri"/>
              </a:rPr>
              <a:t>Recognised poorly</a:t>
            </a:r>
          </a:p>
        </p:txBody>
      </p:sp>
      <p:sp>
        <p:nvSpPr>
          <p:cNvPr id="13" name="TextBox 12"/>
          <p:cNvSpPr txBox="1"/>
          <p:nvPr/>
        </p:nvSpPr>
        <p:spPr>
          <a:xfrm>
            <a:off x="7571231" y="3602736"/>
            <a:ext cx="3815791" cy="566928"/>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262B4A"/>
                </a:solidFill>
                <a:latin typeface="Calibri"/>
              </a:rPr>
              <a:t>Fear (F1 0.346) and Sad (F1 0.448) are subtle, low-contrast expressions whose distinguishing cues are fine-grained and largely destroyed at this resolution.</a:t>
            </a:r>
          </a:p>
        </p:txBody>
      </p:sp>
      <p:sp>
        <p:nvSpPr>
          <p:cNvPr id="14" name="Rounded Rectangle 13"/>
          <p:cNvSpPr/>
          <p:nvPr/>
        </p:nvSpPr>
        <p:spPr>
          <a:xfrm>
            <a:off x="7333488" y="4462272"/>
            <a:ext cx="4291279" cy="1737360"/>
          </a:xfrm>
          <a:prstGeom prst="roundRect">
            <a:avLst>
              <a:gd name="adj" fmla="val 6315"/>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5" name="TextBox 14"/>
          <p:cNvSpPr txBox="1"/>
          <p:nvPr/>
        </p:nvSpPr>
        <p:spPr>
          <a:xfrm>
            <a:off x="7571231" y="4626864"/>
            <a:ext cx="3815791" cy="256032"/>
          </a:xfrm>
          <a:prstGeom prst="rect">
            <a:avLst/>
          </a:prstGeom>
          <a:noFill/>
        </p:spPr>
        <p:txBody>
          <a:bodyPr wrap="square" anchor="t" lIns="0" rIns="0" tIns="0" bIns="0">
            <a:spAutoFit/>
          </a:bodyPr>
          <a:lstStyle/>
          <a:p>
            <a:pPr>
              <a:lnSpc>
                <a:spcPct val="115000"/>
              </a:lnSpc>
              <a:spcBef>
                <a:spcPts val="0"/>
              </a:spcBef>
              <a:spcAft>
                <a:spcPts val="0"/>
              </a:spcAft>
            </a:pPr>
            <a:r>
              <a:rPr sz="1250" b="1" i="0">
                <a:solidFill>
                  <a:srgbClr val="F7DF93"/>
                </a:solidFill>
                <a:latin typeface="Calibri"/>
              </a:rPr>
              <a:t>Disgust — the revealing case</a:t>
            </a:r>
          </a:p>
        </p:txBody>
      </p:sp>
      <p:sp>
        <p:nvSpPr>
          <p:cNvPr id="16" name="TextBox 15"/>
          <p:cNvSpPr txBox="1"/>
          <p:nvPr/>
        </p:nvSpPr>
        <p:spPr>
          <a:xfrm>
            <a:off x="7571231" y="4937760"/>
            <a:ext cx="3815791" cy="1115567"/>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FFFFFF"/>
                </a:solidFill>
                <a:latin typeface="Calibri"/>
              </a:rPr>
              <a:t>Precision 0.792 but recall 0.171. When the model predicts disgust it is usually right, but it makes that prediction only 24 times in 7,178 images, catching 19 of 111 real cases. A direct consequence of the 1.5% training share — and invisible to accuracy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13</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Confusion Analysis</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The errors are systematic, not arbitrary</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pic>
        <p:nvPicPr>
          <p:cNvPr id="7" name="Picture 6" descr="confusion_matrix.png"/>
          <p:cNvPicPr>
            <a:picLocks noChangeAspect="1"/>
          </p:cNvPicPr>
          <p:nvPr/>
        </p:nvPicPr>
        <p:blipFill>
          <a:blip r:embed="rId2"/>
          <a:stretch>
            <a:fillRect/>
          </a:stretch>
        </p:blipFill>
        <p:spPr>
          <a:xfrm>
            <a:off x="566928" y="1682496"/>
            <a:ext cx="4789078" cy="3977639"/>
          </a:xfrm>
          <a:prstGeom prst="rect">
            <a:avLst/>
          </a:prstGeom>
        </p:spPr>
      </p:pic>
      <p:graphicFrame>
        <p:nvGraphicFramePr>
          <p:cNvPr id="8" name="Table 7"/>
          <p:cNvGraphicFramePr>
            <a:graphicFrameLocks noGrp="1"/>
          </p:cNvGraphicFramePr>
          <p:nvPr/>
        </p:nvGraphicFramePr>
        <p:xfrm>
          <a:off x="5721766" y="1682496"/>
          <a:ext cx="4617720" cy="2368296"/>
        </p:xfrm>
        <a:graphic>
          <a:graphicData uri="http://schemas.openxmlformats.org/drawingml/2006/table">
            <a:tbl>
              <a:tblPr>
                <a:tableStyleId>{5C22544A-7EE6-4342-B048-85BDC9FD1C3A}</a:tableStyleId>
              </a:tblPr>
              <a:tblGrid>
                <a:gridCol w="2423160"/>
                <a:gridCol w="960120"/>
                <a:gridCol w="1234440"/>
              </a:tblGrid>
              <a:tr h="338328">
                <a:tc>
                  <a:txBody>
                    <a:bodyPr/>
                    <a:lstStyle/>
                    <a:p>
                      <a:pPr algn="l"/>
                      <a:r>
                        <a:rPr sz="1100" b="1">
                          <a:solidFill>
                            <a:srgbClr val="FFFFFF"/>
                          </a:solidFill>
                          <a:latin typeface="Calibri"/>
                        </a:rPr>
                        <a:t>True → Predicted</a:t>
                      </a:r>
                    </a:p>
                  </a:txBody>
                  <a:tcPr anchor="ctr" marL="100584" marR="100584" marT="0" marB="0">
                    <a:solidFill>
                      <a:srgbClr val="262B4A"/>
                    </a:solidFill>
                  </a:tcPr>
                </a:tc>
                <a:tc>
                  <a:txBody>
                    <a:bodyPr/>
                    <a:lstStyle/>
                    <a:p>
                      <a:pPr algn="r"/>
                      <a:r>
                        <a:rPr sz="1100" b="1">
                          <a:solidFill>
                            <a:srgbClr val="FFFFFF"/>
                          </a:solidFill>
                          <a:latin typeface="Calibri"/>
                        </a:rPr>
                        <a:t>Count</a:t>
                      </a:r>
                    </a:p>
                  </a:txBody>
                  <a:tcPr anchor="ctr" marL="100584" marR="100584" marT="0" marB="0">
                    <a:solidFill>
                      <a:srgbClr val="262B4A"/>
                    </a:solidFill>
                  </a:tcPr>
                </a:tc>
                <a:tc>
                  <a:txBody>
                    <a:bodyPr/>
                    <a:lstStyle/>
                    <a:p>
                      <a:pPr algn="r"/>
                      <a:r>
                        <a:rPr sz="1100" b="1">
                          <a:solidFill>
                            <a:srgbClr val="FFFFFF"/>
                          </a:solidFill>
                          <a:latin typeface="Calibri"/>
                        </a:rPr>
                        <a:t>% of class</a:t>
                      </a:r>
                    </a:p>
                  </a:txBody>
                  <a:tcPr anchor="ctr" marL="100584" marR="100584" marT="0" marB="0">
                    <a:solidFill>
                      <a:srgbClr val="262B4A"/>
                    </a:solidFill>
                  </a:tcPr>
                </a:tc>
              </a:tr>
              <a:tr h="338328">
                <a:tc>
                  <a:txBody>
                    <a:bodyPr/>
                    <a:lstStyle/>
                    <a:p>
                      <a:pPr algn="l"/>
                      <a:r>
                        <a:rPr sz="1100" b="0">
                          <a:solidFill>
                            <a:srgbClr val="262B4A"/>
                          </a:solidFill>
                          <a:latin typeface="Calibri"/>
                        </a:rPr>
                        <a:t>Disgust → Angry</a:t>
                      </a:r>
                    </a:p>
                  </a:txBody>
                  <a:tcPr anchor="ctr" marL="100584" marR="100584" marT="0" marB="0">
                    <a:solidFill>
                      <a:srgbClr val="FFFFFF"/>
                    </a:solidFill>
                  </a:tcPr>
                </a:tc>
                <a:tc>
                  <a:txBody>
                    <a:bodyPr/>
                    <a:lstStyle/>
                    <a:p>
                      <a:pPr algn="r"/>
                      <a:r>
                        <a:rPr sz="1100" b="0">
                          <a:solidFill>
                            <a:srgbClr val="262B4A"/>
                          </a:solidFill>
                          <a:latin typeface="Calibri"/>
                        </a:rPr>
                        <a:t>40</a:t>
                      </a:r>
                    </a:p>
                  </a:txBody>
                  <a:tcPr anchor="ctr" marL="100584" marR="100584" marT="0" marB="0">
                    <a:solidFill>
                      <a:srgbClr val="FFFFFF"/>
                    </a:solidFill>
                  </a:tcPr>
                </a:tc>
                <a:tc>
                  <a:txBody>
                    <a:bodyPr/>
                    <a:lstStyle/>
                    <a:p>
                      <a:pPr algn="r"/>
                      <a:r>
                        <a:rPr sz="1100" b="0">
                          <a:solidFill>
                            <a:srgbClr val="262B4A"/>
                          </a:solidFill>
                          <a:latin typeface="Calibri"/>
                        </a:rPr>
                        <a:t>36.0%</a:t>
                      </a:r>
                    </a:p>
                  </a:txBody>
                  <a:tcPr anchor="ctr" marL="100584" marR="100584" marT="0" marB="0">
                    <a:solidFill>
                      <a:srgbClr val="FFFFFF"/>
                    </a:solidFill>
                  </a:tcPr>
                </a:tc>
              </a:tr>
              <a:tr h="338328">
                <a:tc>
                  <a:txBody>
                    <a:bodyPr/>
                    <a:lstStyle/>
                    <a:p>
                      <a:pPr algn="l"/>
                      <a:r>
                        <a:rPr sz="1100" b="0">
                          <a:solidFill>
                            <a:srgbClr val="262B4A"/>
                          </a:solidFill>
                          <a:latin typeface="Calibri"/>
                        </a:rPr>
                        <a:t>Fear → Sad</a:t>
                      </a:r>
                    </a:p>
                  </a:txBody>
                  <a:tcPr anchor="ctr" marL="100584" marR="100584" marT="0" marB="0">
                    <a:solidFill>
                      <a:srgbClr val="FFFFFF"/>
                    </a:solidFill>
                  </a:tcPr>
                </a:tc>
                <a:tc>
                  <a:txBody>
                    <a:bodyPr/>
                    <a:lstStyle/>
                    <a:p>
                      <a:pPr algn="r"/>
                      <a:r>
                        <a:rPr sz="1100" b="0">
                          <a:solidFill>
                            <a:srgbClr val="262B4A"/>
                          </a:solidFill>
                          <a:latin typeface="Calibri"/>
                        </a:rPr>
                        <a:t>279</a:t>
                      </a:r>
                    </a:p>
                  </a:txBody>
                  <a:tcPr anchor="ctr" marL="100584" marR="100584" marT="0" marB="0">
                    <a:solidFill>
                      <a:srgbClr val="FFFFFF"/>
                    </a:solidFill>
                  </a:tcPr>
                </a:tc>
                <a:tc>
                  <a:txBody>
                    <a:bodyPr/>
                    <a:lstStyle/>
                    <a:p>
                      <a:pPr algn="r"/>
                      <a:r>
                        <a:rPr sz="1100" b="0">
                          <a:solidFill>
                            <a:srgbClr val="262B4A"/>
                          </a:solidFill>
                          <a:latin typeface="Calibri"/>
                        </a:rPr>
                        <a:t>27.2%</a:t>
                      </a:r>
                    </a:p>
                  </a:txBody>
                  <a:tcPr anchor="ctr" marL="100584" marR="100584" marT="0" marB="0">
                    <a:solidFill>
                      <a:srgbClr val="FFFFFF"/>
                    </a:solidFill>
                  </a:tcPr>
                </a:tc>
              </a:tr>
              <a:tr h="338328">
                <a:tc>
                  <a:txBody>
                    <a:bodyPr/>
                    <a:lstStyle/>
                    <a:p>
                      <a:pPr algn="l"/>
                      <a:r>
                        <a:rPr sz="1100" b="0">
                          <a:solidFill>
                            <a:srgbClr val="262B4A"/>
                          </a:solidFill>
                          <a:latin typeface="Calibri"/>
                        </a:rPr>
                        <a:t>Sad → Neutral</a:t>
                      </a:r>
                    </a:p>
                  </a:txBody>
                  <a:tcPr anchor="ctr" marL="100584" marR="100584" marT="0" marB="0">
                    <a:solidFill>
                      <a:srgbClr val="FFFFFF"/>
                    </a:solidFill>
                  </a:tcPr>
                </a:tc>
                <a:tc>
                  <a:txBody>
                    <a:bodyPr/>
                    <a:lstStyle/>
                    <a:p>
                      <a:pPr algn="r"/>
                      <a:r>
                        <a:rPr sz="1100" b="0">
                          <a:solidFill>
                            <a:srgbClr val="262B4A"/>
                          </a:solidFill>
                          <a:latin typeface="Calibri"/>
                        </a:rPr>
                        <a:t>279</a:t>
                      </a:r>
                    </a:p>
                  </a:txBody>
                  <a:tcPr anchor="ctr" marL="100584" marR="100584" marT="0" marB="0">
                    <a:solidFill>
                      <a:srgbClr val="FFFFFF"/>
                    </a:solidFill>
                  </a:tcPr>
                </a:tc>
                <a:tc>
                  <a:txBody>
                    <a:bodyPr/>
                    <a:lstStyle/>
                    <a:p>
                      <a:pPr algn="r"/>
                      <a:r>
                        <a:rPr sz="1100" b="0">
                          <a:solidFill>
                            <a:srgbClr val="262B4A"/>
                          </a:solidFill>
                          <a:latin typeface="Calibri"/>
                        </a:rPr>
                        <a:t>22.4%</a:t>
                      </a:r>
                    </a:p>
                  </a:txBody>
                  <a:tcPr anchor="ctr" marL="100584" marR="100584" marT="0" marB="0">
                    <a:solidFill>
                      <a:srgbClr val="FFFFFF"/>
                    </a:solidFill>
                  </a:tcPr>
                </a:tc>
              </a:tr>
              <a:tr h="338328">
                <a:tc>
                  <a:txBody>
                    <a:bodyPr/>
                    <a:lstStyle/>
                    <a:p>
                      <a:pPr algn="l"/>
                      <a:r>
                        <a:rPr sz="1100" b="0">
                          <a:solidFill>
                            <a:srgbClr val="262B4A"/>
                          </a:solidFill>
                          <a:latin typeface="Calibri"/>
                        </a:rPr>
                        <a:t>Neutral → Sad</a:t>
                      </a:r>
                    </a:p>
                  </a:txBody>
                  <a:tcPr anchor="ctr" marL="100584" marR="100584" marT="0" marB="0">
                    <a:solidFill>
                      <a:srgbClr val="FFFFFF"/>
                    </a:solidFill>
                  </a:tcPr>
                </a:tc>
                <a:tc>
                  <a:txBody>
                    <a:bodyPr/>
                    <a:lstStyle/>
                    <a:p>
                      <a:pPr algn="r"/>
                      <a:r>
                        <a:rPr sz="1100" b="0">
                          <a:solidFill>
                            <a:srgbClr val="262B4A"/>
                          </a:solidFill>
                          <a:latin typeface="Calibri"/>
                        </a:rPr>
                        <a:t>234</a:t>
                      </a:r>
                    </a:p>
                  </a:txBody>
                  <a:tcPr anchor="ctr" marL="100584" marR="100584" marT="0" marB="0">
                    <a:solidFill>
                      <a:srgbClr val="FFFFFF"/>
                    </a:solidFill>
                  </a:tcPr>
                </a:tc>
                <a:tc>
                  <a:txBody>
                    <a:bodyPr/>
                    <a:lstStyle/>
                    <a:p>
                      <a:pPr algn="r"/>
                      <a:r>
                        <a:rPr sz="1100" b="0">
                          <a:solidFill>
                            <a:srgbClr val="262B4A"/>
                          </a:solidFill>
                          <a:latin typeface="Calibri"/>
                        </a:rPr>
                        <a:t>19.0%</a:t>
                      </a:r>
                    </a:p>
                  </a:txBody>
                  <a:tcPr anchor="ctr" marL="100584" marR="100584" marT="0" marB="0">
                    <a:solidFill>
                      <a:srgbClr val="FFFFFF"/>
                    </a:solidFill>
                  </a:tcPr>
                </a:tc>
              </a:tr>
              <a:tr h="338328">
                <a:tc>
                  <a:txBody>
                    <a:bodyPr/>
                    <a:lstStyle/>
                    <a:p>
                      <a:pPr algn="l"/>
                      <a:r>
                        <a:rPr sz="1100" b="0">
                          <a:solidFill>
                            <a:srgbClr val="262B4A"/>
                          </a:solidFill>
                          <a:latin typeface="Calibri"/>
                        </a:rPr>
                        <a:t>Angry → Sad</a:t>
                      </a:r>
                    </a:p>
                  </a:txBody>
                  <a:tcPr anchor="ctr" marL="100584" marR="100584" marT="0" marB="0">
                    <a:solidFill>
                      <a:srgbClr val="FFFFFF"/>
                    </a:solidFill>
                  </a:tcPr>
                </a:tc>
                <a:tc>
                  <a:txBody>
                    <a:bodyPr/>
                    <a:lstStyle/>
                    <a:p>
                      <a:pPr algn="r"/>
                      <a:r>
                        <a:rPr sz="1100" b="0">
                          <a:solidFill>
                            <a:srgbClr val="262B4A"/>
                          </a:solidFill>
                          <a:latin typeface="Calibri"/>
                        </a:rPr>
                        <a:t>174</a:t>
                      </a:r>
                    </a:p>
                  </a:txBody>
                  <a:tcPr anchor="ctr" marL="100584" marR="100584" marT="0" marB="0">
                    <a:solidFill>
                      <a:srgbClr val="FFFFFF"/>
                    </a:solidFill>
                  </a:tcPr>
                </a:tc>
                <a:tc>
                  <a:txBody>
                    <a:bodyPr/>
                    <a:lstStyle/>
                    <a:p>
                      <a:pPr algn="r"/>
                      <a:r>
                        <a:rPr sz="1100" b="0">
                          <a:solidFill>
                            <a:srgbClr val="262B4A"/>
                          </a:solidFill>
                          <a:latin typeface="Calibri"/>
                        </a:rPr>
                        <a:t>18.2%</a:t>
                      </a:r>
                    </a:p>
                  </a:txBody>
                  <a:tcPr anchor="ctr" marL="100584" marR="100584" marT="0" marB="0">
                    <a:solidFill>
                      <a:srgbClr val="FFFFFF"/>
                    </a:solidFill>
                  </a:tcPr>
                </a:tc>
              </a:tr>
              <a:tr h="338328">
                <a:tc>
                  <a:txBody>
                    <a:bodyPr/>
                    <a:lstStyle/>
                    <a:p>
                      <a:pPr algn="l"/>
                      <a:r>
                        <a:rPr sz="1100" b="0">
                          <a:solidFill>
                            <a:srgbClr val="262B4A"/>
                          </a:solidFill>
                          <a:latin typeface="Calibri"/>
                        </a:rPr>
                        <a:t>Surprise → Fear</a:t>
                      </a:r>
                    </a:p>
                  </a:txBody>
                  <a:tcPr anchor="ctr" marL="100584" marR="100584" marT="0" marB="0">
                    <a:solidFill>
                      <a:srgbClr val="FFFFFF"/>
                    </a:solidFill>
                  </a:tcPr>
                </a:tc>
                <a:tc>
                  <a:txBody>
                    <a:bodyPr/>
                    <a:lstStyle/>
                    <a:p>
                      <a:pPr algn="r"/>
                      <a:r>
                        <a:rPr sz="1100" b="0">
                          <a:solidFill>
                            <a:srgbClr val="262B4A"/>
                          </a:solidFill>
                          <a:latin typeface="Calibri"/>
                        </a:rPr>
                        <a:t>106</a:t>
                      </a:r>
                    </a:p>
                  </a:txBody>
                  <a:tcPr anchor="ctr" marL="100584" marR="100584" marT="0" marB="0">
                    <a:solidFill>
                      <a:srgbClr val="FFFFFF"/>
                    </a:solidFill>
                  </a:tcPr>
                </a:tc>
                <a:tc>
                  <a:txBody>
                    <a:bodyPr/>
                    <a:lstStyle/>
                    <a:p>
                      <a:pPr algn="r"/>
                      <a:r>
                        <a:rPr sz="1100" b="0">
                          <a:solidFill>
                            <a:srgbClr val="262B4A"/>
                          </a:solidFill>
                          <a:latin typeface="Calibri"/>
                        </a:rPr>
                        <a:t>12.8%</a:t>
                      </a:r>
                    </a:p>
                  </a:txBody>
                  <a:tcPr anchor="ctr" marL="100584" marR="100584" marT="0" marB="0">
                    <a:solidFill>
                      <a:srgbClr val="FFFFFF"/>
                    </a:solidFill>
                  </a:tcPr>
                </a:tc>
              </a:tr>
            </a:tbl>
          </a:graphicData>
        </a:graphic>
      </p:graphicFrame>
      <p:sp>
        <p:nvSpPr>
          <p:cNvPr id="9" name="Rounded Rectangle 8"/>
          <p:cNvSpPr/>
          <p:nvPr/>
        </p:nvSpPr>
        <p:spPr>
          <a:xfrm>
            <a:off x="5721766" y="4242816"/>
            <a:ext cx="5903000" cy="1417320"/>
          </a:xfrm>
          <a:prstGeom prst="roundRect">
            <a:avLst>
              <a:gd name="adj" fmla="val 7741"/>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0" name="TextBox 9"/>
          <p:cNvSpPr txBox="1"/>
          <p:nvPr/>
        </p:nvSpPr>
        <p:spPr>
          <a:xfrm>
            <a:off x="5977798" y="4462272"/>
            <a:ext cx="5390936" cy="1005840"/>
          </a:xfrm>
          <a:prstGeom prst="rect">
            <a:avLst/>
          </a:prstGeom>
          <a:noFill/>
        </p:spPr>
        <p:txBody>
          <a:bodyPr wrap="square" anchor="t" lIns="0" rIns="0" tIns="0" bIns="0">
            <a:spAutoFit/>
          </a:bodyPr>
          <a:lstStyle/>
          <a:p>
            <a:pPr>
              <a:lnSpc>
                <a:spcPct val="128000"/>
              </a:lnSpc>
              <a:spcBef>
                <a:spcPts val="0"/>
              </a:spcBef>
              <a:spcAft>
                <a:spcPts val="800"/>
              </a:spcAft>
            </a:pPr>
            <a:r>
              <a:rPr sz="1150" b="1" i="0">
                <a:solidFill>
                  <a:srgbClr val="F7DF93"/>
                </a:solidFill>
                <a:latin typeface="Calibri"/>
              </a:rPr>
              <a:t>Every dominant confusion pairs emotions that are genuinely similar in facial geometry and affective valence.</a:t>
            </a:r>
          </a:p>
          <a:p>
            <a:pPr>
              <a:lnSpc>
                <a:spcPct val="128000"/>
              </a:lnSpc>
              <a:spcBef>
                <a:spcPts val="0"/>
              </a:spcBef>
              <a:spcAft>
                <a:spcPts val="0"/>
              </a:spcAft>
            </a:pPr>
            <a:r>
              <a:rPr sz="1050" b="0" i="0">
                <a:solidFill>
                  <a:srgbClr val="FFFFFF"/>
                </a:solidFill>
                <a:latin typeface="Calibri"/>
              </a:rPr>
              <a:t>Disgust and anger share a lowered brow and raised upper lip. Fear and surprise share widened eyes and raised brows, differing mainly in mouth tension — a cue largely lost at 48×48.</a:t>
            </a:r>
          </a:p>
        </p:txBody>
      </p:sp>
      <p:sp>
        <p:nvSpPr>
          <p:cNvPr id="11" name="Rounded Rectangle 10"/>
          <p:cNvSpPr/>
          <p:nvPr/>
        </p:nvSpPr>
        <p:spPr>
          <a:xfrm>
            <a:off x="5721766" y="5797296"/>
            <a:ext cx="5903000" cy="777240"/>
          </a:xfrm>
          <a:prstGeom prst="roundRect">
            <a:avLst>
              <a:gd name="adj" fmla="val 141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TextBox 11"/>
          <p:cNvSpPr txBox="1"/>
          <p:nvPr/>
        </p:nvSpPr>
        <p:spPr>
          <a:xfrm>
            <a:off x="5977798" y="5797296"/>
            <a:ext cx="5390936" cy="777240"/>
          </a:xfrm>
          <a:prstGeom prst="rect">
            <a:avLst/>
          </a:prstGeom>
          <a:noFill/>
        </p:spPr>
        <p:txBody>
          <a:bodyPr wrap="square" anchor="ctr" lIns="0" rIns="0" tIns="0" bIns="0">
            <a:spAutoFit/>
          </a:bodyPr>
          <a:lstStyle/>
          <a:p>
            <a:pPr>
              <a:lnSpc>
                <a:spcPct val="128000"/>
              </a:lnSpc>
              <a:spcBef>
                <a:spcPts val="0"/>
              </a:spcBef>
              <a:spcAft>
                <a:spcPts val="0"/>
              </a:spcAft>
            </a:pPr>
            <a:r>
              <a:rPr sz="1050" b="0" i="0">
                <a:solidFill>
                  <a:srgbClr val="707694"/>
                </a:solidFill>
                <a:latin typeface="Calibri"/>
              </a:rPr>
              <a:t>Sad, neutral and angry form a mutually confusable cluster of low-arousal expressions. The model’s errors mirror the ambiguities human annotators also face.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14</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System Implementation</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F7DF93"/>
                </a:solidFill>
                <a:latin typeface="Calibri"/>
              </a:rPr>
              <a:t>Flask backend, Haar Cascade face localisation, CNN inference</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2641015" cy="2103120"/>
          </a:xfrm>
          <a:prstGeom prst="roundRect">
            <a:avLst>
              <a:gd name="adj" fmla="val 5217"/>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Oval 7"/>
          <p:cNvSpPr/>
          <p:nvPr/>
        </p:nvSpPr>
        <p:spPr>
          <a:xfrm>
            <a:off x="804672" y="1901952"/>
            <a:ext cx="457200" cy="457200"/>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1</a:t>
            </a:r>
          </a:p>
        </p:txBody>
      </p:sp>
      <p:sp>
        <p:nvSpPr>
          <p:cNvPr id="9" name="TextBox 8"/>
          <p:cNvSpPr txBox="1"/>
          <p:nvPr/>
        </p:nvSpPr>
        <p:spPr>
          <a:xfrm>
            <a:off x="804672" y="2487168"/>
            <a:ext cx="2165527"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Face localisation</a:t>
            </a:r>
          </a:p>
        </p:txBody>
      </p:sp>
      <p:sp>
        <p:nvSpPr>
          <p:cNvPr id="10" name="TextBox 9"/>
          <p:cNvSpPr txBox="1"/>
          <p:nvPr/>
        </p:nvSpPr>
        <p:spPr>
          <a:xfrm>
            <a:off x="804672" y="2816352"/>
            <a:ext cx="2165527" cy="896112"/>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A9AFCE"/>
                </a:solidFill>
                <a:latin typeface="Calibri"/>
              </a:rPr>
              <a:t>A Haar Cascade locates faces in the grayscale frame. Where several are found, the largest bounding box is taken as the subject.</a:t>
            </a:r>
          </a:p>
        </p:txBody>
      </p:sp>
      <p:sp>
        <p:nvSpPr>
          <p:cNvPr id="11" name="TextBox 10"/>
          <p:cNvSpPr txBox="1"/>
          <p:nvPr/>
        </p:nvSpPr>
        <p:spPr>
          <a:xfrm>
            <a:off x="3217087" y="2432304"/>
            <a:ext cx="146304" cy="27432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5636E"/>
                </a:solidFill>
                <a:latin typeface="Calibri"/>
              </a:rPr>
              <a:t>›</a:t>
            </a:r>
          </a:p>
        </p:txBody>
      </p:sp>
      <p:sp>
        <p:nvSpPr>
          <p:cNvPr id="12" name="Rounded Rectangle 11"/>
          <p:cNvSpPr/>
          <p:nvPr/>
        </p:nvSpPr>
        <p:spPr>
          <a:xfrm>
            <a:off x="3372535" y="1682496"/>
            <a:ext cx="2641015" cy="2103120"/>
          </a:xfrm>
          <a:prstGeom prst="roundRect">
            <a:avLst>
              <a:gd name="adj" fmla="val 5217"/>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Oval 12"/>
          <p:cNvSpPr/>
          <p:nvPr/>
        </p:nvSpPr>
        <p:spPr>
          <a:xfrm>
            <a:off x="3610279" y="1901952"/>
            <a:ext cx="457200" cy="457200"/>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2</a:t>
            </a:r>
          </a:p>
        </p:txBody>
      </p:sp>
      <p:sp>
        <p:nvSpPr>
          <p:cNvPr id="14" name="TextBox 13"/>
          <p:cNvSpPr txBox="1"/>
          <p:nvPr/>
        </p:nvSpPr>
        <p:spPr>
          <a:xfrm>
            <a:off x="3610279" y="2487168"/>
            <a:ext cx="2165527"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Crop</a:t>
            </a:r>
          </a:p>
        </p:txBody>
      </p:sp>
      <p:sp>
        <p:nvSpPr>
          <p:cNvPr id="15" name="TextBox 14"/>
          <p:cNvSpPr txBox="1"/>
          <p:nvPr/>
        </p:nvSpPr>
        <p:spPr>
          <a:xfrm>
            <a:off x="3610279" y="2816352"/>
            <a:ext cx="2165527" cy="896112"/>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A9AFCE"/>
                </a:solidFill>
                <a:latin typeface="Calibri"/>
              </a:rPr>
              <a:t>The face region is cropped. Essential — the network was trained on tight crops, so a full scene shifts the input off-distribution.</a:t>
            </a:r>
          </a:p>
        </p:txBody>
      </p:sp>
      <p:sp>
        <p:nvSpPr>
          <p:cNvPr id="16" name="TextBox 15"/>
          <p:cNvSpPr txBox="1"/>
          <p:nvPr/>
        </p:nvSpPr>
        <p:spPr>
          <a:xfrm>
            <a:off x="6022695" y="2432304"/>
            <a:ext cx="146304" cy="27432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5636E"/>
                </a:solidFill>
                <a:latin typeface="Calibri"/>
              </a:rPr>
              <a:t>›</a:t>
            </a:r>
          </a:p>
        </p:txBody>
      </p:sp>
      <p:sp>
        <p:nvSpPr>
          <p:cNvPr id="17" name="Rounded Rectangle 16"/>
          <p:cNvSpPr/>
          <p:nvPr/>
        </p:nvSpPr>
        <p:spPr>
          <a:xfrm>
            <a:off x="6178143" y="1682496"/>
            <a:ext cx="2641015" cy="2103120"/>
          </a:xfrm>
          <a:prstGeom prst="roundRect">
            <a:avLst>
              <a:gd name="adj" fmla="val 5217"/>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8" name="Oval 17"/>
          <p:cNvSpPr/>
          <p:nvPr/>
        </p:nvSpPr>
        <p:spPr>
          <a:xfrm>
            <a:off x="6415887" y="1901952"/>
            <a:ext cx="457200" cy="457200"/>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3</a:t>
            </a:r>
          </a:p>
        </p:txBody>
      </p:sp>
      <p:sp>
        <p:nvSpPr>
          <p:cNvPr id="19" name="TextBox 18"/>
          <p:cNvSpPr txBox="1"/>
          <p:nvPr/>
        </p:nvSpPr>
        <p:spPr>
          <a:xfrm>
            <a:off x="6415887" y="2487168"/>
            <a:ext cx="2165527"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Normalise</a:t>
            </a:r>
          </a:p>
        </p:txBody>
      </p:sp>
      <p:sp>
        <p:nvSpPr>
          <p:cNvPr id="20" name="TextBox 19"/>
          <p:cNvSpPr txBox="1"/>
          <p:nvPr/>
        </p:nvSpPr>
        <p:spPr>
          <a:xfrm>
            <a:off x="6415887" y="2816352"/>
            <a:ext cx="2165527" cy="896112"/>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A9AFCE"/>
                </a:solidFill>
                <a:latin typeface="Calibri"/>
              </a:rPr>
              <a:t>The crop is resized to 48×48 and scaled to [0, 1], matching training preprocessing exactly.</a:t>
            </a:r>
          </a:p>
        </p:txBody>
      </p:sp>
      <p:sp>
        <p:nvSpPr>
          <p:cNvPr id="21" name="TextBox 20"/>
          <p:cNvSpPr txBox="1"/>
          <p:nvPr/>
        </p:nvSpPr>
        <p:spPr>
          <a:xfrm>
            <a:off x="8828303" y="2432304"/>
            <a:ext cx="146304" cy="274320"/>
          </a:xfrm>
          <a:prstGeom prst="rect">
            <a:avLst/>
          </a:prstGeom>
          <a:noFill/>
        </p:spPr>
        <p:txBody>
          <a:bodyPr wrap="square" anchor="t" lIns="0" rIns="0" tIns="0" bIns="0">
            <a:spAutoFit/>
          </a:bodyPr>
          <a:lstStyle/>
          <a:p>
            <a:pPr algn="ctr">
              <a:lnSpc>
                <a:spcPct val="115000"/>
              </a:lnSpc>
              <a:spcBef>
                <a:spcPts val="0"/>
              </a:spcBef>
              <a:spcAft>
                <a:spcPts val="0"/>
              </a:spcAft>
            </a:pPr>
            <a:r>
              <a:rPr sz="2000" b="1" i="0">
                <a:solidFill>
                  <a:srgbClr val="F5636E"/>
                </a:solidFill>
                <a:latin typeface="Calibri"/>
              </a:rPr>
              <a:t>›</a:t>
            </a:r>
          </a:p>
        </p:txBody>
      </p:sp>
      <p:sp>
        <p:nvSpPr>
          <p:cNvPr id="22" name="Rounded Rectangle 21"/>
          <p:cNvSpPr/>
          <p:nvPr/>
        </p:nvSpPr>
        <p:spPr>
          <a:xfrm>
            <a:off x="8983751" y="1682496"/>
            <a:ext cx="2641015" cy="2103120"/>
          </a:xfrm>
          <a:prstGeom prst="roundRect">
            <a:avLst>
              <a:gd name="adj" fmla="val 5217"/>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3" name="Oval 22"/>
          <p:cNvSpPr/>
          <p:nvPr/>
        </p:nvSpPr>
        <p:spPr>
          <a:xfrm>
            <a:off x="9221495" y="1901952"/>
            <a:ext cx="457200" cy="457200"/>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4</a:t>
            </a:r>
          </a:p>
        </p:txBody>
      </p:sp>
      <p:sp>
        <p:nvSpPr>
          <p:cNvPr id="24" name="TextBox 23"/>
          <p:cNvSpPr txBox="1"/>
          <p:nvPr/>
        </p:nvSpPr>
        <p:spPr>
          <a:xfrm>
            <a:off x="9221495" y="2487168"/>
            <a:ext cx="2165527"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Predict</a:t>
            </a:r>
          </a:p>
        </p:txBody>
      </p:sp>
      <p:sp>
        <p:nvSpPr>
          <p:cNvPr id="25" name="TextBox 24"/>
          <p:cNvSpPr txBox="1"/>
          <p:nvPr/>
        </p:nvSpPr>
        <p:spPr>
          <a:xfrm>
            <a:off x="9221495" y="2816352"/>
            <a:ext cx="2165527" cy="896112"/>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A9AFCE"/>
                </a:solidFill>
                <a:latin typeface="Calibri"/>
              </a:rPr>
              <a:t>Softmax yields a probability per class; the argmax is reported with its confidence score.</a:t>
            </a:r>
          </a:p>
        </p:txBody>
      </p:sp>
      <p:graphicFrame>
        <p:nvGraphicFramePr>
          <p:cNvPr id="26" name="Table 25"/>
          <p:cNvGraphicFramePr>
            <a:graphicFrameLocks noGrp="1"/>
          </p:cNvGraphicFramePr>
          <p:nvPr/>
        </p:nvGraphicFramePr>
        <p:xfrm>
          <a:off x="566928" y="3986784"/>
          <a:ext cx="6903720" cy="1975104"/>
        </p:xfrm>
        <a:graphic>
          <a:graphicData uri="http://schemas.openxmlformats.org/drawingml/2006/table">
            <a:tbl>
              <a:tblPr>
                <a:tableStyleId>{5C22544A-7EE6-4342-B048-85BDC9FD1C3A}</a:tableStyleId>
              </a:tblPr>
              <a:tblGrid>
                <a:gridCol w="2606040"/>
                <a:gridCol w="960120"/>
                <a:gridCol w="3337560"/>
              </a:tblGrid>
              <a:tr h="329184">
                <a:tc>
                  <a:txBody>
                    <a:bodyPr/>
                    <a:lstStyle/>
                    <a:p>
                      <a:r>
                        <a:rPr sz="1050" b="1">
                          <a:solidFill>
                            <a:srgbClr val="FFFFFF"/>
                          </a:solidFill>
                          <a:latin typeface="Calibri"/>
                        </a:rPr>
                        <a:t>Endpoint</a:t>
                      </a:r>
                    </a:p>
                  </a:txBody>
                  <a:tcPr anchor="ctr" marL="109728" marR="109728" marT="0" marB="0">
                    <a:solidFill>
                      <a:srgbClr val="F5636E"/>
                    </a:solidFill>
                  </a:tcPr>
                </a:tc>
                <a:tc>
                  <a:txBody>
                    <a:bodyPr/>
                    <a:lstStyle/>
                    <a:p>
                      <a:r>
                        <a:rPr sz="1050" b="1">
                          <a:solidFill>
                            <a:srgbClr val="FFFFFF"/>
                          </a:solidFill>
                          <a:latin typeface="Calibri"/>
                        </a:rPr>
                        <a:t>Method</a:t>
                      </a:r>
                    </a:p>
                  </a:txBody>
                  <a:tcPr anchor="ctr" marL="109728" marR="109728" marT="0" marB="0">
                    <a:solidFill>
                      <a:srgbClr val="F5636E"/>
                    </a:solidFill>
                  </a:tcPr>
                </a:tc>
                <a:tc>
                  <a:txBody>
                    <a:bodyPr/>
                    <a:lstStyle/>
                    <a:p>
                      <a:r>
                        <a:rPr sz="1050" b="1">
                          <a:solidFill>
                            <a:srgbClr val="FFFFFF"/>
                          </a:solidFill>
                          <a:latin typeface="Calibri"/>
                        </a:rPr>
                        <a:t>Purpose</a:t>
                      </a:r>
                    </a:p>
                  </a:txBody>
                  <a:tcPr anchor="ctr" marL="109728" marR="109728" marT="0" marB="0">
                    <a:solidFill>
                      <a:srgbClr val="F5636E"/>
                    </a:solidFill>
                  </a:tcPr>
                </a:tc>
              </a:tr>
              <a:tr h="329184">
                <a:tc>
                  <a:txBody>
                    <a:bodyPr/>
                    <a:lstStyle/>
                    <a:p>
                      <a:r>
                        <a:rPr sz="1050" b="0">
                          <a:solidFill>
                            <a:srgbClr val="FFFFFF"/>
                          </a:solidFill>
                          <a:latin typeface="Consolas"/>
                        </a:rPr>
                        <a:t>/</a:t>
                      </a:r>
                    </a:p>
                  </a:txBody>
                  <a:tcPr anchor="ctr" marL="109728" marR="109728" marT="0" marB="0">
                    <a:solidFill>
                      <a:srgbClr val="32385C"/>
                    </a:solidFill>
                  </a:tcPr>
                </a:tc>
                <a:tc>
                  <a:txBody>
                    <a:bodyPr/>
                    <a:lstStyle/>
                    <a:p>
                      <a:r>
                        <a:rPr sz="1050" b="0">
                          <a:solidFill>
                            <a:srgbClr val="FFFFFF"/>
                          </a:solidFill>
                          <a:latin typeface="Calibri"/>
                        </a:rPr>
                        <a:t>GET</a:t>
                      </a:r>
                    </a:p>
                  </a:txBody>
                  <a:tcPr anchor="ctr" marL="109728" marR="109728" marT="0" marB="0">
                    <a:solidFill>
                      <a:srgbClr val="32385C"/>
                    </a:solidFill>
                  </a:tcPr>
                </a:tc>
                <a:tc>
                  <a:txBody>
                    <a:bodyPr/>
                    <a:lstStyle/>
                    <a:p>
                      <a:r>
                        <a:rPr sz="1050" b="0">
                          <a:solidFill>
                            <a:srgbClr val="FFFFFF"/>
                          </a:solidFill>
                          <a:latin typeface="Calibri"/>
                        </a:rPr>
                        <a:t>Web user interface</a:t>
                      </a:r>
                    </a:p>
                  </a:txBody>
                  <a:tcPr anchor="ctr" marL="109728" marR="109728" marT="0" marB="0">
                    <a:solidFill>
                      <a:srgbClr val="32385C"/>
                    </a:solidFill>
                  </a:tcPr>
                </a:tc>
              </a:tr>
              <a:tr h="329184">
                <a:tc>
                  <a:txBody>
                    <a:bodyPr/>
                    <a:lstStyle/>
                    <a:p>
                      <a:r>
                        <a:rPr sz="1050" b="0">
                          <a:solidFill>
                            <a:srgbClr val="FFFFFF"/>
                          </a:solidFill>
                          <a:latin typeface="Consolas"/>
                        </a:rPr>
                        <a:t>/video_feed</a:t>
                      </a:r>
                    </a:p>
                  </a:txBody>
                  <a:tcPr anchor="ctr" marL="109728" marR="109728" marT="0" marB="0">
                    <a:solidFill>
                      <a:srgbClr val="32385C"/>
                    </a:solidFill>
                  </a:tcPr>
                </a:tc>
                <a:tc>
                  <a:txBody>
                    <a:bodyPr/>
                    <a:lstStyle/>
                    <a:p>
                      <a:r>
                        <a:rPr sz="1050" b="0">
                          <a:solidFill>
                            <a:srgbClr val="FFFFFF"/>
                          </a:solidFill>
                          <a:latin typeface="Calibri"/>
                        </a:rPr>
                        <a:t>GET</a:t>
                      </a:r>
                    </a:p>
                  </a:txBody>
                  <a:tcPr anchor="ctr" marL="109728" marR="109728" marT="0" marB="0">
                    <a:solidFill>
                      <a:srgbClr val="32385C"/>
                    </a:solidFill>
                  </a:tcPr>
                </a:tc>
                <a:tc>
                  <a:txBody>
                    <a:bodyPr/>
                    <a:lstStyle/>
                    <a:p>
                      <a:r>
                        <a:rPr sz="1050" b="0">
                          <a:solidFill>
                            <a:srgbClr val="FFFFFF"/>
                          </a:solidFill>
                          <a:latin typeface="Calibri"/>
                        </a:rPr>
                        <a:t>MJPEG stream of annotated frames</a:t>
                      </a:r>
                    </a:p>
                  </a:txBody>
                  <a:tcPr anchor="ctr" marL="109728" marR="109728" marT="0" marB="0">
                    <a:solidFill>
                      <a:srgbClr val="32385C"/>
                    </a:solidFill>
                  </a:tcPr>
                </a:tc>
              </a:tr>
              <a:tr h="329184">
                <a:tc>
                  <a:txBody>
                    <a:bodyPr/>
                    <a:lstStyle/>
                    <a:p>
                      <a:r>
                        <a:rPr sz="1050" b="0">
                          <a:solidFill>
                            <a:srgbClr val="FFFFFF"/>
                          </a:solidFill>
                          <a:latin typeface="Consolas"/>
                        </a:rPr>
                        <a:t>/status</a:t>
                      </a:r>
                    </a:p>
                  </a:txBody>
                  <a:tcPr anchor="ctr" marL="109728" marR="109728" marT="0" marB="0">
                    <a:solidFill>
                      <a:srgbClr val="32385C"/>
                    </a:solidFill>
                  </a:tcPr>
                </a:tc>
                <a:tc>
                  <a:txBody>
                    <a:bodyPr/>
                    <a:lstStyle/>
                    <a:p>
                      <a:r>
                        <a:rPr sz="1050" b="0">
                          <a:solidFill>
                            <a:srgbClr val="FFFFFF"/>
                          </a:solidFill>
                          <a:latin typeface="Calibri"/>
                        </a:rPr>
                        <a:t>GET</a:t>
                      </a:r>
                    </a:p>
                  </a:txBody>
                  <a:tcPr anchor="ctr" marL="109728" marR="109728" marT="0" marB="0">
                    <a:solidFill>
                      <a:srgbClr val="32385C"/>
                    </a:solidFill>
                  </a:tcPr>
                </a:tc>
                <a:tc>
                  <a:txBody>
                    <a:bodyPr/>
                    <a:lstStyle/>
                    <a:p>
                      <a:r>
                        <a:rPr sz="1050" b="0">
                          <a:solidFill>
                            <a:srgbClr val="FFFFFF"/>
                          </a:solidFill>
                          <a:latin typeface="Calibri"/>
                        </a:rPr>
                        <a:t>Latest prediction and all seven confidence scores</a:t>
                      </a:r>
                    </a:p>
                  </a:txBody>
                  <a:tcPr anchor="ctr" marL="109728" marR="109728" marT="0" marB="0">
                    <a:solidFill>
                      <a:srgbClr val="32385C"/>
                    </a:solidFill>
                  </a:tcPr>
                </a:tc>
              </a:tr>
              <a:tr h="329184">
                <a:tc>
                  <a:txBody>
                    <a:bodyPr/>
                    <a:lstStyle/>
                    <a:p>
                      <a:r>
                        <a:rPr sz="1050" b="0">
                          <a:solidFill>
                            <a:srgbClr val="FFFFFF"/>
                          </a:solidFill>
                          <a:latin typeface="Consolas"/>
                        </a:rPr>
                        <a:t>/camera/start, /camera/stop</a:t>
                      </a:r>
                    </a:p>
                  </a:txBody>
                  <a:tcPr anchor="ctr" marL="109728" marR="109728" marT="0" marB="0">
                    <a:solidFill>
                      <a:srgbClr val="32385C"/>
                    </a:solidFill>
                  </a:tcPr>
                </a:tc>
                <a:tc>
                  <a:txBody>
                    <a:bodyPr/>
                    <a:lstStyle/>
                    <a:p>
                      <a:r>
                        <a:rPr sz="1050" b="0">
                          <a:solidFill>
                            <a:srgbClr val="FFFFFF"/>
                          </a:solidFill>
                          <a:latin typeface="Calibri"/>
                        </a:rPr>
                        <a:t>POST</a:t>
                      </a:r>
                    </a:p>
                  </a:txBody>
                  <a:tcPr anchor="ctr" marL="109728" marR="109728" marT="0" marB="0">
                    <a:solidFill>
                      <a:srgbClr val="32385C"/>
                    </a:solidFill>
                  </a:tcPr>
                </a:tc>
                <a:tc>
                  <a:txBody>
                    <a:bodyPr/>
                    <a:lstStyle/>
                    <a:p>
                      <a:r>
                        <a:rPr sz="1050" b="0">
                          <a:solidFill>
                            <a:srgbClr val="FFFFFF"/>
                          </a:solidFill>
                          <a:latin typeface="Calibri"/>
                        </a:rPr>
                        <a:t>Acquire and release the webcam</a:t>
                      </a:r>
                    </a:p>
                  </a:txBody>
                  <a:tcPr anchor="ctr" marL="109728" marR="109728" marT="0" marB="0">
                    <a:solidFill>
                      <a:srgbClr val="32385C"/>
                    </a:solidFill>
                  </a:tcPr>
                </a:tc>
              </a:tr>
              <a:tr h="329184">
                <a:tc>
                  <a:txBody>
                    <a:bodyPr/>
                    <a:lstStyle/>
                    <a:p>
                      <a:r>
                        <a:rPr sz="1050" b="0">
                          <a:solidFill>
                            <a:srgbClr val="FFFFFF"/>
                          </a:solidFill>
                          <a:latin typeface="Consolas"/>
                        </a:rPr>
                        <a:t>/api/health</a:t>
                      </a:r>
                    </a:p>
                  </a:txBody>
                  <a:tcPr anchor="ctr" marL="109728" marR="109728" marT="0" marB="0">
                    <a:solidFill>
                      <a:srgbClr val="32385C"/>
                    </a:solidFill>
                  </a:tcPr>
                </a:tc>
                <a:tc>
                  <a:txBody>
                    <a:bodyPr/>
                    <a:lstStyle/>
                    <a:p>
                      <a:r>
                        <a:rPr sz="1050" b="0">
                          <a:solidFill>
                            <a:srgbClr val="FFFFFF"/>
                          </a:solidFill>
                          <a:latin typeface="Calibri"/>
                        </a:rPr>
                        <a:t>GET</a:t>
                      </a:r>
                    </a:p>
                  </a:txBody>
                  <a:tcPr anchor="ctr" marL="109728" marR="109728" marT="0" marB="0">
                    <a:solidFill>
                      <a:srgbClr val="32385C"/>
                    </a:solidFill>
                  </a:tcPr>
                </a:tc>
                <a:tc>
                  <a:txBody>
                    <a:bodyPr/>
                    <a:lstStyle/>
                    <a:p>
                      <a:r>
                        <a:rPr sz="1050" b="0">
                          <a:solidFill>
                            <a:srgbClr val="FFFFFF"/>
                          </a:solidFill>
                          <a:latin typeface="Calibri"/>
                        </a:rPr>
                        <a:t>Service and model status</a:t>
                      </a:r>
                    </a:p>
                  </a:txBody>
                  <a:tcPr anchor="ctr" marL="109728" marR="109728" marT="0" marB="0">
                    <a:solidFill>
                      <a:srgbClr val="32385C"/>
                    </a:solidFill>
                  </a:tcPr>
                </a:tc>
              </a:tr>
            </a:tbl>
          </a:graphicData>
        </a:graphic>
      </p:graphicFrame>
      <p:sp>
        <p:nvSpPr>
          <p:cNvPr id="27" name="Rounded Rectangle 26"/>
          <p:cNvSpPr/>
          <p:nvPr/>
        </p:nvSpPr>
        <p:spPr>
          <a:xfrm>
            <a:off x="7744968" y="3986784"/>
            <a:ext cx="3879799" cy="2011680"/>
          </a:xfrm>
          <a:prstGeom prst="roundRect">
            <a:avLst>
              <a:gd name="adj" fmla="val 5454"/>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8" name="TextBox 27"/>
          <p:cNvSpPr txBox="1"/>
          <p:nvPr/>
        </p:nvSpPr>
        <p:spPr>
          <a:xfrm>
            <a:off x="8037576" y="4242816"/>
            <a:ext cx="3294583" cy="1554480"/>
          </a:xfrm>
          <a:prstGeom prst="rect">
            <a:avLst/>
          </a:prstGeom>
          <a:noFill/>
        </p:spPr>
        <p:txBody>
          <a:bodyPr wrap="square" anchor="t" lIns="0" rIns="0" tIns="0" bIns="0">
            <a:spAutoFit/>
          </a:bodyPr>
          <a:lstStyle/>
          <a:p>
            <a:pPr>
              <a:lnSpc>
                <a:spcPct val="115000"/>
              </a:lnSpc>
              <a:spcBef>
                <a:spcPts val="0"/>
              </a:spcBef>
              <a:spcAft>
                <a:spcPts val="600"/>
              </a:spcAft>
            </a:pPr>
            <a:r>
              <a:rPr sz="2200" b="1" i="0">
                <a:solidFill>
                  <a:srgbClr val="F7DF93"/>
                </a:solidFill>
                <a:latin typeface="Bookman Old Style"/>
              </a:rPr>
              <a:t>≈ 10 fps</a:t>
            </a:r>
          </a:p>
          <a:p>
            <a:pPr>
              <a:lnSpc>
                <a:spcPct val="126000"/>
              </a:lnSpc>
              <a:spcBef>
                <a:spcPts val="0"/>
              </a:spcBef>
              <a:spcAft>
                <a:spcPts val="0"/>
              </a:spcAft>
            </a:pPr>
            <a:r>
              <a:rPr sz="1050" b="0" i="0">
                <a:solidFill>
                  <a:srgbClr val="FFFFFF"/>
                </a:solidFill>
                <a:latin typeface="Calibri"/>
              </a:rPr>
              <a:t>Running the CNN on every captured frame stalls the stream. Inference therefore runs on every fifth frame and reuses the most recent prediction in between; face detection and box drawing still run every frame, so the overlay tracks smoothly. Measured at 84 frames over an 8-second capture.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15</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Real-Time Camera Detection</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The trained model running live in the browser</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5349240" cy="1051560"/>
          </a:xfrm>
          <a:prstGeom prst="roundRect">
            <a:avLst>
              <a:gd name="adj" fmla="val 1043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Rectangle 7"/>
          <p:cNvSpPr/>
          <p:nvPr/>
        </p:nvSpPr>
        <p:spPr>
          <a:xfrm>
            <a:off x="566928" y="1682496"/>
            <a:ext cx="54864" cy="105156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9" name="TextBox 8"/>
          <p:cNvSpPr txBox="1"/>
          <p:nvPr/>
        </p:nvSpPr>
        <p:spPr>
          <a:xfrm>
            <a:off x="877824" y="1865376"/>
            <a:ext cx="4754880" cy="256032"/>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262B4A"/>
                </a:solidFill>
                <a:latin typeface="Bookman Old Style"/>
              </a:rPr>
              <a:t>Server-side capture</a:t>
            </a:r>
          </a:p>
        </p:txBody>
      </p:sp>
      <p:sp>
        <p:nvSpPr>
          <p:cNvPr id="10" name="TextBox 9"/>
          <p:cNvSpPr txBox="1"/>
          <p:nvPr/>
        </p:nvSpPr>
        <p:spPr>
          <a:xfrm>
            <a:off x="877824" y="2176272"/>
            <a:ext cx="4754880" cy="502920"/>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707694"/>
                </a:solidFill>
                <a:latin typeface="Calibri"/>
              </a:rPr>
              <a:t>Flask serves a single-page application; OpenCV captures webcam frames on the machine running the server.</a:t>
            </a:r>
          </a:p>
        </p:txBody>
      </p:sp>
      <p:sp>
        <p:nvSpPr>
          <p:cNvPr id="11" name="Rounded Rectangle 10"/>
          <p:cNvSpPr/>
          <p:nvPr/>
        </p:nvSpPr>
        <p:spPr>
          <a:xfrm>
            <a:off x="566928" y="2889504"/>
            <a:ext cx="5349240" cy="1051560"/>
          </a:xfrm>
          <a:prstGeom prst="roundRect">
            <a:avLst>
              <a:gd name="adj" fmla="val 1043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Rectangle 11"/>
          <p:cNvSpPr/>
          <p:nvPr/>
        </p:nvSpPr>
        <p:spPr>
          <a:xfrm>
            <a:off x="566928" y="2889504"/>
            <a:ext cx="54864" cy="105156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TextBox 12"/>
          <p:cNvSpPr txBox="1"/>
          <p:nvPr/>
        </p:nvSpPr>
        <p:spPr>
          <a:xfrm>
            <a:off x="877824" y="3072384"/>
            <a:ext cx="4754880" cy="256032"/>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262B4A"/>
                </a:solidFill>
                <a:latin typeface="Bookman Old Style"/>
              </a:rPr>
              <a:t>MJPEG streaming</a:t>
            </a:r>
          </a:p>
        </p:txBody>
      </p:sp>
      <p:sp>
        <p:nvSpPr>
          <p:cNvPr id="14" name="TextBox 13"/>
          <p:cNvSpPr txBox="1"/>
          <p:nvPr/>
        </p:nvSpPr>
        <p:spPr>
          <a:xfrm>
            <a:off x="877824" y="3383280"/>
            <a:ext cx="4754880" cy="502920"/>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707694"/>
                </a:solidFill>
                <a:latin typeface="Calibri"/>
              </a:rPr>
              <a:t>Annotated frames are JPEG-encoded and pushed as a multipart/x-mixed-replace stream, rendered by a plain &lt;img&gt; element — no client-side video or ML code is required.</a:t>
            </a:r>
          </a:p>
        </p:txBody>
      </p:sp>
      <p:sp>
        <p:nvSpPr>
          <p:cNvPr id="15" name="Rounded Rectangle 14"/>
          <p:cNvSpPr/>
          <p:nvPr/>
        </p:nvSpPr>
        <p:spPr>
          <a:xfrm>
            <a:off x="566928" y="4096512"/>
            <a:ext cx="5349240" cy="1051560"/>
          </a:xfrm>
          <a:prstGeom prst="roundRect">
            <a:avLst>
              <a:gd name="adj" fmla="val 1043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6" name="Rectangle 15"/>
          <p:cNvSpPr/>
          <p:nvPr/>
        </p:nvSpPr>
        <p:spPr>
          <a:xfrm>
            <a:off x="566928" y="4096512"/>
            <a:ext cx="54864" cy="105156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7" name="TextBox 16"/>
          <p:cNvSpPr txBox="1"/>
          <p:nvPr/>
        </p:nvSpPr>
        <p:spPr>
          <a:xfrm>
            <a:off x="877824" y="4279392"/>
            <a:ext cx="4754880" cy="256032"/>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262B4A"/>
                </a:solidFill>
                <a:latin typeface="Bookman Old Style"/>
              </a:rPr>
              <a:t>Live confidence readout</a:t>
            </a:r>
          </a:p>
        </p:txBody>
      </p:sp>
      <p:sp>
        <p:nvSpPr>
          <p:cNvPr id="18" name="TextBox 17"/>
          <p:cNvSpPr txBox="1"/>
          <p:nvPr/>
        </p:nvSpPr>
        <p:spPr>
          <a:xfrm>
            <a:off x="877824" y="4590288"/>
            <a:ext cx="4754880" cy="502920"/>
          </a:xfrm>
          <a:prstGeom prst="rect">
            <a:avLst/>
          </a:prstGeom>
          <a:noFill/>
        </p:spPr>
        <p:txBody>
          <a:bodyPr wrap="square" anchor="t" lIns="0" rIns="0" tIns="0" bIns="0">
            <a:spAutoFit/>
          </a:bodyPr>
          <a:lstStyle/>
          <a:p>
            <a:pPr>
              <a:lnSpc>
                <a:spcPct val="126000"/>
              </a:lnSpc>
              <a:spcBef>
                <a:spcPts val="0"/>
              </a:spcBef>
              <a:spcAft>
                <a:spcPts val="0"/>
              </a:spcAft>
            </a:pPr>
            <a:r>
              <a:rPr sz="1050" b="0" i="0">
                <a:solidFill>
                  <a:srgbClr val="707694"/>
                </a:solidFill>
                <a:latin typeface="Calibri"/>
              </a:rPr>
              <a:t>The browser polls /status four times per second to update the emotion label and the confidence bars for all seven classes.</a:t>
            </a:r>
          </a:p>
        </p:txBody>
      </p:sp>
      <p:sp>
        <p:nvSpPr>
          <p:cNvPr id="19" name="Rounded Rectangle 18"/>
          <p:cNvSpPr/>
          <p:nvPr/>
        </p:nvSpPr>
        <p:spPr>
          <a:xfrm>
            <a:off x="6236208" y="1682496"/>
            <a:ext cx="5388559" cy="3931920"/>
          </a:xfrm>
          <a:prstGeom prst="roundRect">
            <a:avLst>
              <a:gd name="adj" fmla="val 3255"/>
            </a:avLst>
          </a:prstGeom>
          <a:solidFill>
            <a:srgbClr val="FFFFFF"/>
          </a:solidFill>
          <a:ln w="15875">
            <a:solidFill>
              <a:srgbClr val="E0D6C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0" name="TextBox 19"/>
          <p:cNvSpPr txBox="1"/>
          <p:nvPr/>
        </p:nvSpPr>
        <p:spPr>
          <a:xfrm>
            <a:off x="6601968" y="3282696"/>
            <a:ext cx="4657039" cy="822960"/>
          </a:xfrm>
          <a:prstGeom prst="rect">
            <a:avLst/>
          </a:prstGeom>
          <a:noFill/>
        </p:spPr>
        <p:txBody>
          <a:bodyPr wrap="square" anchor="t" lIns="0" rIns="0" tIns="0" bIns="0">
            <a:spAutoFit/>
          </a:bodyPr>
          <a:lstStyle/>
          <a:p>
            <a:pPr algn="ctr">
              <a:lnSpc>
                <a:spcPct val="115000"/>
              </a:lnSpc>
              <a:spcBef>
                <a:spcPts val="0"/>
              </a:spcBef>
              <a:spcAft>
                <a:spcPts val="600"/>
              </a:spcAft>
            </a:pPr>
            <a:r>
              <a:rPr sz="1300" b="1" i="0">
                <a:solidFill>
                  <a:srgbClr val="C0B6AC"/>
                </a:solidFill>
                <a:latin typeface="Calibri"/>
              </a:rPr>
              <a:t>[ Screenshot placeholder ]</a:t>
            </a:r>
          </a:p>
          <a:p>
            <a:pPr algn="ctr">
              <a:lnSpc>
                <a:spcPct val="125000"/>
              </a:lnSpc>
              <a:spcBef>
                <a:spcPts val="0"/>
              </a:spcBef>
              <a:spcAft>
                <a:spcPts val="0"/>
              </a:spcAft>
            </a:pPr>
            <a:r>
              <a:rPr sz="1050" b="0" i="0">
                <a:solidFill>
                  <a:srgbClr val="C0B6AC"/>
                </a:solidFill>
                <a:latin typeface="Calibri"/>
              </a:rPr>
              <a:t>Paste your live-detection screenshot here — the annotated webcam frame with the bounding box and emotion label.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16</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Discussion and Limitations</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F7DF93"/>
                </a:solidFill>
                <a:latin typeface="Calibri"/>
              </a:rPr>
              <a:t>The two principal weaknesses, both identifiable in the design</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5394960" cy="2514600"/>
          </a:xfrm>
          <a:prstGeom prst="roundRect">
            <a:avLst>
              <a:gd name="adj" fmla="val 509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TextBox 7"/>
          <p:cNvSpPr txBox="1"/>
          <p:nvPr/>
        </p:nvSpPr>
        <p:spPr>
          <a:xfrm>
            <a:off x="877824" y="1938528"/>
            <a:ext cx="4773168" cy="2103120"/>
          </a:xfrm>
          <a:prstGeom prst="rect">
            <a:avLst/>
          </a:prstGeom>
          <a:noFill/>
        </p:spPr>
        <p:txBody>
          <a:bodyPr wrap="square" anchor="t" lIns="0" rIns="0" tIns="0" bIns="0">
            <a:spAutoFit/>
          </a:bodyPr>
          <a:lstStyle/>
          <a:p>
            <a:pPr>
              <a:lnSpc>
                <a:spcPct val="115000"/>
              </a:lnSpc>
              <a:spcBef>
                <a:spcPts val="0"/>
              </a:spcBef>
              <a:spcAft>
                <a:spcPts val="1000"/>
              </a:spcAft>
            </a:pPr>
            <a:r>
              <a:rPr sz="1500" b="1" i="0">
                <a:solidFill>
                  <a:srgbClr val="F5636E"/>
                </a:solidFill>
                <a:latin typeface="Bookman Old Style"/>
              </a:rPr>
              <a:t>1.  Overfitting</a:t>
            </a:r>
          </a:p>
          <a:p>
            <a:pPr>
              <a:lnSpc>
                <a:spcPct val="128000"/>
              </a:lnSpc>
              <a:spcBef>
                <a:spcPts val="0"/>
              </a:spcBef>
              <a:spcAft>
                <a:spcPts val="800"/>
              </a:spcAft>
            </a:pPr>
            <a:r>
              <a:rPr sz="1100" b="0" i="0">
                <a:solidFill>
                  <a:srgbClr val="FFFFFF"/>
                </a:solidFill>
                <a:latin typeface="Calibri"/>
              </a:rPr>
              <a:t>No data augmentation.  The network sees each of the 28,709 images in an identical form every epoch. Random flips, rotations, zooms and brightness shifts would multiply the effective dataset size at zero labelling cost.</a:t>
            </a:r>
          </a:p>
          <a:p>
            <a:pPr>
              <a:lnSpc>
                <a:spcPct val="128000"/>
              </a:lnSpc>
              <a:spcBef>
                <a:spcPts val="0"/>
              </a:spcBef>
              <a:spcAft>
                <a:spcPts val="0"/>
              </a:spcAft>
            </a:pPr>
            <a:r>
              <a:rPr sz="1100" b="0" i="0">
                <a:solidFill>
                  <a:srgbClr val="A9AFCE"/>
                </a:solidFill>
                <a:latin typeface="Calibri"/>
              </a:rPr>
              <a:t>Minimal regularisation.  A single dropout layer before the classifier is the only explicit regulariser. Batch normalisation and weight decay would further constrain the network.</a:t>
            </a:r>
          </a:p>
        </p:txBody>
      </p:sp>
      <p:sp>
        <p:nvSpPr>
          <p:cNvPr id="9" name="Rounded Rectangle 8"/>
          <p:cNvSpPr/>
          <p:nvPr/>
        </p:nvSpPr>
        <p:spPr>
          <a:xfrm>
            <a:off x="6236208" y="1682496"/>
            <a:ext cx="5385816" cy="2514600"/>
          </a:xfrm>
          <a:prstGeom prst="roundRect">
            <a:avLst>
              <a:gd name="adj" fmla="val 509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0" name="TextBox 9"/>
          <p:cNvSpPr txBox="1"/>
          <p:nvPr/>
        </p:nvSpPr>
        <p:spPr>
          <a:xfrm>
            <a:off x="6547104" y="1938528"/>
            <a:ext cx="4764024" cy="2103120"/>
          </a:xfrm>
          <a:prstGeom prst="rect">
            <a:avLst/>
          </a:prstGeom>
          <a:noFill/>
        </p:spPr>
        <p:txBody>
          <a:bodyPr wrap="square" anchor="t" lIns="0" rIns="0" tIns="0" bIns="0">
            <a:spAutoFit/>
          </a:bodyPr>
          <a:lstStyle/>
          <a:p>
            <a:pPr>
              <a:lnSpc>
                <a:spcPct val="115000"/>
              </a:lnSpc>
              <a:spcBef>
                <a:spcPts val="0"/>
              </a:spcBef>
              <a:spcAft>
                <a:spcPts val="1000"/>
              </a:spcAft>
            </a:pPr>
            <a:r>
              <a:rPr sz="1500" b="1" i="0">
                <a:solidFill>
                  <a:srgbClr val="F5636E"/>
                </a:solidFill>
                <a:latin typeface="Bookman Old Style"/>
              </a:rPr>
              <a:t>2.  Class Imbalance</a:t>
            </a:r>
          </a:p>
          <a:p>
            <a:pPr>
              <a:lnSpc>
                <a:spcPct val="128000"/>
              </a:lnSpc>
              <a:spcBef>
                <a:spcPts val="0"/>
              </a:spcBef>
              <a:spcAft>
                <a:spcPts val="800"/>
              </a:spcAft>
            </a:pPr>
            <a:r>
              <a:rPr sz="1100" b="0" i="0">
                <a:solidFill>
                  <a:srgbClr val="FFFFFF"/>
                </a:solidFill>
                <a:latin typeface="Calibri"/>
              </a:rPr>
              <a:t>Training with an unweighted loss allows the network to abandon the rare classes, as the disgust recall of 0.171 demonstrates.</a:t>
            </a:r>
          </a:p>
          <a:p>
            <a:pPr>
              <a:lnSpc>
                <a:spcPct val="128000"/>
              </a:lnSpc>
              <a:spcBef>
                <a:spcPts val="0"/>
              </a:spcBef>
              <a:spcAft>
                <a:spcPts val="0"/>
              </a:spcAft>
            </a:pPr>
            <a:r>
              <a:rPr sz="1100" b="0" i="0">
                <a:solidFill>
                  <a:srgbClr val="A9AFCE"/>
                </a:solidFill>
                <a:latin typeface="Calibri"/>
              </a:rPr>
              <a:t>Passing class_weight to model.fit() — inversely proportional to class frequency — would penalise errors on rare classes proportionally more, at some cost to majority-class accuracy. Oversampling and focal loss are alternative remedies.</a:t>
            </a:r>
          </a:p>
        </p:txBody>
      </p:sp>
      <p:sp>
        <p:nvSpPr>
          <p:cNvPr id="11" name="TextBox 10"/>
          <p:cNvSpPr txBox="1"/>
          <p:nvPr/>
        </p:nvSpPr>
        <p:spPr>
          <a:xfrm>
            <a:off x="566928" y="4471416"/>
            <a:ext cx="11057839" cy="274320"/>
          </a:xfrm>
          <a:prstGeom prst="rect">
            <a:avLst/>
          </a:prstGeom>
          <a:noFill/>
        </p:spPr>
        <p:txBody>
          <a:bodyPr wrap="square" anchor="t" lIns="0" rIns="0" tIns="0" bIns="0">
            <a:spAutoFit/>
          </a:bodyPr>
          <a:lstStyle/>
          <a:p>
            <a:pPr>
              <a:lnSpc>
                <a:spcPct val="115000"/>
              </a:lnSpc>
              <a:spcBef>
                <a:spcPts val="0"/>
              </a:spcBef>
              <a:spcAft>
                <a:spcPts val="0"/>
              </a:spcAft>
            </a:pPr>
            <a:r>
              <a:rPr sz="900" b="1" i="0">
                <a:solidFill>
                  <a:srgbClr val="F7DF93"/>
                </a:solidFill>
                <a:latin typeface="Calibri"/>
              </a:rPr>
              <a:t>O T H E R   C O N S T R A I N T S</a:t>
            </a:r>
          </a:p>
        </p:txBody>
      </p:sp>
      <p:sp>
        <p:nvSpPr>
          <p:cNvPr id="12" name="Rounded Rectangle 11"/>
          <p:cNvSpPr/>
          <p:nvPr/>
        </p:nvSpPr>
        <p:spPr>
          <a:xfrm>
            <a:off x="566928" y="4818888"/>
            <a:ext cx="2641015" cy="1051560"/>
          </a:xfrm>
          <a:prstGeom prst="roundRect">
            <a:avLst>
              <a:gd name="adj" fmla="val 8695"/>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TextBox 12"/>
          <p:cNvSpPr txBox="1"/>
          <p:nvPr/>
        </p:nvSpPr>
        <p:spPr>
          <a:xfrm>
            <a:off x="786384" y="4983479"/>
            <a:ext cx="2202103" cy="256032"/>
          </a:xfrm>
          <a:prstGeom prst="rect">
            <a:avLst/>
          </a:prstGeom>
          <a:noFill/>
        </p:spPr>
        <p:txBody>
          <a:bodyPr wrap="square" anchor="t" lIns="0" rIns="0" tIns="0" bIns="0">
            <a:spAutoFit/>
          </a:bodyPr>
          <a:lstStyle/>
          <a:p>
            <a:pPr>
              <a:lnSpc>
                <a:spcPct val="115000"/>
              </a:lnSpc>
              <a:spcBef>
                <a:spcPts val="0"/>
              </a:spcBef>
              <a:spcAft>
                <a:spcPts val="0"/>
              </a:spcAft>
            </a:pPr>
            <a:r>
              <a:rPr sz="1150" b="1" i="0">
                <a:solidFill>
                  <a:srgbClr val="FFFFFF"/>
                </a:solidFill>
                <a:latin typeface="Calibri"/>
              </a:rPr>
              <a:t>Frontal faces only</a:t>
            </a:r>
          </a:p>
        </p:txBody>
      </p:sp>
      <p:sp>
        <p:nvSpPr>
          <p:cNvPr id="14" name="TextBox 13"/>
          <p:cNvSpPr txBox="1"/>
          <p:nvPr/>
        </p:nvSpPr>
        <p:spPr>
          <a:xfrm>
            <a:off x="786384" y="5257800"/>
            <a:ext cx="2202103" cy="548640"/>
          </a:xfrm>
          <a:prstGeom prst="rect">
            <a:avLst/>
          </a:prstGeom>
          <a:noFill/>
        </p:spPr>
        <p:txBody>
          <a:bodyPr wrap="square" anchor="t" lIns="0" rIns="0" tIns="0" bIns="0">
            <a:spAutoFit/>
          </a:bodyPr>
          <a:lstStyle/>
          <a:p>
            <a:pPr>
              <a:lnSpc>
                <a:spcPct val="122000"/>
              </a:lnSpc>
              <a:spcBef>
                <a:spcPts val="0"/>
              </a:spcBef>
              <a:spcAft>
                <a:spcPts val="0"/>
              </a:spcAft>
            </a:pPr>
            <a:r>
              <a:rPr sz="1000" b="0" i="0">
                <a:solidFill>
                  <a:srgbClr val="A9AFCE"/>
                </a:solidFill>
                <a:latin typeface="Calibri"/>
              </a:rPr>
              <a:t>The Haar Cascade fails on profile views and heavy occlusion — no face means no prediction.</a:t>
            </a:r>
          </a:p>
        </p:txBody>
      </p:sp>
      <p:sp>
        <p:nvSpPr>
          <p:cNvPr id="15" name="Rounded Rectangle 14"/>
          <p:cNvSpPr/>
          <p:nvPr/>
        </p:nvSpPr>
        <p:spPr>
          <a:xfrm>
            <a:off x="3372535" y="4818888"/>
            <a:ext cx="2641015" cy="1051560"/>
          </a:xfrm>
          <a:prstGeom prst="roundRect">
            <a:avLst>
              <a:gd name="adj" fmla="val 8695"/>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6" name="TextBox 15"/>
          <p:cNvSpPr txBox="1"/>
          <p:nvPr/>
        </p:nvSpPr>
        <p:spPr>
          <a:xfrm>
            <a:off x="3591991" y="4983479"/>
            <a:ext cx="2202103" cy="256032"/>
          </a:xfrm>
          <a:prstGeom prst="rect">
            <a:avLst/>
          </a:prstGeom>
          <a:noFill/>
        </p:spPr>
        <p:txBody>
          <a:bodyPr wrap="square" anchor="t" lIns="0" rIns="0" tIns="0" bIns="0">
            <a:spAutoFit/>
          </a:bodyPr>
          <a:lstStyle/>
          <a:p>
            <a:pPr>
              <a:lnSpc>
                <a:spcPct val="115000"/>
              </a:lnSpc>
              <a:spcBef>
                <a:spcPts val="0"/>
              </a:spcBef>
              <a:spcAft>
                <a:spcPts val="0"/>
              </a:spcAft>
            </a:pPr>
            <a:r>
              <a:rPr sz="1150" b="1" i="0">
                <a:solidFill>
                  <a:srgbClr val="FFFFFF"/>
                </a:solidFill>
                <a:latin typeface="Calibri"/>
              </a:rPr>
              <a:t>Server-side camera</a:t>
            </a:r>
          </a:p>
        </p:txBody>
      </p:sp>
      <p:sp>
        <p:nvSpPr>
          <p:cNvPr id="17" name="TextBox 16"/>
          <p:cNvSpPr txBox="1"/>
          <p:nvPr/>
        </p:nvSpPr>
        <p:spPr>
          <a:xfrm>
            <a:off x="3591991" y="5257800"/>
            <a:ext cx="2202103" cy="548640"/>
          </a:xfrm>
          <a:prstGeom prst="rect">
            <a:avLst/>
          </a:prstGeom>
          <a:noFill/>
        </p:spPr>
        <p:txBody>
          <a:bodyPr wrap="square" anchor="t" lIns="0" rIns="0" tIns="0" bIns="0">
            <a:spAutoFit/>
          </a:bodyPr>
          <a:lstStyle/>
          <a:p>
            <a:pPr>
              <a:lnSpc>
                <a:spcPct val="122000"/>
              </a:lnSpc>
              <a:spcBef>
                <a:spcPts val="0"/>
              </a:spcBef>
              <a:spcAft>
                <a:spcPts val="0"/>
              </a:spcAft>
            </a:pPr>
            <a:r>
              <a:rPr sz="1000" b="0" i="0">
                <a:solidFill>
                  <a:srgbClr val="A9AFCE"/>
                </a:solidFill>
                <a:latin typeface="Calibri"/>
              </a:rPr>
              <a:t>Capture happens on the machine running the server, which suits a single-machine demonstration.</a:t>
            </a:r>
          </a:p>
        </p:txBody>
      </p:sp>
      <p:sp>
        <p:nvSpPr>
          <p:cNvPr id="18" name="Rounded Rectangle 17"/>
          <p:cNvSpPr/>
          <p:nvPr/>
        </p:nvSpPr>
        <p:spPr>
          <a:xfrm>
            <a:off x="6178143" y="4818888"/>
            <a:ext cx="2641015" cy="1051560"/>
          </a:xfrm>
          <a:prstGeom prst="roundRect">
            <a:avLst>
              <a:gd name="adj" fmla="val 8695"/>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9" name="TextBox 18"/>
          <p:cNvSpPr txBox="1"/>
          <p:nvPr/>
        </p:nvSpPr>
        <p:spPr>
          <a:xfrm>
            <a:off x="6397599" y="4983479"/>
            <a:ext cx="2202103" cy="256032"/>
          </a:xfrm>
          <a:prstGeom prst="rect">
            <a:avLst/>
          </a:prstGeom>
          <a:noFill/>
        </p:spPr>
        <p:txBody>
          <a:bodyPr wrap="square" anchor="t" lIns="0" rIns="0" tIns="0" bIns="0">
            <a:spAutoFit/>
          </a:bodyPr>
          <a:lstStyle/>
          <a:p>
            <a:pPr>
              <a:lnSpc>
                <a:spcPct val="115000"/>
              </a:lnSpc>
              <a:spcBef>
                <a:spcPts val="0"/>
              </a:spcBef>
              <a:spcAft>
                <a:spcPts val="0"/>
              </a:spcAft>
            </a:pPr>
            <a:r>
              <a:rPr sz="1150" b="1" i="0">
                <a:solidFill>
                  <a:srgbClr val="FFFFFF"/>
                </a:solidFill>
                <a:latin typeface="Calibri"/>
              </a:rPr>
              <a:t>Lighting sensitivity</a:t>
            </a:r>
          </a:p>
        </p:txBody>
      </p:sp>
      <p:sp>
        <p:nvSpPr>
          <p:cNvPr id="20" name="TextBox 19"/>
          <p:cNvSpPr txBox="1"/>
          <p:nvPr/>
        </p:nvSpPr>
        <p:spPr>
          <a:xfrm>
            <a:off x="6397599" y="5257800"/>
            <a:ext cx="2202103" cy="548640"/>
          </a:xfrm>
          <a:prstGeom prst="rect">
            <a:avLst/>
          </a:prstGeom>
          <a:noFill/>
        </p:spPr>
        <p:txBody>
          <a:bodyPr wrap="square" anchor="t" lIns="0" rIns="0" tIns="0" bIns="0">
            <a:spAutoFit/>
          </a:bodyPr>
          <a:lstStyle/>
          <a:p>
            <a:pPr>
              <a:lnSpc>
                <a:spcPct val="122000"/>
              </a:lnSpc>
              <a:spcBef>
                <a:spcPts val="0"/>
              </a:spcBef>
              <a:spcAft>
                <a:spcPts val="0"/>
              </a:spcAft>
            </a:pPr>
            <a:r>
              <a:rPr sz="1000" b="0" i="0">
                <a:solidFill>
                  <a:srgbClr val="A9AFCE"/>
                </a:solidFill>
                <a:latin typeface="Calibri"/>
              </a:rPr>
              <a:t>Training data offers limited illumination diversity; accuracy degrades in low light.</a:t>
            </a:r>
          </a:p>
        </p:txBody>
      </p:sp>
      <p:sp>
        <p:nvSpPr>
          <p:cNvPr id="21" name="Rounded Rectangle 20"/>
          <p:cNvSpPr/>
          <p:nvPr/>
        </p:nvSpPr>
        <p:spPr>
          <a:xfrm>
            <a:off x="8983751" y="4818888"/>
            <a:ext cx="2641015" cy="1051560"/>
          </a:xfrm>
          <a:prstGeom prst="roundRect">
            <a:avLst>
              <a:gd name="adj" fmla="val 8695"/>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2" name="TextBox 21"/>
          <p:cNvSpPr txBox="1"/>
          <p:nvPr/>
        </p:nvSpPr>
        <p:spPr>
          <a:xfrm>
            <a:off x="9203207" y="4983479"/>
            <a:ext cx="2202103" cy="256032"/>
          </a:xfrm>
          <a:prstGeom prst="rect">
            <a:avLst/>
          </a:prstGeom>
          <a:noFill/>
        </p:spPr>
        <p:txBody>
          <a:bodyPr wrap="square" anchor="t" lIns="0" rIns="0" tIns="0" bIns="0">
            <a:spAutoFit/>
          </a:bodyPr>
          <a:lstStyle/>
          <a:p>
            <a:pPr>
              <a:lnSpc>
                <a:spcPct val="115000"/>
              </a:lnSpc>
              <a:spcBef>
                <a:spcPts val="0"/>
              </a:spcBef>
              <a:spcAft>
                <a:spcPts val="0"/>
              </a:spcAft>
            </a:pPr>
            <a:r>
              <a:rPr sz="1150" b="1" i="0">
                <a:solidFill>
                  <a:srgbClr val="FFFFFF"/>
                </a:solidFill>
                <a:latin typeface="Calibri"/>
              </a:rPr>
              <a:t>Single-face assumption</a:t>
            </a:r>
          </a:p>
        </p:txBody>
      </p:sp>
      <p:sp>
        <p:nvSpPr>
          <p:cNvPr id="23" name="TextBox 22"/>
          <p:cNvSpPr txBox="1"/>
          <p:nvPr/>
        </p:nvSpPr>
        <p:spPr>
          <a:xfrm>
            <a:off x="9203207" y="5257800"/>
            <a:ext cx="2202103" cy="548640"/>
          </a:xfrm>
          <a:prstGeom prst="rect">
            <a:avLst/>
          </a:prstGeom>
          <a:noFill/>
        </p:spPr>
        <p:txBody>
          <a:bodyPr wrap="square" anchor="t" lIns="0" rIns="0" tIns="0" bIns="0">
            <a:spAutoFit/>
          </a:bodyPr>
          <a:lstStyle/>
          <a:p>
            <a:pPr>
              <a:lnSpc>
                <a:spcPct val="122000"/>
              </a:lnSpc>
              <a:spcBef>
                <a:spcPts val="0"/>
              </a:spcBef>
              <a:spcAft>
                <a:spcPts val="0"/>
              </a:spcAft>
            </a:pPr>
            <a:r>
              <a:rPr sz="1000" b="0" i="0">
                <a:solidFill>
                  <a:srgbClr val="A9AFCE"/>
                </a:solidFill>
                <a:latin typeface="Calibri"/>
              </a:rPr>
              <a:t>Only the largest detected face is classified in each frame.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17</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A Defect Found and Corrected</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Label-order consistency — and why end-to-end verification mattered</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6766560" cy="1874519"/>
          </a:xfrm>
          <a:prstGeom prst="roundRect">
            <a:avLst>
              <a:gd name="adj" fmla="val 6829"/>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TextBox 7"/>
          <p:cNvSpPr txBox="1"/>
          <p:nvPr/>
        </p:nvSpPr>
        <p:spPr>
          <a:xfrm>
            <a:off x="877824" y="1920240"/>
            <a:ext cx="6144768" cy="274320"/>
          </a:xfrm>
          <a:prstGeom prst="rect">
            <a:avLst/>
          </a:prstGeom>
          <a:noFill/>
        </p:spPr>
        <p:txBody>
          <a:bodyPr wrap="square" anchor="t" lIns="0" rIns="0" tIns="0" bIns="0">
            <a:spAutoFit/>
          </a:bodyPr>
          <a:lstStyle/>
          <a:p>
            <a:pPr>
              <a:lnSpc>
                <a:spcPct val="115000"/>
              </a:lnSpc>
              <a:spcBef>
                <a:spcPts val="0"/>
              </a:spcBef>
              <a:spcAft>
                <a:spcPts val="0"/>
              </a:spcAft>
            </a:pPr>
            <a:r>
              <a:rPr sz="1350" b="1" i="0">
                <a:solidFill>
                  <a:srgbClr val="F7DF93"/>
                </a:solidFill>
                <a:latin typeface="Bookman Old Style"/>
              </a:rPr>
              <a:t>The mismatch</a:t>
            </a:r>
          </a:p>
        </p:txBody>
      </p:sp>
      <p:sp>
        <p:nvSpPr>
          <p:cNvPr id="9" name="TextBox 8"/>
          <p:cNvSpPr txBox="1"/>
          <p:nvPr/>
        </p:nvSpPr>
        <p:spPr>
          <a:xfrm>
            <a:off x="877824" y="2286000"/>
            <a:ext cx="6144768" cy="1188720"/>
          </a:xfrm>
          <a:prstGeom prst="rect">
            <a:avLst/>
          </a:prstGeom>
          <a:noFill/>
        </p:spPr>
        <p:txBody>
          <a:bodyPr wrap="square" anchor="t" lIns="0" rIns="0" tIns="0" bIns="0">
            <a:spAutoFit/>
          </a:bodyPr>
          <a:lstStyle/>
          <a:p>
            <a:pPr>
              <a:lnSpc>
                <a:spcPct val="115000"/>
              </a:lnSpc>
              <a:spcBef>
                <a:spcPts val="0"/>
              </a:spcBef>
              <a:spcAft>
                <a:spcPts val="600"/>
              </a:spcAft>
            </a:pPr>
            <a:r>
              <a:rPr sz="1100" b="0" i="0">
                <a:solidFill>
                  <a:srgbClr val="F5636E"/>
                </a:solidFill>
                <a:latin typeface="Calibri"/>
              </a:rPr>
              <a:t>API returned:      [ Angry, Disgust, Fear, Happy, Sad, Surprise, Neutral ]</a:t>
            </a:r>
          </a:p>
          <a:p>
            <a:pPr>
              <a:lnSpc>
                <a:spcPct val="115000"/>
              </a:lnSpc>
              <a:spcBef>
                <a:spcPts val="0"/>
              </a:spcBef>
              <a:spcAft>
                <a:spcPts val="1000"/>
              </a:spcAft>
            </a:pPr>
            <a:r>
              <a:rPr sz="1100" b="0" i="0">
                <a:solidFill>
                  <a:srgbClr val="F7DF93"/>
                </a:solidFill>
                <a:latin typeface="Calibri"/>
              </a:rPr>
              <a:t>Model trained on:  [ Angry, Disgust, Fear, Happy, Neutral, Sad, Surprise ]</a:t>
            </a:r>
          </a:p>
          <a:p>
            <a:pPr>
              <a:lnSpc>
                <a:spcPct val="128000"/>
              </a:lnSpc>
              <a:spcBef>
                <a:spcPts val="0"/>
              </a:spcBef>
              <a:spcAft>
                <a:spcPts val="0"/>
              </a:spcAft>
            </a:pPr>
            <a:r>
              <a:rPr sz="1150" b="0" i="0">
                <a:solidFill>
                  <a:srgbClr val="FFFFFF"/>
                </a:solidFill>
                <a:latin typeface="Calibri"/>
              </a:rPr>
              <a:t>Indices 4, 5 and 6 were permuted, so every prediction falling into those three classes was reported under the wrong name.</a:t>
            </a:r>
          </a:p>
        </p:txBody>
      </p:sp>
      <p:sp>
        <p:nvSpPr>
          <p:cNvPr id="10" name="Rounded Rectangle 9"/>
          <p:cNvSpPr/>
          <p:nvPr/>
        </p:nvSpPr>
        <p:spPr>
          <a:xfrm>
            <a:off x="7607808" y="1682496"/>
            <a:ext cx="4016959" cy="1874519"/>
          </a:xfrm>
          <a:prstGeom prst="roundRect">
            <a:avLst>
              <a:gd name="adj" fmla="val 6829"/>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1" name="TextBox 10"/>
          <p:cNvSpPr txBox="1"/>
          <p:nvPr/>
        </p:nvSpPr>
        <p:spPr>
          <a:xfrm>
            <a:off x="7607808" y="1956816"/>
            <a:ext cx="4016959" cy="1371600"/>
          </a:xfrm>
          <a:prstGeom prst="rect">
            <a:avLst/>
          </a:prstGeom>
          <a:noFill/>
        </p:spPr>
        <p:txBody>
          <a:bodyPr wrap="square" anchor="t" lIns="0" rIns="0" tIns="0" bIns="0">
            <a:spAutoFit/>
          </a:bodyPr>
          <a:lstStyle/>
          <a:p>
            <a:pPr algn="ctr">
              <a:lnSpc>
                <a:spcPct val="115000"/>
              </a:lnSpc>
              <a:spcBef>
                <a:spcPts val="0"/>
              </a:spcBef>
              <a:spcAft>
                <a:spcPts val="800"/>
              </a:spcAft>
            </a:pPr>
            <a:r>
              <a:rPr sz="2000" b="1" i="0">
                <a:solidFill>
                  <a:srgbClr val="FFFFFF"/>
                </a:solidFill>
                <a:latin typeface="Bookman Old Style"/>
              </a:rPr>
              <a:t>50.0%   vs   27.6%</a:t>
            </a:r>
          </a:p>
          <a:p>
            <a:pPr algn="ctr">
              <a:lnSpc>
                <a:spcPct val="126000"/>
              </a:lnSpc>
              <a:spcBef>
                <a:spcPts val="0"/>
              </a:spcBef>
              <a:spcAft>
                <a:spcPts val="0"/>
              </a:spcAft>
            </a:pPr>
            <a:r>
              <a:rPr sz="1100" b="0" i="0">
                <a:solidFill>
                  <a:srgbClr val="FFFFFF"/>
                </a:solidFill>
                <a:latin typeface="Calibri"/>
              </a:rPr>
              <a:t>Accuracy on the same held-out images under the correct ordering versus the incorrect one. The fix nearly doubled measured accuracy.</a:t>
            </a:r>
          </a:p>
        </p:txBody>
      </p:sp>
      <p:sp>
        <p:nvSpPr>
          <p:cNvPr id="12" name="Rounded Rectangle 11"/>
          <p:cNvSpPr/>
          <p:nvPr/>
        </p:nvSpPr>
        <p:spPr>
          <a:xfrm>
            <a:off x="566928" y="3831336"/>
            <a:ext cx="11057839" cy="777240"/>
          </a:xfrm>
          <a:prstGeom prst="roundRect">
            <a:avLst>
              <a:gd name="adj" fmla="val 1411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Rectangle 12"/>
          <p:cNvSpPr/>
          <p:nvPr/>
        </p:nvSpPr>
        <p:spPr>
          <a:xfrm>
            <a:off x="566928" y="3831336"/>
            <a:ext cx="54864" cy="777240"/>
          </a:xfrm>
          <a:prstGeom prst="rect">
            <a:avLst/>
          </a:prstGeom>
          <a:solidFill>
            <a:srgbClr val="F7DF9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4" name="TextBox 13"/>
          <p:cNvSpPr txBox="1"/>
          <p:nvPr/>
        </p:nvSpPr>
        <p:spPr>
          <a:xfrm>
            <a:off x="896112" y="3831336"/>
            <a:ext cx="10399471" cy="777240"/>
          </a:xfrm>
          <a:prstGeom prst="rect">
            <a:avLst/>
          </a:prstGeom>
          <a:noFill/>
        </p:spPr>
        <p:txBody>
          <a:bodyPr wrap="square" anchor="ctr" lIns="0" rIns="0" tIns="0" bIns="0">
            <a:spAutoFit/>
          </a:bodyPr>
          <a:lstStyle/>
          <a:p>
            <a:pPr>
              <a:lnSpc>
                <a:spcPct val="115000"/>
              </a:lnSpc>
              <a:spcBef>
                <a:spcPts val="0"/>
              </a:spcBef>
              <a:spcAft>
                <a:spcPts val="0"/>
              </a:spcAft>
            </a:pPr>
            <a:r>
              <a:rPr sz="1200" b="1" i="0">
                <a:solidFill>
                  <a:srgbClr val="262B4A"/>
                </a:solidFill>
                <a:latin typeface="Calibri"/>
              </a:rPr>
              <a:t>The defect was silent. The API returned well-formed responses with high confidence values, and nothing in the output indicated an error.</a:t>
            </a:r>
          </a:p>
        </p:txBody>
      </p:sp>
      <p:sp>
        <p:nvSpPr>
          <p:cNvPr id="15" name="Rounded Rectangle 14"/>
          <p:cNvSpPr/>
          <p:nvPr/>
        </p:nvSpPr>
        <p:spPr>
          <a:xfrm>
            <a:off x="566928" y="4791456"/>
            <a:ext cx="5419191"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6" name="TextBox 15"/>
          <p:cNvSpPr txBox="1"/>
          <p:nvPr/>
        </p:nvSpPr>
        <p:spPr>
          <a:xfrm>
            <a:off x="859536" y="5010912"/>
            <a:ext cx="4833975"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5636E"/>
                </a:solidFill>
                <a:latin typeface="Bookman Old Style"/>
              </a:rPr>
              <a:t>Lesson 1</a:t>
            </a:r>
          </a:p>
        </p:txBody>
      </p:sp>
      <p:sp>
        <p:nvSpPr>
          <p:cNvPr id="17" name="TextBox 16"/>
          <p:cNvSpPr txBox="1"/>
          <p:nvPr/>
        </p:nvSpPr>
        <p:spPr>
          <a:xfrm>
            <a:off x="859536" y="5358384"/>
            <a:ext cx="4833975" cy="548640"/>
          </a:xfrm>
          <a:prstGeom prst="rect">
            <a:avLst/>
          </a:prstGeom>
          <a:noFill/>
        </p:spPr>
        <p:txBody>
          <a:bodyPr wrap="square" anchor="t" lIns="0" rIns="0" tIns="0" bIns="0">
            <a:spAutoFit/>
          </a:bodyPr>
          <a:lstStyle/>
          <a:p>
            <a:pPr>
              <a:lnSpc>
                <a:spcPct val="128000"/>
              </a:lnSpc>
              <a:spcBef>
                <a:spcPts val="0"/>
              </a:spcBef>
              <a:spcAft>
                <a:spcPts val="0"/>
              </a:spcAft>
            </a:pPr>
            <a:r>
              <a:rPr sz="1150" b="0" i="0">
                <a:solidFill>
                  <a:srgbClr val="707694"/>
                </a:solidFill>
                <a:latin typeface="Calibri"/>
              </a:rPr>
              <a:t>The class ordering is a contract between training and inference. It should be defined once and imported everywhere, never restated per file.</a:t>
            </a:r>
          </a:p>
        </p:txBody>
      </p:sp>
      <p:sp>
        <p:nvSpPr>
          <p:cNvPr id="18" name="Rounded Rectangle 17"/>
          <p:cNvSpPr/>
          <p:nvPr/>
        </p:nvSpPr>
        <p:spPr>
          <a:xfrm>
            <a:off x="6205575" y="4791456"/>
            <a:ext cx="5419191" cy="1188720"/>
          </a:xfrm>
          <a:prstGeom prst="roundRect">
            <a:avLst>
              <a:gd name="adj" fmla="val 923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9" name="TextBox 18"/>
          <p:cNvSpPr txBox="1"/>
          <p:nvPr/>
        </p:nvSpPr>
        <p:spPr>
          <a:xfrm>
            <a:off x="6498183" y="5010912"/>
            <a:ext cx="4833975"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5636E"/>
                </a:solidFill>
                <a:latin typeface="Bookman Old Style"/>
              </a:rPr>
              <a:t>Lesson 2</a:t>
            </a:r>
          </a:p>
        </p:txBody>
      </p:sp>
      <p:sp>
        <p:nvSpPr>
          <p:cNvPr id="20" name="TextBox 19"/>
          <p:cNvSpPr txBox="1"/>
          <p:nvPr/>
        </p:nvSpPr>
        <p:spPr>
          <a:xfrm>
            <a:off x="6498183" y="5358384"/>
            <a:ext cx="4833975" cy="548640"/>
          </a:xfrm>
          <a:prstGeom prst="rect">
            <a:avLst/>
          </a:prstGeom>
          <a:noFill/>
        </p:spPr>
        <p:txBody>
          <a:bodyPr wrap="square" anchor="t" lIns="0" rIns="0" tIns="0" bIns="0">
            <a:spAutoFit/>
          </a:bodyPr>
          <a:lstStyle/>
          <a:p>
            <a:pPr>
              <a:lnSpc>
                <a:spcPct val="128000"/>
              </a:lnSpc>
              <a:spcBef>
                <a:spcPts val="0"/>
              </a:spcBef>
              <a:spcAft>
                <a:spcPts val="0"/>
              </a:spcAft>
            </a:pPr>
            <a:r>
              <a:rPr sz="1150" b="0" i="0">
                <a:solidFill>
                  <a:srgbClr val="707694"/>
                </a:solidFill>
                <a:latin typeface="Calibri"/>
              </a:rPr>
              <a:t>A defect of this kind is invisible to unit-level checks. It surfaces only when predictions are compared against known labels end to end.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18</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Future Work</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F7DF93"/>
                </a:solidFill>
                <a:latin typeface="Calibri"/>
              </a:rPr>
              <a:t>Ordered by expected benefit relative to effort</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3564026" cy="1938528"/>
          </a:xfrm>
          <a:prstGeom prst="roundRect">
            <a:avLst>
              <a:gd name="adj" fmla="val 566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Oval 7"/>
          <p:cNvSpPr/>
          <p:nvPr/>
        </p:nvSpPr>
        <p:spPr>
          <a:xfrm>
            <a:off x="822960" y="1920240"/>
            <a:ext cx="457200" cy="457200"/>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1</a:t>
            </a:r>
          </a:p>
        </p:txBody>
      </p:sp>
      <p:sp>
        <p:nvSpPr>
          <p:cNvPr id="9" name="TextBox 8"/>
          <p:cNvSpPr txBox="1"/>
          <p:nvPr/>
        </p:nvSpPr>
        <p:spPr>
          <a:xfrm>
            <a:off x="822960" y="2505456"/>
            <a:ext cx="3051962"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Data augmentation</a:t>
            </a:r>
          </a:p>
        </p:txBody>
      </p:sp>
      <p:sp>
        <p:nvSpPr>
          <p:cNvPr id="10" name="TextBox 9"/>
          <p:cNvSpPr txBox="1"/>
          <p:nvPr/>
        </p:nvSpPr>
        <p:spPr>
          <a:xfrm>
            <a:off x="822960" y="2816352"/>
            <a:ext cx="3051962" cy="713232"/>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A9AFCE"/>
                </a:solidFill>
                <a:latin typeface="Calibri"/>
              </a:rPr>
              <a:t>Random flips, rotations, zooms and brightness jitter. Directly addresses the primary limitation; expected to add several points of accuracy.</a:t>
            </a:r>
          </a:p>
        </p:txBody>
      </p:sp>
      <p:sp>
        <p:nvSpPr>
          <p:cNvPr id="11" name="Rounded Rectangle 10"/>
          <p:cNvSpPr/>
          <p:nvPr/>
        </p:nvSpPr>
        <p:spPr>
          <a:xfrm>
            <a:off x="4313834" y="1682496"/>
            <a:ext cx="3564026" cy="1938528"/>
          </a:xfrm>
          <a:prstGeom prst="roundRect">
            <a:avLst>
              <a:gd name="adj" fmla="val 566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Oval 11"/>
          <p:cNvSpPr/>
          <p:nvPr/>
        </p:nvSpPr>
        <p:spPr>
          <a:xfrm>
            <a:off x="4569866" y="1920240"/>
            <a:ext cx="457200" cy="457200"/>
          </a:xfrm>
          <a:prstGeom prst="ellipse">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FFFFF"/>
                </a:solidFill>
                <a:latin typeface="Bookman Old Style"/>
              </a:rPr>
              <a:t>2</a:t>
            </a:r>
          </a:p>
        </p:txBody>
      </p:sp>
      <p:sp>
        <p:nvSpPr>
          <p:cNvPr id="13" name="TextBox 12"/>
          <p:cNvSpPr txBox="1"/>
          <p:nvPr/>
        </p:nvSpPr>
        <p:spPr>
          <a:xfrm>
            <a:off x="4569866" y="2505456"/>
            <a:ext cx="3051962"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Class weighting</a:t>
            </a:r>
          </a:p>
        </p:txBody>
      </p:sp>
      <p:sp>
        <p:nvSpPr>
          <p:cNvPr id="14" name="TextBox 13"/>
          <p:cNvSpPr txBox="1"/>
          <p:nvPr/>
        </p:nvSpPr>
        <p:spPr>
          <a:xfrm>
            <a:off x="4569866" y="2816352"/>
            <a:ext cx="3051962" cy="713232"/>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A9AFCE"/>
                </a:solidFill>
                <a:latin typeface="Calibri"/>
              </a:rPr>
              <a:t>Recover usable recall on disgust and fear by penalising rare-class errors proportionally more.</a:t>
            </a:r>
          </a:p>
        </p:txBody>
      </p:sp>
      <p:sp>
        <p:nvSpPr>
          <p:cNvPr id="15" name="Rounded Rectangle 14"/>
          <p:cNvSpPr/>
          <p:nvPr/>
        </p:nvSpPr>
        <p:spPr>
          <a:xfrm>
            <a:off x="8060740" y="1682496"/>
            <a:ext cx="3564026" cy="1938528"/>
          </a:xfrm>
          <a:prstGeom prst="roundRect">
            <a:avLst>
              <a:gd name="adj" fmla="val 566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6" name="Oval 15"/>
          <p:cNvSpPr/>
          <p:nvPr/>
        </p:nvSpPr>
        <p:spPr>
          <a:xfrm>
            <a:off x="8316772" y="1920240"/>
            <a:ext cx="457200" cy="457200"/>
          </a:xfrm>
          <a:prstGeom prst="ellipse">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7DF93"/>
                </a:solidFill>
                <a:latin typeface="Bookman Old Style"/>
              </a:rPr>
              <a:t>3</a:t>
            </a:r>
          </a:p>
        </p:txBody>
      </p:sp>
      <p:sp>
        <p:nvSpPr>
          <p:cNvPr id="17" name="TextBox 16"/>
          <p:cNvSpPr txBox="1"/>
          <p:nvPr/>
        </p:nvSpPr>
        <p:spPr>
          <a:xfrm>
            <a:off x="8316772" y="2505456"/>
            <a:ext cx="3051962"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Batch normalisation</a:t>
            </a:r>
          </a:p>
        </p:txBody>
      </p:sp>
      <p:sp>
        <p:nvSpPr>
          <p:cNvPr id="18" name="TextBox 17"/>
          <p:cNvSpPr txBox="1"/>
          <p:nvPr/>
        </p:nvSpPr>
        <p:spPr>
          <a:xfrm>
            <a:off x="8316772" y="2816352"/>
            <a:ext cx="3051962" cy="713232"/>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A9AFCE"/>
                </a:solidFill>
                <a:latin typeface="Calibri"/>
              </a:rPr>
              <a:t>Deeper regularisation for faster, more stable convergence and reduced overfitting.</a:t>
            </a:r>
          </a:p>
        </p:txBody>
      </p:sp>
      <p:sp>
        <p:nvSpPr>
          <p:cNvPr id="19" name="Rounded Rectangle 18"/>
          <p:cNvSpPr/>
          <p:nvPr/>
        </p:nvSpPr>
        <p:spPr>
          <a:xfrm>
            <a:off x="566928" y="3822192"/>
            <a:ext cx="3564026" cy="1938528"/>
          </a:xfrm>
          <a:prstGeom prst="roundRect">
            <a:avLst>
              <a:gd name="adj" fmla="val 566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0" name="Oval 19"/>
          <p:cNvSpPr/>
          <p:nvPr/>
        </p:nvSpPr>
        <p:spPr>
          <a:xfrm>
            <a:off x="822960" y="4059936"/>
            <a:ext cx="457200" cy="457200"/>
          </a:xfrm>
          <a:prstGeom prst="ellipse">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7DF93"/>
                </a:solidFill>
                <a:latin typeface="Bookman Old Style"/>
              </a:rPr>
              <a:t>4</a:t>
            </a:r>
          </a:p>
        </p:txBody>
      </p:sp>
      <p:sp>
        <p:nvSpPr>
          <p:cNvPr id="21" name="TextBox 20"/>
          <p:cNvSpPr txBox="1"/>
          <p:nvPr/>
        </p:nvSpPr>
        <p:spPr>
          <a:xfrm>
            <a:off x="822960" y="4645152"/>
            <a:ext cx="3051962"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Transfer learning</a:t>
            </a:r>
          </a:p>
        </p:txBody>
      </p:sp>
      <p:sp>
        <p:nvSpPr>
          <p:cNvPr id="22" name="TextBox 21"/>
          <p:cNvSpPr txBox="1"/>
          <p:nvPr/>
        </p:nvSpPr>
        <p:spPr>
          <a:xfrm>
            <a:off x="822960" y="4956048"/>
            <a:ext cx="3051962" cy="713232"/>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A9AFCE"/>
                </a:solidFill>
                <a:latin typeface="Calibri"/>
              </a:rPr>
              <a:t>Fine-tune a VGG-16 or ResNet-50 backbone pretrained on ImageNet. Published results reach ≈70% on FER-2013.</a:t>
            </a:r>
          </a:p>
        </p:txBody>
      </p:sp>
      <p:sp>
        <p:nvSpPr>
          <p:cNvPr id="23" name="Rounded Rectangle 22"/>
          <p:cNvSpPr/>
          <p:nvPr/>
        </p:nvSpPr>
        <p:spPr>
          <a:xfrm>
            <a:off x="4313834" y="3822192"/>
            <a:ext cx="3564026" cy="1938528"/>
          </a:xfrm>
          <a:prstGeom prst="roundRect">
            <a:avLst>
              <a:gd name="adj" fmla="val 566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4" name="Oval 23"/>
          <p:cNvSpPr/>
          <p:nvPr/>
        </p:nvSpPr>
        <p:spPr>
          <a:xfrm>
            <a:off x="4569866" y="4059936"/>
            <a:ext cx="457200" cy="457200"/>
          </a:xfrm>
          <a:prstGeom prst="ellipse">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7DF93"/>
                </a:solidFill>
                <a:latin typeface="Bookman Old Style"/>
              </a:rPr>
              <a:t>5</a:t>
            </a:r>
          </a:p>
        </p:txBody>
      </p:sp>
      <p:sp>
        <p:nvSpPr>
          <p:cNvPr id="25" name="TextBox 24"/>
          <p:cNvSpPr txBox="1"/>
          <p:nvPr/>
        </p:nvSpPr>
        <p:spPr>
          <a:xfrm>
            <a:off x="4569866" y="4645152"/>
            <a:ext cx="3051962"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Better face detection</a:t>
            </a:r>
          </a:p>
        </p:txBody>
      </p:sp>
      <p:sp>
        <p:nvSpPr>
          <p:cNvPr id="26" name="TextBox 25"/>
          <p:cNvSpPr txBox="1"/>
          <p:nvPr/>
        </p:nvSpPr>
        <p:spPr>
          <a:xfrm>
            <a:off x="4569866" y="4956048"/>
            <a:ext cx="3051962" cy="713232"/>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A9AFCE"/>
                </a:solidFill>
                <a:latin typeface="Calibri"/>
              </a:rPr>
              <a:t>Replace the Haar Cascade with an MTCNN or DNN-based detector for robustness to pose and lighting.</a:t>
            </a:r>
          </a:p>
        </p:txBody>
      </p:sp>
      <p:sp>
        <p:nvSpPr>
          <p:cNvPr id="27" name="Rounded Rectangle 26"/>
          <p:cNvSpPr/>
          <p:nvPr/>
        </p:nvSpPr>
        <p:spPr>
          <a:xfrm>
            <a:off x="8060740" y="3822192"/>
            <a:ext cx="3564026" cy="1938528"/>
          </a:xfrm>
          <a:prstGeom prst="roundRect">
            <a:avLst>
              <a:gd name="adj" fmla="val 566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8" name="Oval 27"/>
          <p:cNvSpPr/>
          <p:nvPr/>
        </p:nvSpPr>
        <p:spPr>
          <a:xfrm>
            <a:off x="8316772" y="4059936"/>
            <a:ext cx="457200" cy="457200"/>
          </a:xfrm>
          <a:prstGeom prst="ellipse">
            <a:avLst/>
          </a:prstGeom>
          <a:solidFill>
            <a:srgbClr val="3A40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500" b="1">
                <a:solidFill>
                  <a:srgbClr val="F7DF93"/>
                </a:solidFill>
                <a:latin typeface="Bookman Old Style"/>
              </a:rPr>
              <a:t>6</a:t>
            </a:r>
          </a:p>
        </p:txBody>
      </p:sp>
      <p:sp>
        <p:nvSpPr>
          <p:cNvPr id="29" name="TextBox 28"/>
          <p:cNvSpPr txBox="1"/>
          <p:nvPr/>
        </p:nvSpPr>
        <p:spPr>
          <a:xfrm>
            <a:off x="8316772" y="4645152"/>
            <a:ext cx="3051962" cy="274320"/>
          </a:xfrm>
          <a:prstGeom prst="rect">
            <a:avLst/>
          </a:prstGeom>
          <a:noFill/>
        </p:spPr>
        <p:txBody>
          <a:bodyPr wrap="square" anchor="t" lIns="0" rIns="0" tIns="0" bIns="0">
            <a:spAutoFit/>
          </a:bodyPr>
          <a:lstStyle/>
          <a:p>
            <a:pPr>
              <a:lnSpc>
                <a:spcPct val="115000"/>
              </a:lnSpc>
              <a:spcBef>
                <a:spcPts val="0"/>
              </a:spcBef>
              <a:spcAft>
                <a:spcPts val="0"/>
              </a:spcAft>
            </a:pPr>
            <a:r>
              <a:rPr sz="1300" b="1" i="0">
                <a:solidFill>
                  <a:srgbClr val="FFFFFF"/>
                </a:solidFill>
                <a:latin typeface="Bookman Old Style"/>
              </a:rPr>
              <a:t>Temporal smoothing</a:t>
            </a:r>
          </a:p>
        </p:txBody>
      </p:sp>
      <p:sp>
        <p:nvSpPr>
          <p:cNvPr id="30" name="TextBox 29"/>
          <p:cNvSpPr txBox="1"/>
          <p:nvPr/>
        </p:nvSpPr>
        <p:spPr>
          <a:xfrm>
            <a:off x="8316772" y="4956048"/>
            <a:ext cx="3051962" cy="713232"/>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A9AFCE"/>
                </a:solidFill>
                <a:latin typeface="Calibri"/>
              </a:rPr>
              <a:t>Average predictions over a short window of frames to suppress the flicker of per-frame classification.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DF5EC"/>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A8A098"/>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A8A098"/>
                </a:solidFill>
                <a:latin typeface="Calibri"/>
              </a:rPr>
              <a:t>19</a:t>
            </a:r>
          </a:p>
        </p:txBody>
      </p:sp>
      <p:sp>
        <p:nvSpPr>
          <p:cNvPr id="4" name="TextBox 3"/>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262B4A"/>
                </a:solidFill>
                <a:latin typeface="Bookman Old Style"/>
              </a:rPr>
              <a:t>Application Extension — MoodFlick</a:t>
            </a:r>
          </a:p>
        </p:txBody>
      </p:sp>
      <p:sp>
        <p:nvSpPr>
          <p:cNvPr id="5" name="TextBox 4"/>
          <p:cNvSpPr txBox="1"/>
          <p:nvPr/>
        </p:nvSpPr>
        <p:spPr>
          <a:xfrm>
            <a:off x="566928" y="1033271"/>
            <a:ext cx="11057839" cy="292608"/>
          </a:xfrm>
          <a:prstGeom prst="rect">
            <a:avLst/>
          </a:prstGeom>
          <a:noFill/>
        </p:spPr>
        <p:txBody>
          <a:bodyPr wrap="square" anchor="t" lIns="0" rIns="0" tIns="0" bIns="0">
            <a:spAutoFit/>
          </a:bodyPr>
          <a:lstStyle/>
          <a:p>
            <a:pPr>
              <a:lnSpc>
                <a:spcPct val="115000"/>
              </a:lnSpc>
              <a:spcBef>
                <a:spcPts val="0"/>
              </a:spcBef>
              <a:spcAft>
                <a:spcPts val="0"/>
              </a:spcAft>
            </a:pPr>
            <a:r>
              <a:rPr sz="1250" b="0" i="0">
                <a:solidFill>
                  <a:srgbClr val="707694"/>
                </a:solidFill>
                <a:latin typeface="Calibri"/>
              </a:rPr>
              <a:t>A demonstration of the trained classifier used as a component in a larger product</a:t>
            </a:r>
          </a:p>
        </p:txBody>
      </p:sp>
      <p:sp>
        <p:nvSpPr>
          <p:cNvPr id="6" name="Rectangle 5"/>
          <p:cNvSpPr/>
          <p:nvPr/>
        </p:nvSpPr>
        <p:spPr>
          <a:xfrm>
            <a:off x="566928" y="137160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Rounded Rectangle 6"/>
          <p:cNvSpPr/>
          <p:nvPr/>
        </p:nvSpPr>
        <p:spPr>
          <a:xfrm>
            <a:off x="566928" y="1682496"/>
            <a:ext cx="5349240" cy="960120"/>
          </a:xfrm>
          <a:prstGeom prst="roundRect">
            <a:avLst>
              <a:gd name="adj" fmla="val 1142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8" name="Rectangle 7"/>
          <p:cNvSpPr/>
          <p:nvPr/>
        </p:nvSpPr>
        <p:spPr>
          <a:xfrm>
            <a:off x="566928" y="1682496"/>
            <a:ext cx="54864" cy="96012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9" name="TextBox 8"/>
          <p:cNvSpPr txBox="1"/>
          <p:nvPr/>
        </p:nvSpPr>
        <p:spPr>
          <a:xfrm>
            <a:off x="877824" y="1847088"/>
            <a:ext cx="4754880" cy="256032"/>
          </a:xfrm>
          <a:prstGeom prst="rect">
            <a:avLst/>
          </a:prstGeom>
          <a:noFill/>
        </p:spPr>
        <p:txBody>
          <a:bodyPr wrap="square" anchor="t" lIns="0" rIns="0" tIns="0" bIns="0">
            <a:spAutoFit/>
          </a:bodyPr>
          <a:lstStyle/>
          <a:p>
            <a:pPr>
              <a:lnSpc>
                <a:spcPct val="115000"/>
              </a:lnSpc>
              <a:spcBef>
                <a:spcPts val="0"/>
              </a:spcBef>
              <a:spcAft>
                <a:spcPts val="0"/>
              </a:spcAft>
            </a:pPr>
            <a:r>
              <a:rPr sz="1250" b="1" i="0">
                <a:solidFill>
                  <a:srgbClr val="262B4A"/>
                </a:solidFill>
                <a:latin typeface="Bookman Old Style"/>
              </a:rPr>
              <a:t>Same model, new surface</a:t>
            </a:r>
          </a:p>
        </p:txBody>
      </p:sp>
      <p:sp>
        <p:nvSpPr>
          <p:cNvPr id="10" name="TextBox 9"/>
          <p:cNvSpPr txBox="1"/>
          <p:nvPr/>
        </p:nvSpPr>
        <p:spPr>
          <a:xfrm>
            <a:off x="877824" y="2139696"/>
            <a:ext cx="4754880" cy="457200"/>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707694"/>
                </a:solidFill>
                <a:latin typeface="Calibri"/>
              </a:rPr>
              <a:t>The identical emotion_model.h5 classifier drives MoodFlick; nothing about the network or its training changes.</a:t>
            </a:r>
          </a:p>
        </p:txBody>
      </p:sp>
      <p:sp>
        <p:nvSpPr>
          <p:cNvPr id="11" name="Rounded Rectangle 10"/>
          <p:cNvSpPr/>
          <p:nvPr/>
        </p:nvSpPr>
        <p:spPr>
          <a:xfrm>
            <a:off x="566928" y="2779776"/>
            <a:ext cx="5349240" cy="960120"/>
          </a:xfrm>
          <a:prstGeom prst="roundRect">
            <a:avLst>
              <a:gd name="adj" fmla="val 1142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Rectangle 11"/>
          <p:cNvSpPr/>
          <p:nvPr/>
        </p:nvSpPr>
        <p:spPr>
          <a:xfrm>
            <a:off x="566928" y="2779776"/>
            <a:ext cx="54864" cy="96012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3" name="TextBox 12"/>
          <p:cNvSpPr txBox="1"/>
          <p:nvPr/>
        </p:nvSpPr>
        <p:spPr>
          <a:xfrm>
            <a:off x="877824" y="2944368"/>
            <a:ext cx="4754880" cy="256032"/>
          </a:xfrm>
          <a:prstGeom prst="rect">
            <a:avLst/>
          </a:prstGeom>
          <a:noFill/>
        </p:spPr>
        <p:txBody>
          <a:bodyPr wrap="square" anchor="t" lIns="0" rIns="0" tIns="0" bIns="0">
            <a:spAutoFit/>
          </a:bodyPr>
          <a:lstStyle/>
          <a:p>
            <a:pPr>
              <a:lnSpc>
                <a:spcPct val="115000"/>
              </a:lnSpc>
              <a:spcBef>
                <a:spcPts val="0"/>
              </a:spcBef>
              <a:spcAft>
                <a:spcPts val="0"/>
              </a:spcAft>
            </a:pPr>
            <a:r>
              <a:rPr sz="1250" b="1" i="0">
                <a:solidFill>
                  <a:srgbClr val="262B4A"/>
                </a:solidFill>
                <a:latin typeface="Bookman Old Style"/>
              </a:rPr>
              <a:t>Emotion → recommendation</a:t>
            </a:r>
          </a:p>
        </p:txBody>
      </p:sp>
      <p:sp>
        <p:nvSpPr>
          <p:cNvPr id="14" name="TextBox 13"/>
          <p:cNvSpPr txBox="1"/>
          <p:nvPr/>
        </p:nvSpPr>
        <p:spPr>
          <a:xfrm>
            <a:off x="877824" y="3236976"/>
            <a:ext cx="4754880" cy="457200"/>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707694"/>
                </a:solidFill>
                <a:latin typeface="Calibri"/>
              </a:rPr>
              <a:t>A scanned expression is mapped to a curated movie shelf, with the prediction confidence carried through into the ranking.</a:t>
            </a:r>
          </a:p>
        </p:txBody>
      </p:sp>
      <p:sp>
        <p:nvSpPr>
          <p:cNvPr id="15" name="Rounded Rectangle 14"/>
          <p:cNvSpPr/>
          <p:nvPr/>
        </p:nvSpPr>
        <p:spPr>
          <a:xfrm>
            <a:off x="566928" y="3877056"/>
            <a:ext cx="5349240" cy="960120"/>
          </a:xfrm>
          <a:prstGeom prst="roundRect">
            <a:avLst>
              <a:gd name="adj" fmla="val 1142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6" name="Rectangle 15"/>
          <p:cNvSpPr/>
          <p:nvPr/>
        </p:nvSpPr>
        <p:spPr>
          <a:xfrm>
            <a:off x="566928" y="3877056"/>
            <a:ext cx="54864" cy="960120"/>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7" name="TextBox 16"/>
          <p:cNvSpPr txBox="1"/>
          <p:nvPr/>
        </p:nvSpPr>
        <p:spPr>
          <a:xfrm>
            <a:off x="877824" y="4041648"/>
            <a:ext cx="4754880" cy="256032"/>
          </a:xfrm>
          <a:prstGeom prst="rect">
            <a:avLst/>
          </a:prstGeom>
          <a:noFill/>
        </p:spPr>
        <p:txBody>
          <a:bodyPr wrap="square" anchor="t" lIns="0" rIns="0" tIns="0" bIns="0">
            <a:spAutoFit/>
          </a:bodyPr>
          <a:lstStyle/>
          <a:p>
            <a:pPr>
              <a:lnSpc>
                <a:spcPct val="115000"/>
              </a:lnSpc>
              <a:spcBef>
                <a:spcPts val="0"/>
              </a:spcBef>
              <a:spcAft>
                <a:spcPts val="0"/>
              </a:spcAft>
            </a:pPr>
            <a:r>
              <a:rPr sz="1250" b="1" i="0">
                <a:solidFill>
                  <a:srgbClr val="262B4A"/>
                </a:solidFill>
                <a:latin typeface="Bookman Old Style"/>
              </a:rPr>
              <a:t>Manual refinement</a:t>
            </a:r>
          </a:p>
        </p:txBody>
      </p:sp>
      <p:sp>
        <p:nvSpPr>
          <p:cNvPr id="18" name="TextBox 17"/>
          <p:cNvSpPr txBox="1"/>
          <p:nvPr/>
        </p:nvSpPr>
        <p:spPr>
          <a:xfrm>
            <a:off x="877824" y="4334256"/>
            <a:ext cx="4754880" cy="457200"/>
          </a:xfrm>
          <a:prstGeom prst="rect">
            <a:avLst/>
          </a:prstGeom>
          <a:noFill/>
        </p:spPr>
        <p:txBody>
          <a:bodyPr wrap="square" anchor="t" lIns="0" rIns="0" tIns="0" bIns="0">
            <a:spAutoFit/>
          </a:bodyPr>
          <a:lstStyle/>
          <a:p>
            <a:pPr>
              <a:lnSpc>
                <a:spcPct val="124000"/>
              </a:lnSpc>
              <a:spcBef>
                <a:spcPts val="0"/>
              </a:spcBef>
              <a:spcAft>
                <a:spcPts val="0"/>
              </a:spcAft>
            </a:pPr>
            <a:r>
              <a:rPr sz="1050" b="0" i="0">
                <a:solidFill>
                  <a:srgbClr val="707694"/>
                </a:solidFill>
                <a:latin typeface="Calibri"/>
              </a:rPr>
              <a:t>Eight mood tags, fourteen genres and an actor/title search let users refine results beyond the camera scan.</a:t>
            </a:r>
          </a:p>
        </p:txBody>
      </p:sp>
      <p:sp>
        <p:nvSpPr>
          <p:cNvPr id="19" name="Rounded Rectangle 18"/>
          <p:cNvSpPr/>
          <p:nvPr/>
        </p:nvSpPr>
        <p:spPr>
          <a:xfrm>
            <a:off x="566928" y="5020056"/>
            <a:ext cx="5349240" cy="777240"/>
          </a:xfrm>
          <a:prstGeom prst="roundRect">
            <a:avLst>
              <a:gd name="adj" fmla="val 14117"/>
            </a:avLst>
          </a:prstGeom>
          <a:solidFill>
            <a:srgbClr val="262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0" name="TextBox 19"/>
          <p:cNvSpPr txBox="1"/>
          <p:nvPr/>
        </p:nvSpPr>
        <p:spPr>
          <a:xfrm>
            <a:off x="877824" y="5020056"/>
            <a:ext cx="4754880" cy="777240"/>
          </a:xfrm>
          <a:prstGeom prst="rect">
            <a:avLst/>
          </a:prstGeom>
          <a:noFill/>
        </p:spPr>
        <p:txBody>
          <a:bodyPr wrap="square" anchor="ctr" lIns="0" rIns="0" tIns="0" bIns="0">
            <a:spAutoFit/>
          </a:bodyPr>
          <a:lstStyle/>
          <a:p>
            <a:pPr>
              <a:lnSpc>
                <a:spcPct val="126000"/>
              </a:lnSpc>
              <a:spcBef>
                <a:spcPts val="0"/>
              </a:spcBef>
              <a:spcAft>
                <a:spcPts val="0"/>
              </a:spcAft>
            </a:pPr>
            <a:r>
              <a:rPr sz="1100" b="0" i="1">
                <a:solidFill>
                  <a:srgbClr val="F7DF93"/>
                </a:solidFill>
                <a:latin typeface="Calibri"/>
              </a:rPr>
              <a:t>MoodFlick is presented as an application of the model, not as the contribution of this project. The classifier itself remains the work.</a:t>
            </a:r>
          </a:p>
        </p:txBody>
      </p:sp>
      <p:sp>
        <p:nvSpPr>
          <p:cNvPr id="21" name="Rounded Rectangle 20"/>
          <p:cNvSpPr/>
          <p:nvPr/>
        </p:nvSpPr>
        <p:spPr>
          <a:xfrm>
            <a:off x="6236208" y="1682496"/>
            <a:ext cx="5388559" cy="4114800"/>
          </a:xfrm>
          <a:prstGeom prst="roundRect">
            <a:avLst>
              <a:gd name="adj" fmla="val 3111"/>
            </a:avLst>
          </a:prstGeom>
          <a:solidFill>
            <a:srgbClr val="FFFFFF"/>
          </a:solidFill>
          <a:ln w="15875">
            <a:solidFill>
              <a:srgbClr val="E0D6CB"/>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22" name="TextBox 21"/>
          <p:cNvSpPr txBox="1"/>
          <p:nvPr/>
        </p:nvSpPr>
        <p:spPr>
          <a:xfrm>
            <a:off x="6601968" y="3374136"/>
            <a:ext cx="4657039" cy="822960"/>
          </a:xfrm>
          <a:prstGeom prst="rect">
            <a:avLst/>
          </a:prstGeom>
          <a:noFill/>
        </p:spPr>
        <p:txBody>
          <a:bodyPr wrap="square" anchor="t" lIns="0" rIns="0" tIns="0" bIns="0">
            <a:spAutoFit/>
          </a:bodyPr>
          <a:lstStyle/>
          <a:p>
            <a:pPr algn="ctr">
              <a:lnSpc>
                <a:spcPct val="115000"/>
              </a:lnSpc>
              <a:spcBef>
                <a:spcPts val="0"/>
              </a:spcBef>
              <a:spcAft>
                <a:spcPts val="600"/>
              </a:spcAft>
            </a:pPr>
            <a:r>
              <a:rPr sz="1300" b="1" i="0">
                <a:solidFill>
                  <a:srgbClr val="C0B6AC"/>
                </a:solidFill>
                <a:latin typeface="Calibri"/>
              </a:rPr>
              <a:t>[ Screenshot placeholder ]</a:t>
            </a:r>
          </a:p>
          <a:p>
            <a:pPr algn="ctr">
              <a:lnSpc>
                <a:spcPct val="125000"/>
              </a:lnSpc>
              <a:spcBef>
                <a:spcPts val="0"/>
              </a:spcBef>
              <a:spcAft>
                <a:spcPts val="0"/>
              </a:spcAft>
            </a:pPr>
            <a:r>
              <a:rPr sz="1050" b="0" i="0">
                <a:solidFill>
                  <a:srgbClr val="C0B6AC"/>
                </a:solidFill>
                <a:latin typeface="Calibri"/>
              </a:rPr>
              <a:t>Paste a MoodFlick screenshot here — the detected-emotion panel and the recommended shelf.</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62B4A"/>
        </a:solidFill>
        <a:effectLst/>
      </p:bgPr>
    </p:bg>
    <p:spTree>
      <p:nvGrpSpPr>
        <p:cNvPr id="1" name=""/>
        <p:cNvGrpSpPr/>
        <p:nvPr/>
      </p:nvGrpSpPr>
      <p:grpSpPr/>
      <p:sp>
        <p:nvSpPr>
          <p:cNvPr id="2" name="TextBox 1"/>
          <p:cNvSpPr txBox="1"/>
          <p:nvPr/>
        </p:nvSpPr>
        <p:spPr>
          <a:xfrm>
            <a:off x="566928" y="6345936"/>
            <a:ext cx="5486400" cy="274320"/>
          </a:xfrm>
          <a:prstGeom prst="rect">
            <a:avLst/>
          </a:prstGeom>
          <a:noFill/>
        </p:spPr>
        <p:txBody>
          <a:bodyPr wrap="square" anchor="t" lIns="0" rIns="0" tIns="0" bIns="0">
            <a:spAutoFit/>
          </a:bodyPr>
          <a:lstStyle/>
          <a:p>
            <a:pPr>
              <a:lnSpc>
                <a:spcPct val="115000"/>
              </a:lnSpc>
              <a:spcBef>
                <a:spcPts val="0"/>
              </a:spcBef>
              <a:spcAft>
                <a:spcPts val="0"/>
              </a:spcAft>
            </a:pPr>
            <a:r>
              <a:rPr sz="900" b="0" i="0">
                <a:solidFill>
                  <a:srgbClr val="6C7399"/>
                </a:solidFill>
                <a:latin typeface="Calibri"/>
              </a:rPr>
              <a:t>Emotion Recognition System  —  Convolutional Neural Network</a:t>
            </a:r>
          </a:p>
        </p:txBody>
      </p:sp>
      <p:sp>
        <p:nvSpPr>
          <p:cNvPr id="3" name="TextBox 2"/>
          <p:cNvSpPr txBox="1"/>
          <p:nvPr/>
        </p:nvSpPr>
        <p:spPr>
          <a:xfrm>
            <a:off x="10710367" y="6345936"/>
            <a:ext cx="914400" cy="274320"/>
          </a:xfrm>
          <a:prstGeom prst="rect">
            <a:avLst/>
          </a:prstGeom>
          <a:noFill/>
        </p:spPr>
        <p:txBody>
          <a:bodyPr wrap="square" anchor="t" lIns="0" rIns="0" tIns="0" bIns="0">
            <a:spAutoFit/>
          </a:bodyPr>
          <a:lstStyle/>
          <a:p>
            <a:pPr algn="r">
              <a:lnSpc>
                <a:spcPct val="115000"/>
              </a:lnSpc>
              <a:spcBef>
                <a:spcPts val="0"/>
              </a:spcBef>
              <a:spcAft>
                <a:spcPts val="0"/>
              </a:spcAft>
            </a:pPr>
            <a:r>
              <a:rPr sz="900" b="0" i="0">
                <a:solidFill>
                  <a:srgbClr val="6C7399"/>
                </a:solidFill>
                <a:latin typeface="Calibri"/>
              </a:rPr>
              <a:t>20</a:t>
            </a:r>
          </a:p>
        </p:txBody>
      </p:sp>
      <p:sp>
        <p:nvSpPr>
          <p:cNvPr id="4" name="Oval 3"/>
          <p:cNvSpPr/>
          <p:nvPr/>
        </p:nvSpPr>
        <p:spPr>
          <a:xfrm>
            <a:off x="-1463040" y="4023360"/>
            <a:ext cx="3840480" cy="3840480"/>
          </a:xfrm>
          <a:prstGeom prst="ellipse">
            <a:avLst/>
          </a:prstGeom>
          <a:solidFill>
            <a:srgbClr val="3D2C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5" name="TextBox 4"/>
          <p:cNvSpPr txBox="1"/>
          <p:nvPr/>
        </p:nvSpPr>
        <p:spPr>
          <a:xfrm>
            <a:off x="566928" y="402336"/>
            <a:ext cx="11057839" cy="658368"/>
          </a:xfrm>
          <a:prstGeom prst="rect">
            <a:avLst/>
          </a:prstGeom>
          <a:noFill/>
        </p:spPr>
        <p:txBody>
          <a:bodyPr wrap="square" anchor="t" lIns="0" rIns="0" tIns="0" bIns="0">
            <a:spAutoFit/>
          </a:bodyPr>
          <a:lstStyle/>
          <a:p>
            <a:pPr>
              <a:lnSpc>
                <a:spcPct val="100000"/>
              </a:lnSpc>
              <a:spcBef>
                <a:spcPts val="0"/>
              </a:spcBef>
              <a:spcAft>
                <a:spcPts val="0"/>
              </a:spcAft>
            </a:pPr>
            <a:r>
              <a:rPr sz="3300" b="1" i="0">
                <a:solidFill>
                  <a:srgbClr val="FFFFFF"/>
                </a:solidFill>
                <a:latin typeface="Bookman Old Style"/>
              </a:rPr>
              <a:t>Conclusion</a:t>
            </a:r>
          </a:p>
        </p:txBody>
      </p:sp>
      <p:sp>
        <p:nvSpPr>
          <p:cNvPr id="6" name="Rectangle 5"/>
          <p:cNvSpPr/>
          <p:nvPr/>
        </p:nvSpPr>
        <p:spPr>
          <a:xfrm>
            <a:off x="566928" y="1051560"/>
            <a:ext cx="402336" cy="50292"/>
          </a:xfrm>
          <a:prstGeom prst="rect">
            <a:avLst/>
          </a:prstGeom>
          <a:solidFill>
            <a:srgbClr val="F563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7" name="TextBox 6"/>
          <p:cNvSpPr txBox="1"/>
          <p:nvPr/>
        </p:nvSpPr>
        <p:spPr>
          <a:xfrm>
            <a:off x="566928" y="1453896"/>
            <a:ext cx="10058400" cy="2194560"/>
          </a:xfrm>
          <a:prstGeom prst="rect">
            <a:avLst/>
          </a:prstGeom>
          <a:noFill/>
        </p:spPr>
        <p:txBody>
          <a:bodyPr wrap="square" anchor="t" lIns="0" rIns="0" tIns="0" bIns="0">
            <a:spAutoFit/>
          </a:bodyPr>
          <a:lstStyle/>
          <a:p>
            <a:pPr>
              <a:lnSpc>
                <a:spcPct val="140000"/>
              </a:lnSpc>
              <a:spcBef>
                <a:spcPts val="0"/>
              </a:spcBef>
              <a:spcAft>
                <a:spcPts val="1400"/>
              </a:spcAft>
            </a:pPr>
            <a:r>
              <a:rPr sz="1400" b="0" i="0">
                <a:solidFill>
                  <a:srgbClr val="FFFFFF"/>
                </a:solidFill>
                <a:latin typeface="Calibri"/>
              </a:rPr>
              <a:t>A complete facial emotion recognition system was designed, trained, evaluated and deployed. The CNN attains 57.09% accuracy across seven classes on 7,178 unseen test images — substantially exceeding the 14.29% random and 24.71% majority-class baselines, and comparable to typical results for a network of this size trained from scratch on FER-2013 without augmentation.</a:t>
            </a:r>
          </a:p>
          <a:p>
            <a:pPr>
              <a:lnSpc>
                <a:spcPct val="140000"/>
              </a:lnSpc>
              <a:spcBef>
                <a:spcPts val="0"/>
              </a:spcBef>
              <a:spcAft>
                <a:spcPts val="0"/>
              </a:spcAft>
            </a:pPr>
            <a:r>
              <a:rPr sz="1300" b="0" i="0">
                <a:solidFill>
                  <a:srgbClr val="A9AFCE"/>
                </a:solidFill>
                <a:latin typeface="Calibri"/>
              </a:rPr>
              <a:t>Beyond the headline figure, the evaluation established where the model succeeds and fails: high-signal expressions are recognised reliably, subtle and under-represented ones are not, and the training curves locate the onset of overfitting at approximately epoch 8 — identifying data augmentation and class weighting as the concrete next steps.</a:t>
            </a:r>
          </a:p>
        </p:txBody>
      </p:sp>
      <p:sp>
        <p:nvSpPr>
          <p:cNvPr id="8" name="Rounded Rectangle 7"/>
          <p:cNvSpPr/>
          <p:nvPr/>
        </p:nvSpPr>
        <p:spPr>
          <a:xfrm>
            <a:off x="566928" y="4160520"/>
            <a:ext cx="2627299" cy="914400"/>
          </a:xfrm>
          <a:prstGeom prst="roundRect">
            <a:avLst>
              <a:gd name="adj" fmla="val 1200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9" name="TextBox 8"/>
          <p:cNvSpPr txBox="1"/>
          <p:nvPr/>
        </p:nvSpPr>
        <p:spPr>
          <a:xfrm>
            <a:off x="566928" y="4315968"/>
            <a:ext cx="2627299" cy="320040"/>
          </a:xfrm>
          <a:prstGeom prst="rect">
            <a:avLst/>
          </a:prstGeom>
          <a:noFill/>
        </p:spPr>
        <p:txBody>
          <a:bodyPr wrap="square" anchor="t" lIns="0" rIns="0" tIns="0" bIns="0">
            <a:spAutoFit/>
          </a:bodyPr>
          <a:lstStyle/>
          <a:p>
            <a:pPr algn="ctr">
              <a:lnSpc>
                <a:spcPct val="115000"/>
              </a:lnSpc>
              <a:spcBef>
                <a:spcPts val="0"/>
              </a:spcBef>
              <a:spcAft>
                <a:spcPts val="0"/>
              </a:spcAft>
            </a:pPr>
            <a:r>
              <a:rPr sz="1800" b="1" i="0">
                <a:solidFill>
                  <a:srgbClr val="F7DF93"/>
                </a:solidFill>
                <a:latin typeface="Bookman Old Style"/>
              </a:rPr>
              <a:t>57.09%</a:t>
            </a:r>
          </a:p>
        </p:txBody>
      </p:sp>
      <p:sp>
        <p:nvSpPr>
          <p:cNvPr id="10" name="TextBox 9"/>
          <p:cNvSpPr txBox="1"/>
          <p:nvPr/>
        </p:nvSpPr>
        <p:spPr>
          <a:xfrm>
            <a:off x="566928" y="4700016"/>
            <a:ext cx="2627299" cy="274320"/>
          </a:xfrm>
          <a:prstGeom prst="rect">
            <a:avLst/>
          </a:prstGeom>
          <a:noFill/>
        </p:spPr>
        <p:txBody>
          <a:bodyPr wrap="square" anchor="t" lIns="0" rIns="0" tIns="0" bIns="0">
            <a:spAutoFit/>
          </a:bodyPr>
          <a:lstStyle/>
          <a:p>
            <a:pPr algn="ctr">
              <a:lnSpc>
                <a:spcPct val="115000"/>
              </a:lnSpc>
              <a:spcBef>
                <a:spcPts val="0"/>
              </a:spcBef>
              <a:spcAft>
                <a:spcPts val="0"/>
              </a:spcAft>
            </a:pPr>
            <a:r>
              <a:rPr sz="1050" b="0" i="0">
                <a:solidFill>
                  <a:srgbClr val="A9AFCE"/>
                </a:solidFill>
                <a:latin typeface="Calibri"/>
              </a:rPr>
              <a:t>test accuracy</a:t>
            </a:r>
          </a:p>
        </p:txBody>
      </p:sp>
      <p:sp>
        <p:nvSpPr>
          <p:cNvPr id="11" name="Rounded Rectangle 10"/>
          <p:cNvSpPr/>
          <p:nvPr/>
        </p:nvSpPr>
        <p:spPr>
          <a:xfrm>
            <a:off x="3377107" y="4160520"/>
            <a:ext cx="2627299" cy="914400"/>
          </a:xfrm>
          <a:prstGeom prst="roundRect">
            <a:avLst>
              <a:gd name="adj" fmla="val 1200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2" name="TextBox 11"/>
          <p:cNvSpPr txBox="1"/>
          <p:nvPr/>
        </p:nvSpPr>
        <p:spPr>
          <a:xfrm>
            <a:off x="3377107" y="4315968"/>
            <a:ext cx="2627299" cy="320040"/>
          </a:xfrm>
          <a:prstGeom prst="rect">
            <a:avLst/>
          </a:prstGeom>
          <a:noFill/>
        </p:spPr>
        <p:txBody>
          <a:bodyPr wrap="square" anchor="t" lIns="0" rIns="0" tIns="0" bIns="0">
            <a:spAutoFit/>
          </a:bodyPr>
          <a:lstStyle/>
          <a:p>
            <a:pPr algn="ctr">
              <a:lnSpc>
                <a:spcPct val="115000"/>
              </a:lnSpc>
              <a:spcBef>
                <a:spcPts val="0"/>
              </a:spcBef>
              <a:spcAft>
                <a:spcPts val="0"/>
              </a:spcAft>
            </a:pPr>
            <a:r>
              <a:rPr sz="1800" b="1" i="0">
                <a:solidFill>
                  <a:srgbClr val="F7DF93"/>
                </a:solidFill>
                <a:latin typeface="Bookman Old Style"/>
              </a:rPr>
              <a:t>355,847</a:t>
            </a:r>
          </a:p>
        </p:txBody>
      </p:sp>
      <p:sp>
        <p:nvSpPr>
          <p:cNvPr id="13" name="TextBox 12"/>
          <p:cNvSpPr txBox="1"/>
          <p:nvPr/>
        </p:nvSpPr>
        <p:spPr>
          <a:xfrm>
            <a:off x="3377107" y="4700016"/>
            <a:ext cx="2627299" cy="274320"/>
          </a:xfrm>
          <a:prstGeom prst="rect">
            <a:avLst/>
          </a:prstGeom>
          <a:noFill/>
        </p:spPr>
        <p:txBody>
          <a:bodyPr wrap="square" anchor="t" lIns="0" rIns="0" tIns="0" bIns="0">
            <a:spAutoFit/>
          </a:bodyPr>
          <a:lstStyle/>
          <a:p>
            <a:pPr algn="ctr">
              <a:lnSpc>
                <a:spcPct val="115000"/>
              </a:lnSpc>
              <a:spcBef>
                <a:spcPts val="0"/>
              </a:spcBef>
              <a:spcAft>
                <a:spcPts val="0"/>
              </a:spcAft>
            </a:pPr>
            <a:r>
              <a:rPr sz="1050" b="0" i="0">
                <a:solidFill>
                  <a:srgbClr val="A9AFCE"/>
                </a:solidFill>
                <a:latin typeface="Calibri"/>
              </a:rPr>
              <a:t>parameters</a:t>
            </a:r>
          </a:p>
        </p:txBody>
      </p:sp>
      <p:sp>
        <p:nvSpPr>
          <p:cNvPr id="14" name="Rounded Rectangle 13"/>
          <p:cNvSpPr/>
          <p:nvPr/>
        </p:nvSpPr>
        <p:spPr>
          <a:xfrm>
            <a:off x="6187287" y="4160520"/>
            <a:ext cx="2627299" cy="914400"/>
          </a:xfrm>
          <a:prstGeom prst="roundRect">
            <a:avLst>
              <a:gd name="adj" fmla="val 1200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5" name="TextBox 14"/>
          <p:cNvSpPr txBox="1"/>
          <p:nvPr/>
        </p:nvSpPr>
        <p:spPr>
          <a:xfrm>
            <a:off x="6187287" y="4315968"/>
            <a:ext cx="2627299" cy="320040"/>
          </a:xfrm>
          <a:prstGeom prst="rect">
            <a:avLst/>
          </a:prstGeom>
          <a:noFill/>
        </p:spPr>
        <p:txBody>
          <a:bodyPr wrap="square" anchor="t" lIns="0" rIns="0" tIns="0" bIns="0">
            <a:spAutoFit/>
          </a:bodyPr>
          <a:lstStyle/>
          <a:p>
            <a:pPr algn="ctr">
              <a:lnSpc>
                <a:spcPct val="115000"/>
              </a:lnSpc>
              <a:spcBef>
                <a:spcPts val="0"/>
              </a:spcBef>
              <a:spcAft>
                <a:spcPts val="0"/>
              </a:spcAft>
            </a:pPr>
            <a:r>
              <a:rPr sz="1800" b="1" i="0">
                <a:solidFill>
                  <a:srgbClr val="F7DF93"/>
                </a:solidFill>
                <a:latin typeface="Bookman Old Style"/>
              </a:rPr>
              <a:t>≈ 10 fps</a:t>
            </a:r>
          </a:p>
        </p:txBody>
      </p:sp>
      <p:sp>
        <p:nvSpPr>
          <p:cNvPr id="16" name="TextBox 15"/>
          <p:cNvSpPr txBox="1"/>
          <p:nvPr/>
        </p:nvSpPr>
        <p:spPr>
          <a:xfrm>
            <a:off x="6187287" y="4700016"/>
            <a:ext cx="2627299" cy="274320"/>
          </a:xfrm>
          <a:prstGeom prst="rect">
            <a:avLst/>
          </a:prstGeom>
          <a:noFill/>
        </p:spPr>
        <p:txBody>
          <a:bodyPr wrap="square" anchor="t" lIns="0" rIns="0" tIns="0" bIns="0">
            <a:spAutoFit/>
          </a:bodyPr>
          <a:lstStyle/>
          <a:p>
            <a:pPr algn="ctr">
              <a:lnSpc>
                <a:spcPct val="115000"/>
              </a:lnSpc>
              <a:spcBef>
                <a:spcPts val="0"/>
              </a:spcBef>
              <a:spcAft>
                <a:spcPts val="0"/>
              </a:spcAft>
            </a:pPr>
            <a:r>
              <a:rPr sz="1050" b="0" i="0">
                <a:solidFill>
                  <a:srgbClr val="A9AFCE"/>
                </a:solidFill>
                <a:latin typeface="Calibri"/>
              </a:rPr>
              <a:t>live inference</a:t>
            </a:r>
          </a:p>
        </p:txBody>
      </p:sp>
      <p:sp>
        <p:nvSpPr>
          <p:cNvPr id="17" name="Rounded Rectangle 16"/>
          <p:cNvSpPr/>
          <p:nvPr/>
        </p:nvSpPr>
        <p:spPr>
          <a:xfrm>
            <a:off x="8997467" y="4160520"/>
            <a:ext cx="2627299" cy="914400"/>
          </a:xfrm>
          <a:prstGeom prst="roundRect">
            <a:avLst>
              <a:gd name="adj" fmla="val 12000"/>
            </a:avLst>
          </a:prstGeom>
          <a:solidFill>
            <a:srgbClr val="323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tIns="91440" bIns="91440"/>
          <a:lstStyle/>
          <a:p>
            <a:pPr algn="ctr"/>
          </a:p>
        </p:txBody>
      </p:sp>
      <p:sp>
        <p:nvSpPr>
          <p:cNvPr id="18" name="TextBox 17"/>
          <p:cNvSpPr txBox="1"/>
          <p:nvPr/>
        </p:nvSpPr>
        <p:spPr>
          <a:xfrm>
            <a:off x="8997467" y="4315968"/>
            <a:ext cx="2627299" cy="320040"/>
          </a:xfrm>
          <a:prstGeom prst="rect">
            <a:avLst/>
          </a:prstGeom>
          <a:noFill/>
        </p:spPr>
        <p:txBody>
          <a:bodyPr wrap="square" anchor="t" lIns="0" rIns="0" tIns="0" bIns="0">
            <a:spAutoFit/>
          </a:bodyPr>
          <a:lstStyle/>
          <a:p>
            <a:pPr algn="ctr">
              <a:lnSpc>
                <a:spcPct val="115000"/>
              </a:lnSpc>
              <a:spcBef>
                <a:spcPts val="0"/>
              </a:spcBef>
              <a:spcAft>
                <a:spcPts val="0"/>
              </a:spcAft>
            </a:pPr>
            <a:r>
              <a:rPr sz="1800" b="1" i="0">
                <a:solidFill>
                  <a:srgbClr val="F7DF93"/>
                </a:solidFill>
                <a:latin typeface="Bookman Old Style"/>
              </a:rPr>
              <a:t>0.514</a:t>
            </a:r>
          </a:p>
        </p:txBody>
      </p:sp>
      <p:sp>
        <p:nvSpPr>
          <p:cNvPr id="19" name="TextBox 18"/>
          <p:cNvSpPr txBox="1"/>
          <p:nvPr/>
        </p:nvSpPr>
        <p:spPr>
          <a:xfrm>
            <a:off x="8997467" y="4700016"/>
            <a:ext cx="2627299" cy="274320"/>
          </a:xfrm>
          <a:prstGeom prst="rect">
            <a:avLst/>
          </a:prstGeom>
          <a:noFill/>
        </p:spPr>
        <p:txBody>
          <a:bodyPr wrap="square" anchor="t" lIns="0" rIns="0" tIns="0" bIns="0">
            <a:spAutoFit/>
          </a:bodyPr>
          <a:lstStyle/>
          <a:p>
            <a:pPr algn="ctr">
              <a:lnSpc>
                <a:spcPct val="115000"/>
              </a:lnSpc>
              <a:spcBef>
                <a:spcPts val="0"/>
              </a:spcBef>
              <a:spcAft>
                <a:spcPts val="0"/>
              </a:spcAft>
            </a:pPr>
            <a:r>
              <a:rPr sz="1050" b="0" i="0">
                <a:solidFill>
                  <a:srgbClr val="A9AFCE"/>
                </a:solidFill>
                <a:latin typeface="Calibri"/>
              </a:rPr>
              <a:t>macro F1</a:t>
            </a:r>
          </a:p>
        </p:txBody>
      </p:sp>
      <p:sp>
        <p:nvSpPr>
          <p:cNvPr id="20" name="TextBox 19"/>
          <p:cNvSpPr txBox="1"/>
          <p:nvPr/>
        </p:nvSpPr>
        <p:spPr>
          <a:xfrm>
            <a:off x="566928" y="5394960"/>
            <a:ext cx="7315200" cy="548640"/>
          </a:xfrm>
          <a:prstGeom prst="rect">
            <a:avLst/>
          </a:prstGeom>
          <a:noFill/>
        </p:spPr>
        <p:txBody>
          <a:bodyPr wrap="square" anchor="t" lIns="0" rIns="0" tIns="0" bIns="0">
            <a:spAutoFit/>
          </a:bodyPr>
          <a:lstStyle/>
          <a:p>
            <a:pPr>
              <a:lnSpc>
                <a:spcPct val="115000"/>
              </a:lnSpc>
              <a:spcBef>
                <a:spcPts val="0"/>
              </a:spcBef>
              <a:spcAft>
                <a:spcPts val="0"/>
              </a:spcAft>
            </a:pPr>
            <a:r>
              <a:rPr sz="3000" b="1" i="0">
                <a:solidFill>
                  <a:srgbClr val="F7DF93"/>
                </a:solidFill>
                <a:latin typeface="Bookman Old Styl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